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76" r:id="rId4"/>
    <p:sldId id="258" r:id="rId5"/>
    <p:sldId id="259" r:id="rId6"/>
    <p:sldId id="260" r:id="rId7"/>
    <p:sldId id="261" r:id="rId8"/>
    <p:sldId id="262" r:id="rId9"/>
    <p:sldId id="263" r:id="rId10"/>
    <p:sldId id="264" r:id="rId11"/>
    <p:sldId id="265" r:id="rId12"/>
    <p:sldId id="270" r:id="rId13"/>
    <p:sldId id="274" r:id="rId14"/>
    <p:sldId id="275" r:id="rId15"/>
  </p:sldIdLst>
  <p:sldSz cx="18288000" cy="10287000"/>
  <p:notesSz cx="6858000" cy="9144000"/>
  <p:embeddedFontLs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66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63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fsa Fliou" userId="57007240899d8fd5" providerId="LiveId" clId="{DF67227D-9D57-4DFC-8F97-8CC1EFB8D376}"/>
    <pc:docChg chg="custSel addSld modSld modMainMaster">
      <pc:chgData name="Hafsa Fliou" userId="57007240899d8fd5" providerId="LiveId" clId="{DF67227D-9D57-4DFC-8F97-8CC1EFB8D376}" dt="2026-04-13T21:05:29.477" v="55"/>
      <pc:docMkLst>
        <pc:docMk/>
      </pc:docMkLst>
      <pc:sldChg chg="modTransition">
        <pc:chgData name="Hafsa Fliou" userId="57007240899d8fd5" providerId="LiveId" clId="{DF67227D-9D57-4DFC-8F97-8CC1EFB8D376}" dt="2026-04-13T21:05:29.477" v="55"/>
        <pc:sldMkLst>
          <pc:docMk/>
          <pc:sldMk cId="0" sldId="256"/>
        </pc:sldMkLst>
      </pc:sldChg>
      <pc:sldChg chg="modTransition">
        <pc:chgData name="Hafsa Fliou" userId="57007240899d8fd5" providerId="LiveId" clId="{DF67227D-9D57-4DFC-8F97-8CC1EFB8D376}" dt="2026-04-13T21:05:29.477" v="55"/>
        <pc:sldMkLst>
          <pc:docMk/>
          <pc:sldMk cId="0" sldId="257"/>
        </pc:sldMkLst>
      </pc:sldChg>
      <pc:sldChg chg="modTransition">
        <pc:chgData name="Hafsa Fliou" userId="57007240899d8fd5" providerId="LiveId" clId="{DF67227D-9D57-4DFC-8F97-8CC1EFB8D376}" dt="2026-04-13T21:05:29.477" v="55"/>
        <pc:sldMkLst>
          <pc:docMk/>
          <pc:sldMk cId="0" sldId="258"/>
        </pc:sldMkLst>
      </pc:sldChg>
      <pc:sldChg chg="addSp delSp modSp mod modTransition modAnim">
        <pc:chgData name="Hafsa Fliou" userId="57007240899d8fd5" providerId="LiveId" clId="{DF67227D-9D57-4DFC-8F97-8CC1EFB8D376}" dt="2026-04-13T21:05:29.477" v="55"/>
        <pc:sldMkLst>
          <pc:docMk/>
          <pc:sldMk cId="0" sldId="259"/>
        </pc:sldMkLst>
        <pc:spChg chg="add del mod">
          <ac:chgData name="Hafsa Fliou" userId="57007240899d8fd5" providerId="LiveId" clId="{DF67227D-9D57-4DFC-8F97-8CC1EFB8D376}" dt="2026-04-13T20:55:50.367" v="3" actId="478"/>
          <ac:spMkLst>
            <pc:docMk/>
            <pc:sldMk cId="0" sldId="259"/>
            <ac:spMk id="22" creationId="{3188AFA6-144B-446E-B8BB-53776FFFD58F}"/>
          </ac:spMkLst>
        </pc:spChg>
        <pc:spChg chg="add mod">
          <ac:chgData name="Hafsa Fliou" userId="57007240899d8fd5" providerId="LiveId" clId="{DF67227D-9D57-4DFC-8F97-8CC1EFB8D376}" dt="2026-04-13T20:57:04.743" v="13" actId="2711"/>
          <ac:spMkLst>
            <pc:docMk/>
            <pc:sldMk cId="0" sldId="259"/>
            <ac:spMk id="23" creationId="{91186E3D-27C4-476C-8B11-8FC5161FCD96}"/>
          </ac:spMkLst>
        </pc:spChg>
        <pc:grpChg chg="mod">
          <ac:chgData name="Hafsa Fliou" userId="57007240899d8fd5" providerId="LiveId" clId="{DF67227D-9D57-4DFC-8F97-8CC1EFB8D376}" dt="2026-04-13T20:51:41.144" v="0" actId="1076"/>
          <ac:grpSpMkLst>
            <pc:docMk/>
            <pc:sldMk cId="0" sldId="259"/>
            <ac:grpSpMk id="7" creationId="{00000000-0000-0000-0000-000000000000}"/>
          </ac:grpSpMkLst>
        </pc:grpChg>
      </pc:sldChg>
      <pc:sldChg chg="modTransition">
        <pc:chgData name="Hafsa Fliou" userId="57007240899d8fd5" providerId="LiveId" clId="{DF67227D-9D57-4DFC-8F97-8CC1EFB8D376}" dt="2026-04-13T21:05:29.477" v="55"/>
        <pc:sldMkLst>
          <pc:docMk/>
          <pc:sldMk cId="0" sldId="260"/>
        </pc:sldMkLst>
      </pc:sldChg>
      <pc:sldChg chg="modTransition">
        <pc:chgData name="Hafsa Fliou" userId="57007240899d8fd5" providerId="LiveId" clId="{DF67227D-9D57-4DFC-8F97-8CC1EFB8D376}" dt="2026-04-13T21:05:29.477" v="55"/>
        <pc:sldMkLst>
          <pc:docMk/>
          <pc:sldMk cId="0" sldId="261"/>
        </pc:sldMkLst>
      </pc:sldChg>
      <pc:sldChg chg="modTransition">
        <pc:chgData name="Hafsa Fliou" userId="57007240899d8fd5" providerId="LiveId" clId="{DF67227D-9D57-4DFC-8F97-8CC1EFB8D376}" dt="2026-04-13T21:05:29.477" v="55"/>
        <pc:sldMkLst>
          <pc:docMk/>
          <pc:sldMk cId="0" sldId="262"/>
        </pc:sldMkLst>
      </pc:sldChg>
      <pc:sldChg chg="modTransition">
        <pc:chgData name="Hafsa Fliou" userId="57007240899d8fd5" providerId="LiveId" clId="{DF67227D-9D57-4DFC-8F97-8CC1EFB8D376}" dt="2026-04-13T21:05:29.477" v="55"/>
        <pc:sldMkLst>
          <pc:docMk/>
          <pc:sldMk cId="0" sldId="263"/>
        </pc:sldMkLst>
      </pc:sldChg>
      <pc:sldChg chg="modTransition">
        <pc:chgData name="Hafsa Fliou" userId="57007240899d8fd5" providerId="LiveId" clId="{DF67227D-9D57-4DFC-8F97-8CC1EFB8D376}" dt="2026-04-13T21:05:29.477" v="55"/>
        <pc:sldMkLst>
          <pc:docMk/>
          <pc:sldMk cId="0" sldId="264"/>
        </pc:sldMkLst>
      </pc:sldChg>
      <pc:sldChg chg="modTransition">
        <pc:chgData name="Hafsa Fliou" userId="57007240899d8fd5" providerId="LiveId" clId="{DF67227D-9D57-4DFC-8F97-8CC1EFB8D376}" dt="2026-04-13T21:05:29.477" v="55"/>
        <pc:sldMkLst>
          <pc:docMk/>
          <pc:sldMk cId="0" sldId="265"/>
        </pc:sldMkLst>
      </pc:sldChg>
      <pc:sldChg chg="modTransition">
        <pc:chgData name="Hafsa Fliou" userId="57007240899d8fd5" providerId="LiveId" clId="{DF67227D-9D57-4DFC-8F97-8CC1EFB8D376}" dt="2026-04-13T21:05:29.477" v="55"/>
        <pc:sldMkLst>
          <pc:docMk/>
          <pc:sldMk cId="0" sldId="270"/>
        </pc:sldMkLst>
      </pc:sldChg>
      <pc:sldChg chg="modTransition">
        <pc:chgData name="Hafsa Fliou" userId="57007240899d8fd5" providerId="LiveId" clId="{DF67227D-9D57-4DFC-8F97-8CC1EFB8D376}" dt="2026-04-13T21:05:29.477" v="55"/>
        <pc:sldMkLst>
          <pc:docMk/>
          <pc:sldMk cId="0" sldId="274"/>
        </pc:sldMkLst>
      </pc:sldChg>
      <pc:sldChg chg="modTransition">
        <pc:chgData name="Hafsa Fliou" userId="57007240899d8fd5" providerId="LiveId" clId="{DF67227D-9D57-4DFC-8F97-8CC1EFB8D376}" dt="2026-04-13T21:05:29.477" v="55"/>
        <pc:sldMkLst>
          <pc:docMk/>
          <pc:sldMk cId="0" sldId="275"/>
        </pc:sldMkLst>
      </pc:sldChg>
      <pc:sldChg chg="modSp add mod modTransition setBg modAnim modNotes">
        <pc:chgData name="Hafsa Fliou" userId="57007240899d8fd5" providerId="LiveId" clId="{DF67227D-9D57-4DFC-8F97-8CC1EFB8D376}" dt="2026-04-13T21:05:29.477" v="55"/>
        <pc:sldMkLst>
          <pc:docMk/>
          <pc:sldMk cId="0" sldId="276"/>
        </pc:sldMkLst>
        <pc:spChg chg="mod">
          <ac:chgData name="Hafsa Fliou" userId="57007240899d8fd5" providerId="LiveId" clId="{DF67227D-9D57-4DFC-8F97-8CC1EFB8D376}" dt="2026-04-13T20:59:03.280" v="15" actId="207"/>
          <ac:spMkLst>
            <pc:docMk/>
            <pc:sldMk cId="0" sldId="276"/>
            <ac:spMk id="2" creationId="{00000000-0000-0000-0000-000000000000}"/>
          </ac:spMkLst>
        </pc:spChg>
        <pc:spChg chg="mod">
          <ac:chgData name="Hafsa Fliou" userId="57007240899d8fd5" providerId="LiveId" clId="{DF67227D-9D57-4DFC-8F97-8CC1EFB8D376}" dt="2026-04-13T20:59:41.954" v="19" actId="208"/>
          <ac:spMkLst>
            <pc:docMk/>
            <pc:sldMk cId="0" sldId="276"/>
            <ac:spMk id="3" creationId="{00000000-0000-0000-0000-000000000000}"/>
          </ac:spMkLst>
        </pc:spChg>
        <pc:spChg chg="mod">
          <ac:chgData name="Hafsa Fliou" userId="57007240899d8fd5" providerId="LiveId" clId="{DF67227D-9D57-4DFC-8F97-8CC1EFB8D376}" dt="2026-04-13T20:59:23.731" v="17" actId="207"/>
          <ac:spMkLst>
            <pc:docMk/>
            <pc:sldMk cId="0" sldId="276"/>
            <ac:spMk id="6" creationId="{00000000-0000-0000-0000-000000000000}"/>
          </ac:spMkLst>
        </pc:spChg>
        <pc:spChg chg="mod">
          <ac:chgData name="Hafsa Fliou" userId="57007240899d8fd5" providerId="LiveId" clId="{DF67227D-9D57-4DFC-8F97-8CC1EFB8D376}" dt="2026-04-13T20:59:30.692" v="18" actId="207"/>
          <ac:spMkLst>
            <pc:docMk/>
            <pc:sldMk cId="0" sldId="276"/>
            <ac:spMk id="10" creationId="{00000000-0000-0000-0000-000000000000}"/>
          </ac:spMkLst>
        </pc:spChg>
      </pc:sldChg>
      <pc:sldMasterChg chg="modTransition modSldLayout">
        <pc:chgData name="Hafsa Fliou" userId="57007240899d8fd5" providerId="LiveId" clId="{DF67227D-9D57-4DFC-8F97-8CC1EFB8D376}" dt="2026-04-13T21:05:29.477" v="55"/>
        <pc:sldMasterMkLst>
          <pc:docMk/>
          <pc:sldMasterMk cId="0" sldId="2147483648"/>
        </pc:sldMasterMkLst>
        <pc:sldLayoutChg chg="modTransition">
          <pc:chgData name="Hafsa Fliou" userId="57007240899d8fd5" providerId="LiveId" clId="{DF67227D-9D57-4DFC-8F97-8CC1EFB8D376}" dt="2026-04-13T21:05:29.477" v="55"/>
          <pc:sldLayoutMkLst>
            <pc:docMk/>
            <pc:sldMasterMk cId="0" sldId="2147483648"/>
            <pc:sldLayoutMk cId="0" sldId="2147483649"/>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0"/>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1"/>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2"/>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3"/>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4"/>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5"/>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6"/>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7"/>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8"/>
          </pc:sldLayoutMkLst>
        </pc:sldLayoutChg>
        <pc:sldLayoutChg chg="modTransition">
          <pc:chgData name="Hafsa Fliou" userId="57007240899d8fd5" providerId="LiveId" clId="{DF67227D-9D57-4DFC-8F97-8CC1EFB8D376}" dt="2026-04-13T21:05:29.477" v="55"/>
          <pc:sldLayoutMkLst>
            <pc:docMk/>
            <pc:sldMasterMk cId="0" sldId="2147483648"/>
            <pc:sldLayoutMk cId="0" sldId="2147483659"/>
          </pc:sldLayoutMkLst>
        </pc:sldLayoutChg>
        <pc:sldLayoutChg chg="modTransition">
          <pc:chgData name="Hafsa Fliou" userId="57007240899d8fd5" providerId="LiveId" clId="{DF67227D-9D57-4DFC-8F97-8CC1EFB8D376}" dt="2026-04-13T21:05:29.477" v="55"/>
          <pc:sldLayoutMkLst>
            <pc:docMk/>
            <pc:sldMasterMk cId="0" sldId="2147483648"/>
            <pc:sldLayoutMk cId="3326595447"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595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5.svg"/><Relationship Id="rId4" Type="http://schemas.openxmlformats.org/officeDocument/2006/relationships/image" Target="../media/image11.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2.svg"/><Relationship Id="rId11" Type="http://schemas.openxmlformats.org/officeDocument/2006/relationships/image" Target="../media/image43.png"/><Relationship Id="rId5" Type="http://schemas.openxmlformats.org/officeDocument/2006/relationships/image" Target="../media/image31.png"/><Relationship Id="rId10" Type="http://schemas.openxmlformats.org/officeDocument/2006/relationships/image" Target="../media/image42.svg"/><Relationship Id="rId4" Type="http://schemas.openxmlformats.org/officeDocument/2006/relationships/image" Target="../media/image38.svg"/><Relationship Id="rId9" Type="http://schemas.openxmlformats.org/officeDocument/2006/relationships/image" Target="../media/image41.png"/></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1.png"/><Relationship Id="rId7"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48.png"/><Relationship Id="rId3" Type="http://schemas.openxmlformats.org/officeDocument/2006/relationships/image" Target="../media/image46.png"/><Relationship Id="rId7" Type="http://schemas.openxmlformats.org/officeDocument/2006/relationships/image" Target="../media/image31.png"/><Relationship Id="rId12" Type="http://schemas.openxmlformats.org/officeDocument/2006/relationships/image" Target="../media/image42.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8.svg"/><Relationship Id="rId11" Type="http://schemas.openxmlformats.org/officeDocument/2006/relationships/image" Target="../media/image41.png"/><Relationship Id="rId5" Type="http://schemas.openxmlformats.org/officeDocument/2006/relationships/image" Target="../media/image37.png"/><Relationship Id="rId10" Type="http://schemas.openxmlformats.org/officeDocument/2006/relationships/image" Target="../media/image40.svg"/><Relationship Id="rId4" Type="http://schemas.openxmlformats.org/officeDocument/2006/relationships/image" Target="../media/image47.svg"/><Relationship Id="rId9" Type="http://schemas.openxmlformats.org/officeDocument/2006/relationships/image" Target="../media/image39.png"/></Relationships>
</file>

<file path=ppt/slides/_rels/slide1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5.svg"/><Relationship Id="rId4" Type="http://schemas.openxmlformats.org/officeDocument/2006/relationships/image" Target="../media/image11.sv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9.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grpSp>
        <p:nvGrpSpPr>
          <p:cNvPr id="4" name="Group 4"/>
          <p:cNvGrpSpPr/>
          <p:nvPr/>
        </p:nvGrpSpPr>
        <p:grpSpPr>
          <a:xfrm>
            <a:off x="2748060" y="3707639"/>
            <a:ext cx="12791880" cy="2980072"/>
            <a:chOff x="0" y="0"/>
            <a:chExt cx="1981797" cy="461691"/>
          </a:xfrm>
        </p:grpSpPr>
        <p:sp>
          <p:nvSpPr>
            <p:cNvPr id="5" name="Freeform 5"/>
            <p:cNvSpPr/>
            <p:nvPr/>
          </p:nvSpPr>
          <p:spPr>
            <a:xfrm>
              <a:off x="0" y="0"/>
              <a:ext cx="1981797" cy="461691"/>
            </a:xfrm>
            <a:custGeom>
              <a:avLst/>
              <a:gdLst/>
              <a:ahLst/>
              <a:cxnLst/>
              <a:rect l="l" t="t" r="r" b="b"/>
              <a:pathLst>
                <a:path w="1981797" h="461691">
                  <a:moveTo>
                    <a:pt x="35103" y="0"/>
                  </a:moveTo>
                  <a:lnTo>
                    <a:pt x="1946694" y="0"/>
                  </a:lnTo>
                  <a:cubicBezTo>
                    <a:pt x="1966081" y="0"/>
                    <a:pt x="1981797" y="15716"/>
                    <a:pt x="1981797" y="35103"/>
                  </a:cubicBezTo>
                  <a:lnTo>
                    <a:pt x="1981797" y="426588"/>
                  </a:lnTo>
                  <a:cubicBezTo>
                    <a:pt x="1981797" y="435898"/>
                    <a:pt x="1978099" y="444827"/>
                    <a:pt x="1971516" y="451410"/>
                  </a:cubicBezTo>
                  <a:cubicBezTo>
                    <a:pt x="1964932" y="457993"/>
                    <a:pt x="1956004" y="461691"/>
                    <a:pt x="1946694" y="461691"/>
                  </a:cubicBezTo>
                  <a:lnTo>
                    <a:pt x="35103" y="461691"/>
                  </a:lnTo>
                  <a:cubicBezTo>
                    <a:pt x="15716" y="461691"/>
                    <a:pt x="0" y="445975"/>
                    <a:pt x="0" y="426588"/>
                  </a:cubicBezTo>
                  <a:lnTo>
                    <a:pt x="0" y="35103"/>
                  </a:lnTo>
                  <a:cubicBezTo>
                    <a:pt x="0" y="15716"/>
                    <a:pt x="15716" y="0"/>
                    <a:pt x="35103" y="0"/>
                  </a:cubicBezTo>
                  <a:close/>
                </a:path>
              </a:pathLst>
            </a:custGeom>
            <a:solidFill>
              <a:srgbClr val="FFFFFF"/>
            </a:solidFill>
            <a:ln w="19050" cap="rnd">
              <a:solidFill>
                <a:srgbClr val="00648F"/>
              </a:solidFill>
              <a:prstDash val="solid"/>
              <a:round/>
            </a:ln>
          </p:spPr>
        </p:sp>
      </p:grpSp>
      <p:sp>
        <p:nvSpPr>
          <p:cNvPr id="6" name="TextBox 6"/>
          <p:cNvSpPr txBox="1"/>
          <p:nvPr/>
        </p:nvSpPr>
        <p:spPr>
          <a:xfrm>
            <a:off x="2923460" y="4084514"/>
            <a:ext cx="11825370" cy="2757165"/>
          </a:xfrm>
          <a:prstGeom prst="rect">
            <a:avLst/>
          </a:prstGeom>
        </p:spPr>
        <p:txBody>
          <a:bodyPr lIns="0" tIns="0" rIns="0" bIns="0" rtlCol="0" anchor="t">
            <a:spAutoFit/>
          </a:bodyPr>
          <a:lstStyle/>
          <a:p>
            <a:pPr algn="ctr">
              <a:lnSpc>
                <a:spcPts val="4320"/>
              </a:lnSpc>
              <a:spcBef>
                <a:spcPct val="0"/>
              </a:spcBef>
            </a:pPr>
            <a:r>
              <a:rPr lang="en-US" sz="3600" dirty="0" err="1">
                <a:solidFill>
                  <a:srgbClr val="00648F"/>
                </a:solidFill>
                <a:latin typeface="+mj-lt"/>
                <a:ea typeface="Arial MT Pro"/>
                <a:cs typeface="Arial MT Pro"/>
                <a:sym typeface="Arial MT Pro"/>
              </a:rPr>
              <a:t>Sujet</a:t>
            </a:r>
            <a:r>
              <a:rPr lang="en-US" sz="3600" dirty="0">
                <a:solidFill>
                  <a:srgbClr val="00648F"/>
                </a:solidFill>
                <a:latin typeface="+mj-lt"/>
                <a:ea typeface="Arial MT Pro"/>
                <a:cs typeface="Arial MT Pro"/>
                <a:sym typeface="Arial MT Pro"/>
              </a:rPr>
              <a:t>:</a:t>
            </a:r>
            <a:r>
              <a:rPr lang="en-US" sz="3600" dirty="0">
                <a:solidFill>
                  <a:srgbClr val="000000"/>
                </a:solidFill>
                <a:latin typeface="+mj-lt"/>
                <a:ea typeface="Arial MT Pro"/>
                <a:cs typeface="Arial MT Pro"/>
                <a:sym typeface="Arial MT Pro"/>
              </a:rPr>
              <a:t> </a:t>
            </a:r>
            <a:r>
              <a:rPr lang="fr-FR" sz="3600" dirty="0">
                <a:solidFill>
                  <a:schemeClr val="tx2">
                    <a:lumMod val="50000"/>
                  </a:schemeClr>
                </a:solidFill>
                <a:latin typeface="+mj-lt"/>
              </a:rPr>
              <a:t>Cette présentation porte sur l’analyse des données de santé afin d’identifier les facteurs associés au diabète et de comparer les caractéristiques des patients diabétiques et non diabétiques</a:t>
            </a:r>
            <a:endParaRPr lang="en-US" sz="3600" dirty="0">
              <a:solidFill>
                <a:schemeClr val="tx2">
                  <a:lumMod val="50000"/>
                </a:schemeClr>
              </a:solidFill>
              <a:latin typeface="+mj-lt"/>
              <a:ea typeface="Arial MT Pro"/>
              <a:cs typeface="Arial MT Pro"/>
              <a:sym typeface="Arial MT Pro"/>
            </a:endParaRPr>
          </a:p>
          <a:p>
            <a:pPr algn="ctr">
              <a:lnSpc>
                <a:spcPts val="4320"/>
              </a:lnSpc>
              <a:spcBef>
                <a:spcPct val="0"/>
              </a:spcBef>
            </a:pPr>
            <a:endParaRPr lang="en-US" sz="3600" dirty="0">
              <a:solidFill>
                <a:srgbClr val="000000"/>
              </a:solidFill>
              <a:latin typeface="+mj-lt"/>
              <a:ea typeface="Arial MT Pro"/>
              <a:cs typeface="Arial MT Pro"/>
              <a:sym typeface="Arial MT Pro"/>
            </a:endParaRPr>
          </a:p>
        </p:txBody>
      </p:sp>
      <p:grpSp>
        <p:nvGrpSpPr>
          <p:cNvPr id="7" name="Group 7"/>
          <p:cNvGrpSpPr/>
          <p:nvPr/>
        </p:nvGrpSpPr>
        <p:grpSpPr>
          <a:xfrm>
            <a:off x="1220086" y="8055860"/>
            <a:ext cx="4055036" cy="1077214"/>
            <a:chOff x="0" y="0"/>
            <a:chExt cx="5406715" cy="1436285"/>
          </a:xfrm>
        </p:grpSpPr>
        <p:sp>
          <p:nvSpPr>
            <p:cNvPr id="8" name="Freeform 8"/>
            <p:cNvSpPr/>
            <p:nvPr/>
          </p:nvSpPr>
          <p:spPr>
            <a:xfrm>
              <a:off x="0" y="0"/>
              <a:ext cx="5406715" cy="1436285"/>
            </a:xfrm>
            <a:custGeom>
              <a:avLst/>
              <a:gdLst/>
              <a:ahLst/>
              <a:cxnLst/>
              <a:rect l="l" t="t" r="r" b="b"/>
              <a:pathLst>
                <a:path w="5406715" h="1436285">
                  <a:moveTo>
                    <a:pt x="0" y="0"/>
                  </a:moveTo>
                  <a:lnTo>
                    <a:pt x="5406715" y="0"/>
                  </a:lnTo>
                  <a:lnTo>
                    <a:pt x="5406715" y="1436285"/>
                  </a:lnTo>
                  <a:lnTo>
                    <a:pt x="0" y="1436285"/>
                  </a:lnTo>
                  <a:close/>
                </a:path>
              </a:pathLst>
            </a:custGeom>
          </p:spPr>
        </p:sp>
        <p:sp>
          <p:nvSpPr>
            <p:cNvPr id="9" name="TextBox 9"/>
            <p:cNvSpPr txBox="1"/>
            <p:nvPr/>
          </p:nvSpPr>
          <p:spPr>
            <a:xfrm>
              <a:off x="0" y="-66675"/>
              <a:ext cx="5406715" cy="1502960"/>
            </a:xfrm>
            <a:prstGeom prst="rect">
              <a:avLst/>
            </a:prstGeom>
          </p:spPr>
          <p:txBody>
            <a:bodyPr lIns="0" tIns="0" rIns="0" bIns="0" rtlCol="0" anchor="ctr"/>
            <a:lstStyle/>
            <a:p>
              <a:pPr algn="l">
                <a:lnSpc>
                  <a:spcPts val="3840"/>
                </a:lnSpc>
              </a:pPr>
              <a:r>
                <a:rPr lang="en-US" sz="3200" dirty="0">
                  <a:solidFill>
                    <a:srgbClr val="041834"/>
                  </a:solidFill>
                  <a:latin typeface="+mj-lt"/>
                  <a:ea typeface="Arial MT Pro"/>
                  <a:cs typeface="Arial MT Pro"/>
                  <a:sym typeface="Arial MT Pro"/>
                </a:rPr>
                <a:t>Wahid Khadija </a:t>
              </a:r>
            </a:p>
            <a:p>
              <a:pPr algn="l">
                <a:lnSpc>
                  <a:spcPts val="3840"/>
                </a:lnSpc>
              </a:pPr>
              <a:r>
                <a:rPr lang="en-US" sz="3200" dirty="0">
                  <a:solidFill>
                    <a:srgbClr val="041834"/>
                  </a:solidFill>
                  <a:latin typeface="+mj-lt"/>
                  <a:ea typeface="Arial MT Pro"/>
                  <a:cs typeface="Arial MT Pro"/>
                  <a:sym typeface="Arial MT Pro"/>
                </a:rPr>
                <a:t>&amp;</a:t>
              </a:r>
            </a:p>
            <a:p>
              <a:pPr algn="l">
                <a:lnSpc>
                  <a:spcPts val="3840"/>
                </a:lnSpc>
              </a:pPr>
              <a:r>
                <a:rPr lang="en-US" sz="3200" dirty="0">
                  <a:solidFill>
                    <a:srgbClr val="041834"/>
                  </a:solidFill>
                  <a:latin typeface="+mj-lt"/>
                  <a:ea typeface="Arial MT Pro"/>
                  <a:cs typeface="Arial MT Pro"/>
                  <a:sym typeface="Arial MT Pro"/>
                </a:rPr>
                <a:t>Fliou Hafsa</a:t>
              </a:r>
            </a:p>
          </p:txBody>
        </p:sp>
      </p:grpSp>
      <p:grpSp>
        <p:nvGrpSpPr>
          <p:cNvPr id="10" name="Group 10"/>
          <p:cNvGrpSpPr/>
          <p:nvPr/>
        </p:nvGrpSpPr>
        <p:grpSpPr>
          <a:xfrm>
            <a:off x="1220086" y="7034060"/>
            <a:ext cx="3264488" cy="1021800"/>
            <a:chOff x="0" y="0"/>
            <a:chExt cx="4352651" cy="1362400"/>
          </a:xfrm>
        </p:grpSpPr>
        <p:sp>
          <p:nvSpPr>
            <p:cNvPr id="11" name="Freeform 11"/>
            <p:cNvSpPr/>
            <p:nvPr/>
          </p:nvSpPr>
          <p:spPr>
            <a:xfrm>
              <a:off x="0" y="0"/>
              <a:ext cx="4352651" cy="1362400"/>
            </a:xfrm>
            <a:custGeom>
              <a:avLst/>
              <a:gdLst/>
              <a:ahLst/>
              <a:cxnLst/>
              <a:rect l="l" t="t" r="r" b="b"/>
              <a:pathLst>
                <a:path w="4352651" h="1362400">
                  <a:moveTo>
                    <a:pt x="0" y="0"/>
                  </a:moveTo>
                  <a:lnTo>
                    <a:pt x="4352651" y="0"/>
                  </a:lnTo>
                  <a:lnTo>
                    <a:pt x="4352651" y="1362400"/>
                  </a:lnTo>
                  <a:lnTo>
                    <a:pt x="0" y="1362400"/>
                  </a:lnTo>
                  <a:close/>
                </a:path>
              </a:pathLst>
            </a:custGeom>
          </p:spPr>
        </p:sp>
        <p:sp>
          <p:nvSpPr>
            <p:cNvPr id="12" name="TextBox 12"/>
            <p:cNvSpPr txBox="1"/>
            <p:nvPr/>
          </p:nvSpPr>
          <p:spPr>
            <a:xfrm>
              <a:off x="0" y="-66675"/>
              <a:ext cx="4352651" cy="1429075"/>
            </a:xfrm>
            <a:prstGeom prst="rect">
              <a:avLst/>
            </a:prstGeom>
          </p:spPr>
          <p:txBody>
            <a:bodyPr lIns="0" tIns="0" rIns="0" bIns="0" rtlCol="0" anchor="ctr"/>
            <a:lstStyle/>
            <a:p>
              <a:pPr algn="l">
                <a:lnSpc>
                  <a:spcPts val="4079"/>
                </a:lnSpc>
              </a:pPr>
              <a:r>
                <a:rPr lang="en-US" sz="3399" b="1" i="1" dirty="0" err="1">
                  <a:solidFill>
                    <a:srgbClr val="041834"/>
                  </a:solidFill>
                  <a:latin typeface="+mj-lt"/>
                  <a:ea typeface="Arial MT Pro Bold Italics"/>
                  <a:cs typeface="Arial MT Pro Bold Italics"/>
                  <a:sym typeface="Arial MT Pro Bold Italics"/>
                </a:rPr>
                <a:t>Présenté</a:t>
              </a:r>
              <a:r>
                <a:rPr lang="en-US" sz="3399" b="1" i="1" dirty="0">
                  <a:solidFill>
                    <a:srgbClr val="041834"/>
                  </a:solidFill>
                  <a:latin typeface="+mj-lt"/>
                  <a:ea typeface="Arial MT Pro Bold Italics"/>
                  <a:cs typeface="Arial MT Pro Bold Italics"/>
                  <a:sym typeface="Arial MT Pro Bold Italics"/>
                </a:rPr>
                <a:t> par :</a:t>
              </a:r>
              <a:r>
                <a:rPr lang="en-US" sz="3399" dirty="0">
                  <a:solidFill>
                    <a:srgbClr val="041834"/>
                  </a:solidFill>
                  <a:latin typeface="+mj-lt"/>
                  <a:ea typeface="Arial MT Pro"/>
                  <a:cs typeface="Arial MT Pro"/>
                  <a:sym typeface="Arial MT Pro"/>
                </a:rPr>
                <a:t> </a:t>
              </a:r>
            </a:p>
          </p:txBody>
        </p:sp>
      </p:grpSp>
      <p:grpSp>
        <p:nvGrpSpPr>
          <p:cNvPr id="13" name="Group 13"/>
          <p:cNvGrpSpPr/>
          <p:nvPr/>
        </p:nvGrpSpPr>
        <p:grpSpPr>
          <a:xfrm>
            <a:off x="12916619" y="7034060"/>
            <a:ext cx="3264488" cy="1021800"/>
            <a:chOff x="0" y="0"/>
            <a:chExt cx="4352651" cy="1362400"/>
          </a:xfrm>
        </p:grpSpPr>
        <p:sp>
          <p:nvSpPr>
            <p:cNvPr id="14" name="Freeform 14"/>
            <p:cNvSpPr/>
            <p:nvPr/>
          </p:nvSpPr>
          <p:spPr>
            <a:xfrm>
              <a:off x="0" y="0"/>
              <a:ext cx="4352651" cy="1362400"/>
            </a:xfrm>
            <a:custGeom>
              <a:avLst/>
              <a:gdLst/>
              <a:ahLst/>
              <a:cxnLst/>
              <a:rect l="l" t="t" r="r" b="b"/>
              <a:pathLst>
                <a:path w="4352651" h="1362400">
                  <a:moveTo>
                    <a:pt x="0" y="0"/>
                  </a:moveTo>
                  <a:lnTo>
                    <a:pt x="4352651" y="0"/>
                  </a:lnTo>
                  <a:lnTo>
                    <a:pt x="4352651" y="1362400"/>
                  </a:lnTo>
                  <a:lnTo>
                    <a:pt x="0" y="1362400"/>
                  </a:lnTo>
                  <a:close/>
                </a:path>
              </a:pathLst>
            </a:custGeom>
          </p:spPr>
        </p:sp>
        <p:sp>
          <p:nvSpPr>
            <p:cNvPr id="15" name="TextBox 15"/>
            <p:cNvSpPr txBox="1"/>
            <p:nvPr/>
          </p:nvSpPr>
          <p:spPr>
            <a:xfrm>
              <a:off x="0" y="-66675"/>
              <a:ext cx="4352651" cy="1429075"/>
            </a:xfrm>
            <a:prstGeom prst="rect">
              <a:avLst/>
            </a:prstGeom>
          </p:spPr>
          <p:txBody>
            <a:bodyPr lIns="0" tIns="0" rIns="0" bIns="0" rtlCol="0" anchor="ctr"/>
            <a:lstStyle/>
            <a:p>
              <a:pPr algn="l">
                <a:lnSpc>
                  <a:spcPts val="4079"/>
                </a:lnSpc>
              </a:pPr>
              <a:r>
                <a:rPr lang="en-US" sz="3399" b="1" i="1" dirty="0" err="1">
                  <a:solidFill>
                    <a:srgbClr val="041834"/>
                  </a:solidFill>
                  <a:latin typeface="+mj-lt"/>
                  <a:ea typeface="Arial MT Pro Bold Italics"/>
                  <a:cs typeface="Arial MT Pro Bold Italics"/>
                  <a:sym typeface="Arial MT Pro Bold Italics"/>
                </a:rPr>
                <a:t>Encadré</a:t>
              </a:r>
              <a:r>
                <a:rPr lang="en-US" sz="3399" b="1" i="1" dirty="0">
                  <a:solidFill>
                    <a:srgbClr val="041834"/>
                  </a:solidFill>
                  <a:latin typeface="+mj-lt"/>
                  <a:ea typeface="Arial MT Pro Bold Italics"/>
                  <a:cs typeface="Arial MT Pro Bold Italics"/>
                  <a:sym typeface="Arial MT Pro Bold Italics"/>
                </a:rPr>
                <a:t> par :</a:t>
              </a:r>
              <a:r>
                <a:rPr lang="en-US" sz="3399" dirty="0">
                  <a:solidFill>
                    <a:srgbClr val="041834"/>
                  </a:solidFill>
                  <a:latin typeface="+mj-lt"/>
                  <a:ea typeface="Arial MT Pro"/>
                  <a:cs typeface="Arial MT Pro"/>
                  <a:sym typeface="Arial MT Pro"/>
                </a:rPr>
                <a:t> </a:t>
              </a:r>
            </a:p>
          </p:txBody>
        </p:sp>
      </p:grpSp>
      <p:grpSp>
        <p:nvGrpSpPr>
          <p:cNvPr id="16" name="Group 16"/>
          <p:cNvGrpSpPr/>
          <p:nvPr/>
        </p:nvGrpSpPr>
        <p:grpSpPr>
          <a:xfrm>
            <a:off x="11404860" y="7832951"/>
            <a:ext cx="7799765" cy="1244709"/>
            <a:chOff x="0" y="-297212"/>
            <a:chExt cx="10399687" cy="1659612"/>
          </a:xfrm>
        </p:grpSpPr>
        <p:sp>
          <p:nvSpPr>
            <p:cNvPr id="17" name="Freeform 17"/>
            <p:cNvSpPr/>
            <p:nvPr/>
          </p:nvSpPr>
          <p:spPr>
            <a:xfrm>
              <a:off x="0" y="0"/>
              <a:ext cx="8384008" cy="1362400"/>
            </a:xfrm>
            <a:custGeom>
              <a:avLst/>
              <a:gdLst/>
              <a:ahLst/>
              <a:cxnLst/>
              <a:rect l="l" t="t" r="r" b="b"/>
              <a:pathLst>
                <a:path w="8384008" h="1362400">
                  <a:moveTo>
                    <a:pt x="0" y="0"/>
                  </a:moveTo>
                  <a:lnTo>
                    <a:pt x="8384008" y="0"/>
                  </a:lnTo>
                  <a:lnTo>
                    <a:pt x="8384008" y="1362400"/>
                  </a:lnTo>
                  <a:lnTo>
                    <a:pt x="0" y="1362400"/>
                  </a:lnTo>
                  <a:close/>
                </a:path>
              </a:pathLst>
            </a:custGeom>
          </p:spPr>
        </p:sp>
        <p:sp>
          <p:nvSpPr>
            <p:cNvPr id="18" name="TextBox 18"/>
            <p:cNvSpPr txBox="1"/>
            <p:nvPr/>
          </p:nvSpPr>
          <p:spPr>
            <a:xfrm>
              <a:off x="2015679" y="-297212"/>
              <a:ext cx="8384008" cy="1429075"/>
            </a:xfrm>
            <a:prstGeom prst="rect">
              <a:avLst/>
            </a:prstGeom>
          </p:spPr>
          <p:txBody>
            <a:bodyPr lIns="0" tIns="0" rIns="0" bIns="0" rtlCol="0" anchor="ctr"/>
            <a:lstStyle/>
            <a:p>
              <a:pPr algn="l">
                <a:lnSpc>
                  <a:spcPts val="3840"/>
                </a:lnSpc>
              </a:pPr>
              <a:r>
                <a:rPr lang="en-US" sz="3200" dirty="0">
                  <a:solidFill>
                    <a:srgbClr val="041834"/>
                  </a:solidFill>
                  <a:latin typeface="+mj-lt"/>
                  <a:ea typeface="Arial MT Pro"/>
                  <a:cs typeface="Arial MT Pro"/>
                  <a:sym typeface="Arial MT Pro"/>
                </a:rPr>
                <a:t>Mr. </a:t>
              </a:r>
              <a:r>
                <a:rPr lang="en-US" sz="3200" dirty="0" err="1">
                  <a:solidFill>
                    <a:srgbClr val="041834"/>
                  </a:solidFill>
                  <a:latin typeface="+mj-lt"/>
                  <a:ea typeface="Arial MT Pro"/>
                  <a:cs typeface="Arial MT Pro"/>
                  <a:sym typeface="Arial MT Pro"/>
                </a:rPr>
                <a:t>Kella</a:t>
              </a:r>
              <a:r>
                <a:rPr lang="en-US" sz="3200" dirty="0">
                  <a:solidFill>
                    <a:srgbClr val="041834"/>
                  </a:solidFill>
                  <a:latin typeface="+mj-lt"/>
                  <a:ea typeface="Arial MT Pro"/>
                  <a:cs typeface="Arial MT Pro"/>
                  <a:sym typeface="Arial MT Pro"/>
                </a:rPr>
                <a:t> Omar </a:t>
              </a:r>
            </a:p>
          </p:txBody>
        </p:sp>
      </p:grpSp>
      <p:sp>
        <p:nvSpPr>
          <p:cNvPr id="19" name="Freeform 19"/>
          <p:cNvSpPr/>
          <p:nvPr/>
        </p:nvSpPr>
        <p:spPr>
          <a:xfrm>
            <a:off x="16183502" y="200181"/>
            <a:ext cx="1075798" cy="1039720"/>
          </a:xfrm>
          <a:custGeom>
            <a:avLst/>
            <a:gdLst/>
            <a:ahLst/>
            <a:cxnLst/>
            <a:rect l="l" t="t" r="r" b="b"/>
            <a:pathLst>
              <a:path w="1075798" h="1039720">
                <a:moveTo>
                  <a:pt x="0" y="0"/>
                </a:moveTo>
                <a:lnTo>
                  <a:pt x="1075798" y="0"/>
                </a:lnTo>
                <a:lnTo>
                  <a:pt x="1075798" y="1039720"/>
                </a:lnTo>
                <a:lnTo>
                  <a:pt x="0" y="10397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Rectangle 19">
            <a:extLst>
              <a:ext uri="{FF2B5EF4-FFF2-40B4-BE49-F238E27FC236}">
                <a16:creationId xmlns:a16="http://schemas.microsoft.com/office/drawing/2014/main" id="{C4E5E6C1-A510-4C53-BA7A-7C5AAD81D7B3}"/>
              </a:ext>
            </a:extLst>
          </p:cNvPr>
          <p:cNvSpPr/>
          <p:nvPr/>
        </p:nvSpPr>
        <p:spPr>
          <a:xfrm>
            <a:off x="3247604" y="1939358"/>
            <a:ext cx="11306596" cy="1119614"/>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mj-lt"/>
            </a:endParaRPr>
          </a:p>
        </p:txBody>
      </p:sp>
      <p:sp>
        <p:nvSpPr>
          <p:cNvPr id="21" name="ZoneTexte 20">
            <a:extLst>
              <a:ext uri="{FF2B5EF4-FFF2-40B4-BE49-F238E27FC236}">
                <a16:creationId xmlns:a16="http://schemas.microsoft.com/office/drawing/2014/main" id="{8AB94651-FD3B-4E65-A47D-1A42D75E4C3D}"/>
              </a:ext>
            </a:extLst>
          </p:cNvPr>
          <p:cNvSpPr txBox="1"/>
          <p:nvPr/>
        </p:nvSpPr>
        <p:spPr>
          <a:xfrm>
            <a:off x="5395702" y="2024698"/>
            <a:ext cx="7010400" cy="1077218"/>
          </a:xfrm>
          <a:prstGeom prst="rect">
            <a:avLst/>
          </a:prstGeom>
          <a:noFill/>
        </p:spPr>
        <p:txBody>
          <a:bodyPr wrap="square" rtlCol="0">
            <a:spAutoFit/>
          </a:bodyPr>
          <a:lstStyle/>
          <a:p>
            <a:r>
              <a:rPr lang="fr-FR" sz="3200" b="1" dirty="0">
                <a:solidFill>
                  <a:schemeClr val="bg1"/>
                </a:solidFill>
                <a:latin typeface="+mj-lt"/>
              </a:rPr>
              <a:t>Analyse exploratoire et statistique des données sur le diabète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1000"/>
                                        <p:tgtEl>
                                          <p:spTgt spid="19"/>
                                        </p:tgtEl>
                                      </p:cBhvr>
                                    </p:animEffect>
                                    <p:anim calcmode="lin" valueType="num">
                                      <p:cBhvr>
                                        <p:cTn id="38" dur="1000" fill="hold"/>
                                        <p:tgtEl>
                                          <p:spTgt spid="19"/>
                                        </p:tgtEl>
                                        <p:attrNameLst>
                                          <p:attrName>ppt_x</p:attrName>
                                        </p:attrNameLst>
                                      </p:cBhvr>
                                      <p:tavLst>
                                        <p:tav tm="0">
                                          <p:val>
                                            <p:strVal val="#ppt_x"/>
                                          </p:val>
                                        </p:tav>
                                        <p:tav tm="100000">
                                          <p:val>
                                            <p:strVal val="#ppt_x"/>
                                          </p:val>
                                        </p:tav>
                                      </p:tavLst>
                                    </p:anim>
                                    <p:anim calcmode="lin" valueType="num">
                                      <p:cBhvr>
                                        <p:cTn id="39" dur="10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animBg="1"/>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1905000" y="-2343760"/>
            <a:ext cx="23443924" cy="14974520"/>
          </a:xfrm>
          <a:custGeom>
            <a:avLst/>
            <a:gdLst/>
            <a:ahLst/>
            <a:cxnLst/>
            <a:rect l="l" t="t" r="r" b="b"/>
            <a:pathLst>
              <a:path w="23443924" h="14974520">
                <a:moveTo>
                  <a:pt x="0" y="0"/>
                </a:moveTo>
                <a:lnTo>
                  <a:pt x="23443924" y="0"/>
                </a:lnTo>
                <a:lnTo>
                  <a:pt x="23443924" y="14974520"/>
                </a:lnTo>
                <a:lnTo>
                  <a:pt x="0" y="149745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469515" y="7176700"/>
            <a:ext cx="639834" cy="1890441"/>
          </a:xfrm>
          <a:custGeom>
            <a:avLst/>
            <a:gdLst/>
            <a:ahLst/>
            <a:cxnLst/>
            <a:rect l="l" t="t" r="r" b="b"/>
            <a:pathLst>
              <a:path w="639834" h="1890441">
                <a:moveTo>
                  <a:pt x="0" y="0"/>
                </a:moveTo>
                <a:lnTo>
                  <a:pt x="639834" y="0"/>
                </a:lnTo>
                <a:lnTo>
                  <a:pt x="639834" y="1890441"/>
                </a:lnTo>
                <a:lnTo>
                  <a:pt x="0" y="189044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Freeform 4"/>
          <p:cNvSpPr/>
          <p:nvPr/>
        </p:nvSpPr>
        <p:spPr>
          <a:xfrm>
            <a:off x="15150456" y="359104"/>
            <a:ext cx="2280594" cy="1998394"/>
          </a:xfrm>
          <a:custGeom>
            <a:avLst/>
            <a:gdLst/>
            <a:ahLst/>
            <a:cxnLst/>
            <a:rect l="l" t="t" r="r" b="b"/>
            <a:pathLst>
              <a:path w="2280594" h="1998394">
                <a:moveTo>
                  <a:pt x="0" y="0"/>
                </a:moveTo>
                <a:lnTo>
                  <a:pt x="2280594" y="0"/>
                </a:lnTo>
                <a:lnTo>
                  <a:pt x="2280594" y="1998394"/>
                </a:lnTo>
                <a:lnTo>
                  <a:pt x="0" y="19983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5" name="Group 5"/>
          <p:cNvGrpSpPr/>
          <p:nvPr/>
        </p:nvGrpSpPr>
        <p:grpSpPr>
          <a:xfrm>
            <a:off x="1430475" y="890050"/>
            <a:ext cx="15408000" cy="1386600"/>
            <a:chOff x="0" y="0"/>
            <a:chExt cx="20544000" cy="1848800"/>
          </a:xfrm>
        </p:grpSpPr>
        <p:sp>
          <p:nvSpPr>
            <p:cNvPr id="6" name="Freeform 6"/>
            <p:cNvSpPr/>
            <p:nvPr/>
          </p:nvSpPr>
          <p:spPr>
            <a:xfrm>
              <a:off x="0" y="0"/>
              <a:ext cx="20544000" cy="1848800"/>
            </a:xfrm>
            <a:custGeom>
              <a:avLst/>
              <a:gdLst/>
              <a:ahLst/>
              <a:cxnLst/>
              <a:rect l="l" t="t" r="r" b="b"/>
              <a:pathLst>
                <a:path w="20544000" h="1848800">
                  <a:moveTo>
                    <a:pt x="0" y="0"/>
                  </a:moveTo>
                  <a:lnTo>
                    <a:pt x="20544000" y="0"/>
                  </a:lnTo>
                  <a:lnTo>
                    <a:pt x="20544000" y="1848800"/>
                  </a:lnTo>
                  <a:lnTo>
                    <a:pt x="0" y="1848800"/>
                  </a:lnTo>
                  <a:close/>
                </a:path>
              </a:pathLst>
            </a:custGeom>
          </p:spPr>
        </p:sp>
        <p:sp>
          <p:nvSpPr>
            <p:cNvPr id="7" name="TextBox 7"/>
            <p:cNvSpPr txBox="1"/>
            <p:nvPr/>
          </p:nvSpPr>
          <p:spPr>
            <a:xfrm>
              <a:off x="0" y="-123825"/>
              <a:ext cx="20544000" cy="1972625"/>
            </a:xfrm>
            <a:prstGeom prst="rect">
              <a:avLst/>
            </a:prstGeom>
          </p:spPr>
          <p:txBody>
            <a:bodyPr lIns="0" tIns="0" rIns="0" bIns="0" rtlCol="0" anchor="t"/>
            <a:lstStyle/>
            <a:p>
              <a:pPr algn="l">
                <a:lnSpc>
                  <a:spcPts val="7200"/>
                </a:lnSpc>
              </a:pPr>
              <a:r>
                <a:rPr lang="en-US" sz="6000">
                  <a:solidFill>
                    <a:srgbClr val="E2583E"/>
                  </a:solidFill>
                  <a:latin typeface="+mj-lt"/>
                  <a:ea typeface="Arial MT Pro"/>
                  <a:cs typeface="Arial MT Pro"/>
                  <a:sym typeface="Arial MT Pro"/>
                </a:rPr>
                <a:t>Plan</a:t>
              </a:r>
            </a:p>
          </p:txBody>
        </p:sp>
      </p:grpSp>
      <p:grpSp>
        <p:nvGrpSpPr>
          <p:cNvPr id="8" name="Group 8"/>
          <p:cNvGrpSpPr/>
          <p:nvPr/>
        </p:nvGrpSpPr>
        <p:grpSpPr>
          <a:xfrm>
            <a:off x="1440000" y="3200488"/>
            <a:ext cx="1469400" cy="1112520"/>
            <a:chOff x="0" y="0"/>
            <a:chExt cx="1959200" cy="1483360"/>
          </a:xfrm>
        </p:grpSpPr>
        <p:sp>
          <p:nvSpPr>
            <p:cNvPr id="9" name="Freeform 9"/>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10" name="TextBox 10"/>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01</a:t>
              </a:r>
            </a:p>
          </p:txBody>
        </p:sp>
      </p:grpSp>
      <p:grpSp>
        <p:nvGrpSpPr>
          <p:cNvPr id="11" name="Group 11"/>
          <p:cNvGrpSpPr/>
          <p:nvPr/>
        </p:nvGrpSpPr>
        <p:grpSpPr>
          <a:xfrm>
            <a:off x="9405075" y="3200488"/>
            <a:ext cx="1469400" cy="1112520"/>
            <a:chOff x="0" y="0"/>
            <a:chExt cx="1959200" cy="1483360"/>
          </a:xfrm>
        </p:grpSpPr>
        <p:sp>
          <p:nvSpPr>
            <p:cNvPr id="12" name="Freeform 12"/>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13" name="TextBox 13"/>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04</a:t>
              </a:r>
            </a:p>
          </p:txBody>
        </p:sp>
      </p:grpSp>
      <p:grpSp>
        <p:nvGrpSpPr>
          <p:cNvPr id="14" name="Group 14"/>
          <p:cNvGrpSpPr/>
          <p:nvPr/>
        </p:nvGrpSpPr>
        <p:grpSpPr>
          <a:xfrm>
            <a:off x="1430475" y="4871173"/>
            <a:ext cx="1469400" cy="1112520"/>
            <a:chOff x="0" y="0"/>
            <a:chExt cx="1959200" cy="1483360"/>
          </a:xfrm>
        </p:grpSpPr>
        <p:sp>
          <p:nvSpPr>
            <p:cNvPr id="15" name="Freeform 15"/>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16" name="TextBox 16"/>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02</a:t>
              </a:r>
            </a:p>
          </p:txBody>
        </p:sp>
      </p:grpSp>
      <p:grpSp>
        <p:nvGrpSpPr>
          <p:cNvPr id="17" name="Group 17"/>
          <p:cNvGrpSpPr/>
          <p:nvPr/>
        </p:nvGrpSpPr>
        <p:grpSpPr>
          <a:xfrm>
            <a:off x="9405075" y="4918093"/>
            <a:ext cx="1469400" cy="1112520"/>
            <a:chOff x="0" y="0"/>
            <a:chExt cx="1959200" cy="1483360"/>
          </a:xfrm>
        </p:grpSpPr>
        <p:sp>
          <p:nvSpPr>
            <p:cNvPr id="18" name="Freeform 18"/>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19" name="TextBox 19"/>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05</a:t>
              </a:r>
            </a:p>
          </p:txBody>
        </p:sp>
      </p:grpSp>
      <p:grpSp>
        <p:nvGrpSpPr>
          <p:cNvPr id="20" name="Group 20"/>
          <p:cNvGrpSpPr/>
          <p:nvPr/>
        </p:nvGrpSpPr>
        <p:grpSpPr>
          <a:xfrm>
            <a:off x="1440000" y="6891900"/>
            <a:ext cx="1469400" cy="1112520"/>
            <a:chOff x="0" y="0"/>
            <a:chExt cx="1959200" cy="1483360"/>
          </a:xfrm>
        </p:grpSpPr>
        <p:sp>
          <p:nvSpPr>
            <p:cNvPr id="21" name="Freeform 21"/>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22" name="TextBox 22"/>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03</a:t>
              </a:r>
            </a:p>
          </p:txBody>
        </p:sp>
      </p:grpSp>
      <p:grpSp>
        <p:nvGrpSpPr>
          <p:cNvPr id="23" name="Group 23"/>
          <p:cNvGrpSpPr/>
          <p:nvPr/>
        </p:nvGrpSpPr>
        <p:grpSpPr>
          <a:xfrm>
            <a:off x="9405075" y="6938820"/>
            <a:ext cx="1469400" cy="1112520"/>
            <a:chOff x="0" y="0"/>
            <a:chExt cx="1959200" cy="1483360"/>
          </a:xfrm>
        </p:grpSpPr>
        <p:sp>
          <p:nvSpPr>
            <p:cNvPr id="24" name="Freeform 24"/>
            <p:cNvSpPr/>
            <p:nvPr/>
          </p:nvSpPr>
          <p:spPr>
            <a:xfrm>
              <a:off x="0" y="0"/>
              <a:ext cx="1959200" cy="1483360"/>
            </a:xfrm>
            <a:custGeom>
              <a:avLst/>
              <a:gdLst/>
              <a:ahLst/>
              <a:cxnLst/>
              <a:rect l="l" t="t" r="r" b="b"/>
              <a:pathLst>
                <a:path w="1959200" h="1483360">
                  <a:moveTo>
                    <a:pt x="0" y="0"/>
                  </a:moveTo>
                  <a:lnTo>
                    <a:pt x="1959200" y="0"/>
                  </a:lnTo>
                  <a:lnTo>
                    <a:pt x="1959200" y="1483360"/>
                  </a:lnTo>
                  <a:lnTo>
                    <a:pt x="0" y="1483360"/>
                  </a:lnTo>
                  <a:close/>
                </a:path>
              </a:pathLst>
            </a:custGeom>
          </p:spPr>
        </p:sp>
        <p:sp>
          <p:nvSpPr>
            <p:cNvPr id="25" name="TextBox 25"/>
            <p:cNvSpPr txBox="1"/>
            <p:nvPr/>
          </p:nvSpPr>
          <p:spPr>
            <a:xfrm>
              <a:off x="0" y="-123825"/>
              <a:ext cx="1959200" cy="1607185"/>
            </a:xfrm>
            <a:prstGeom prst="rect">
              <a:avLst/>
            </a:prstGeom>
          </p:spPr>
          <p:txBody>
            <a:bodyPr lIns="0" tIns="0" rIns="0" bIns="0" rtlCol="0" anchor="ctr"/>
            <a:lstStyle/>
            <a:p>
              <a:pPr algn="l">
                <a:lnSpc>
                  <a:spcPts val="7200"/>
                </a:lnSpc>
              </a:pPr>
              <a:r>
                <a:rPr lang="en-US" sz="6000">
                  <a:solidFill>
                    <a:srgbClr val="E2583E"/>
                  </a:solidFill>
                  <a:latin typeface="+mj-lt"/>
                  <a:ea typeface="Arial MT Pro"/>
                  <a:cs typeface="Arial MT Pro"/>
                  <a:sym typeface="Arial MT Pro"/>
                </a:rPr>
                <a:t>06</a:t>
              </a:r>
            </a:p>
          </p:txBody>
        </p:sp>
      </p:grpSp>
      <p:grpSp>
        <p:nvGrpSpPr>
          <p:cNvPr id="26" name="Group 26"/>
          <p:cNvGrpSpPr/>
          <p:nvPr/>
        </p:nvGrpSpPr>
        <p:grpSpPr>
          <a:xfrm>
            <a:off x="2909410" y="3200488"/>
            <a:ext cx="5964000" cy="1065600"/>
            <a:chOff x="0" y="0"/>
            <a:chExt cx="7952000" cy="1420800"/>
          </a:xfrm>
        </p:grpSpPr>
        <p:sp>
          <p:nvSpPr>
            <p:cNvPr id="27" name="Freeform 27"/>
            <p:cNvSpPr/>
            <p:nvPr/>
          </p:nvSpPr>
          <p:spPr>
            <a:xfrm>
              <a:off x="0" y="0"/>
              <a:ext cx="7952000" cy="1420800"/>
            </a:xfrm>
            <a:custGeom>
              <a:avLst/>
              <a:gdLst/>
              <a:ahLst/>
              <a:cxnLst/>
              <a:rect l="l" t="t" r="r" b="b"/>
              <a:pathLst>
                <a:path w="7952000" h="1420800">
                  <a:moveTo>
                    <a:pt x="0" y="0"/>
                  </a:moveTo>
                  <a:lnTo>
                    <a:pt x="7952000" y="0"/>
                  </a:lnTo>
                  <a:lnTo>
                    <a:pt x="7952000" y="1420800"/>
                  </a:lnTo>
                  <a:lnTo>
                    <a:pt x="0" y="1420800"/>
                  </a:lnTo>
                  <a:close/>
                </a:path>
              </a:pathLst>
            </a:custGeom>
            <a:solidFill>
              <a:srgbClr val="000000">
                <a:alpha val="0"/>
              </a:srgbClr>
            </a:solidFill>
          </p:spPr>
        </p:sp>
        <p:sp>
          <p:nvSpPr>
            <p:cNvPr id="28" name="TextBox 28"/>
            <p:cNvSpPr txBox="1"/>
            <p:nvPr/>
          </p:nvSpPr>
          <p:spPr>
            <a:xfrm>
              <a:off x="0" y="-85725"/>
              <a:ext cx="7952000" cy="1506525"/>
            </a:xfrm>
            <a:prstGeom prst="rect">
              <a:avLst/>
            </a:prstGeom>
          </p:spPr>
          <p:txBody>
            <a:bodyPr lIns="0" tIns="0" rIns="0" bIns="0" rtlCol="0" anchor="ctr"/>
            <a:lstStyle/>
            <a:p>
              <a:pPr algn="l">
                <a:lnSpc>
                  <a:spcPts val="4800"/>
                </a:lnSpc>
              </a:pPr>
              <a:r>
                <a:rPr lang="en-US" sz="4000" b="1" i="1" dirty="0">
                  <a:solidFill>
                    <a:schemeClr val="tx2">
                      <a:lumMod val="50000"/>
                    </a:schemeClr>
                  </a:solidFill>
                  <a:effectLst>
                    <a:outerShdw blurRad="38100" dist="38100" dir="2700000" algn="tl">
                      <a:srgbClr val="000000">
                        <a:alpha val="43137"/>
                      </a:srgbClr>
                    </a:outerShdw>
                  </a:effectLst>
                  <a:latin typeface="+mj-lt"/>
                  <a:ea typeface="Arial MT Pro"/>
                  <a:cs typeface="Arial MT Pro"/>
                  <a:sym typeface="Arial MT Pro"/>
                </a:rPr>
                <a:t>Introduction</a:t>
              </a:r>
            </a:p>
          </p:txBody>
        </p:sp>
      </p:grpSp>
      <p:grpSp>
        <p:nvGrpSpPr>
          <p:cNvPr id="29" name="Group 29"/>
          <p:cNvGrpSpPr/>
          <p:nvPr/>
        </p:nvGrpSpPr>
        <p:grpSpPr>
          <a:xfrm>
            <a:off x="2899875" y="4651463"/>
            <a:ext cx="5964000" cy="1551940"/>
            <a:chOff x="0" y="-292947"/>
            <a:chExt cx="7952000" cy="2069254"/>
          </a:xfrm>
        </p:grpSpPr>
        <p:sp>
          <p:nvSpPr>
            <p:cNvPr id="30" name="Freeform 30"/>
            <p:cNvSpPr/>
            <p:nvPr/>
          </p:nvSpPr>
          <p:spPr>
            <a:xfrm>
              <a:off x="0" y="0"/>
              <a:ext cx="7952000" cy="1776307"/>
            </a:xfrm>
            <a:custGeom>
              <a:avLst/>
              <a:gdLst/>
              <a:ahLst/>
              <a:cxnLst/>
              <a:rect l="l" t="t" r="r" b="b"/>
              <a:pathLst>
                <a:path w="7952000" h="1776307">
                  <a:moveTo>
                    <a:pt x="0" y="0"/>
                  </a:moveTo>
                  <a:lnTo>
                    <a:pt x="7952000" y="0"/>
                  </a:lnTo>
                  <a:lnTo>
                    <a:pt x="7952000" y="1776307"/>
                  </a:lnTo>
                  <a:lnTo>
                    <a:pt x="0" y="1776307"/>
                  </a:lnTo>
                  <a:close/>
                </a:path>
              </a:pathLst>
            </a:custGeom>
          </p:spPr>
        </p:sp>
        <p:sp>
          <p:nvSpPr>
            <p:cNvPr id="31" name="TextBox 31"/>
            <p:cNvSpPr txBox="1"/>
            <p:nvPr/>
          </p:nvSpPr>
          <p:spPr>
            <a:xfrm>
              <a:off x="0" y="-292947"/>
              <a:ext cx="7952000" cy="1862032"/>
            </a:xfrm>
            <a:prstGeom prst="rect">
              <a:avLst/>
            </a:prstGeom>
          </p:spPr>
          <p:txBody>
            <a:bodyPr lIns="0" tIns="0" rIns="0" bIns="0" rtlCol="0" anchor="ctr"/>
            <a:lstStyle/>
            <a:p>
              <a:pPr algn="l">
                <a:lnSpc>
                  <a:spcPts val="4800"/>
                </a:lnSpc>
              </a:pPr>
              <a:r>
                <a:rPr lang="en-US" sz="4000" b="1" i="1" dirty="0" err="1">
                  <a:solidFill>
                    <a:srgbClr val="041834"/>
                  </a:solidFill>
                  <a:effectLst>
                    <a:outerShdw blurRad="38100" dist="38100" dir="2700000" algn="tl">
                      <a:srgbClr val="000000">
                        <a:alpha val="43137"/>
                      </a:srgbClr>
                    </a:outerShdw>
                  </a:effectLst>
                  <a:latin typeface="+mj-lt"/>
                  <a:ea typeface="Arial MT Pro"/>
                  <a:cs typeface="Arial MT Pro"/>
                  <a:sym typeface="Arial MT Pro"/>
                </a:rPr>
                <a:t>Problématique</a:t>
              </a:r>
              <a:r>
                <a:rPr lang="en-US" sz="4000" dirty="0">
                  <a:solidFill>
                    <a:srgbClr val="041834"/>
                  </a:solidFill>
                  <a:latin typeface="+mj-lt"/>
                  <a:ea typeface="Arial MT Pro"/>
                  <a:cs typeface="Arial MT Pro"/>
                  <a:sym typeface="Arial MT Pro"/>
                </a:rPr>
                <a:t> </a:t>
              </a:r>
            </a:p>
          </p:txBody>
        </p:sp>
      </p:grpSp>
      <p:grpSp>
        <p:nvGrpSpPr>
          <p:cNvPr id="32" name="Group 32"/>
          <p:cNvGrpSpPr/>
          <p:nvPr/>
        </p:nvGrpSpPr>
        <p:grpSpPr>
          <a:xfrm>
            <a:off x="2909408" y="6891900"/>
            <a:ext cx="5964000" cy="1332230"/>
            <a:chOff x="0" y="0"/>
            <a:chExt cx="7952000" cy="1776307"/>
          </a:xfrm>
        </p:grpSpPr>
        <p:sp>
          <p:nvSpPr>
            <p:cNvPr id="33" name="Freeform 33"/>
            <p:cNvSpPr/>
            <p:nvPr/>
          </p:nvSpPr>
          <p:spPr>
            <a:xfrm>
              <a:off x="0" y="0"/>
              <a:ext cx="7952000" cy="1776307"/>
            </a:xfrm>
            <a:custGeom>
              <a:avLst/>
              <a:gdLst/>
              <a:ahLst/>
              <a:cxnLst/>
              <a:rect l="l" t="t" r="r" b="b"/>
              <a:pathLst>
                <a:path w="7952000" h="1776307">
                  <a:moveTo>
                    <a:pt x="0" y="0"/>
                  </a:moveTo>
                  <a:lnTo>
                    <a:pt x="7952000" y="0"/>
                  </a:lnTo>
                  <a:lnTo>
                    <a:pt x="7952000" y="1776307"/>
                  </a:lnTo>
                  <a:lnTo>
                    <a:pt x="0" y="1776307"/>
                  </a:lnTo>
                  <a:close/>
                </a:path>
              </a:pathLst>
            </a:custGeom>
          </p:spPr>
        </p:sp>
        <p:sp>
          <p:nvSpPr>
            <p:cNvPr id="34" name="TextBox 34"/>
            <p:cNvSpPr txBox="1"/>
            <p:nvPr/>
          </p:nvSpPr>
          <p:spPr>
            <a:xfrm>
              <a:off x="0" y="-85725"/>
              <a:ext cx="7952000" cy="1862032"/>
            </a:xfrm>
            <a:prstGeom prst="rect">
              <a:avLst/>
            </a:prstGeom>
          </p:spPr>
          <p:txBody>
            <a:bodyPr lIns="0" tIns="0" rIns="0" bIns="0" rtlCol="0" anchor="ctr"/>
            <a:lstStyle/>
            <a:p>
              <a:pPr algn="l">
                <a:lnSpc>
                  <a:spcPts val="4800"/>
                </a:lnSpc>
              </a:pPr>
              <a:r>
                <a:rPr lang="fr-FR" sz="4000" b="1" i="1" dirty="0">
                  <a:solidFill>
                    <a:schemeClr val="tx2">
                      <a:lumMod val="50000"/>
                    </a:schemeClr>
                  </a:solidFill>
                  <a:effectLst>
                    <a:outerShdw blurRad="38100" dist="38100" dir="2700000" algn="tl">
                      <a:srgbClr val="000000">
                        <a:alpha val="43137"/>
                      </a:srgbClr>
                    </a:outerShdw>
                  </a:effectLst>
                  <a:latin typeface="+mj-lt"/>
                </a:rPr>
                <a:t>Analyse exploratoire (EDA)</a:t>
              </a:r>
              <a:endParaRPr lang="en-US" sz="4000" b="1" i="1" dirty="0">
                <a:solidFill>
                  <a:schemeClr val="tx2">
                    <a:lumMod val="50000"/>
                  </a:schemeClr>
                </a:solidFill>
                <a:effectLst>
                  <a:outerShdw blurRad="38100" dist="38100" dir="2700000" algn="tl">
                    <a:srgbClr val="000000">
                      <a:alpha val="43137"/>
                    </a:srgbClr>
                  </a:outerShdw>
                </a:effectLst>
                <a:latin typeface="+mj-lt"/>
                <a:ea typeface="Arial MT Pro"/>
                <a:cs typeface="Arial MT Pro"/>
                <a:sym typeface="Arial MT Pro"/>
              </a:endParaRPr>
            </a:p>
          </p:txBody>
        </p:sp>
      </p:grpSp>
      <p:grpSp>
        <p:nvGrpSpPr>
          <p:cNvPr id="35" name="Group 35"/>
          <p:cNvGrpSpPr/>
          <p:nvPr/>
        </p:nvGrpSpPr>
        <p:grpSpPr>
          <a:xfrm>
            <a:off x="10874475" y="3200488"/>
            <a:ext cx="5964000" cy="1065600"/>
            <a:chOff x="0" y="0"/>
            <a:chExt cx="7952000" cy="1420800"/>
          </a:xfrm>
        </p:grpSpPr>
        <p:sp>
          <p:nvSpPr>
            <p:cNvPr id="36" name="Freeform 36"/>
            <p:cNvSpPr/>
            <p:nvPr/>
          </p:nvSpPr>
          <p:spPr>
            <a:xfrm>
              <a:off x="0" y="0"/>
              <a:ext cx="7952000" cy="1420800"/>
            </a:xfrm>
            <a:custGeom>
              <a:avLst/>
              <a:gdLst/>
              <a:ahLst/>
              <a:cxnLst/>
              <a:rect l="l" t="t" r="r" b="b"/>
              <a:pathLst>
                <a:path w="7952000" h="1420800">
                  <a:moveTo>
                    <a:pt x="0" y="0"/>
                  </a:moveTo>
                  <a:lnTo>
                    <a:pt x="7952000" y="0"/>
                  </a:lnTo>
                  <a:lnTo>
                    <a:pt x="7952000" y="1420800"/>
                  </a:lnTo>
                  <a:lnTo>
                    <a:pt x="0" y="1420800"/>
                  </a:lnTo>
                  <a:close/>
                </a:path>
              </a:pathLst>
            </a:custGeom>
          </p:spPr>
        </p:sp>
        <p:sp>
          <p:nvSpPr>
            <p:cNvPr id="37" name="TextBox 37"/>
            <p:cNvSpPr txBox="1"/>
            <p:nvPr/>
          </p:nvSpPr>
          <p:spPr>
            <a:xfrm>
              <a:off x="0" y="-85725"/>
              <a:ext cx="7952000" cy="1506525"/>
            </a:xfrm>
            <a:prstGeom prst="rect">
              <a:avLst/>
            </a:prstGeom>
          </p:spPr>
          <p:txBody>
            <a:bodyPr lIns="0" tIns="0" rIns="0" bIns="0" rtlCol="0" anchor="ctr"/>
            <a:lstStyle/>
            <a:p>
              <a:pPr algn="l">
                <a:lnSpc>
                  <a:spcPts val="4800"/>
                </a:lnSpc>
              </a:pPr>
              <a:r>
                <a:rPr lang="fr-FR" sz="4000" b="1" i="1" dirty="0">
                  <a:solidFill>
                    <a:schemeClr val="tx2">
                      <a:lumMod val="50000"/>
                    </a:schemeClr>
                  </a:solidFill>
                  <a:effectLst>
                    <a:outerShdw blurRad="38100" dist="38100" dir="2700000" algn="tl">
                      <a:srgbClr val="000000">
                        <a:alpha val="43137"/>
                      </a:srgbClr>
                    </a:outerShdw>
                  </a:effectLst>
                  <a:latin typeface="+mj-lt"/>
                </a:rPr>
                <a:t>Analyse statistique</a:t>
              </a:r>
              <a:endParaRPr lang="en-US" sz="4000" b="1" i="1" dirty="0">
                <a:solidFill>
                  <a:schemeClr val="tx2">
                    <a:lumMod val="50000"/>
                  </a:schemeClr>
                </a:solidFill>
                <a:effectLst>
                  <a:outerShdw blurRad="38100" dist="38100" dir="2700000" algn="tl">
                    <a:srgbClr val="000000">
                      <a:alpha val="43137"/>
                    </a:srgbClr>
                  </a:outerShdw>
                </a:effectLst>
                <a:latin typeface="+mj-lt"/>
                <a:ea typeface="Arial MT Pro"/>
                <a:cs typeface="Arial MT Pro"/>
                <a:sym typeface="Arial MT Pro"/>
              </a:endParaRPr>
            </a:p>
          </p:txBody>
        </p:sp>
      </p:grpSp>
      <p:grpSp>
        <p:nvGrpSpPr>
          <p:cNvPr id="38" name="Group 38"/>
          <p:cNvGrpSpPr/>
          <p:nvPr/>
        </p:nvGrpSpPr>
        <p:grpSpPr>
          <a:xfrm>
            <a:off x="10874475" y="4918093"/>
            <a:ext cx="5964000" cy="1065600"/>
            <a:chOff x="0" y="0"/>
            <a:chExt cx="7952000" cy="1420800"/>
          </a:xfrm>
        </p:grpSpPr>
        <p:sp>
          <p:nvSpPr>
            <p:cNvPr id="39" name="Freeform 39"/>
            <p:cNvSpPr/>
            <p:nvPr/>
          </p:nvSpPr>
          <p:spPr>
            <a:xfrm>
              <a:off x="0" y="0"/>
              <a:ext cx="7952000" cy="1420800"/>
            </a:xfrm>
            <a:custGeom>
              <a:avLst/>
              <a:gdLst/>
              <a:ahLst/>
              <a:cxnLst/>
              <a:rect l="l" t="t" r="r" b="b"/>
              <a:pathLst>
                <a:path w="7952000" h="1420800">
                  <a:moveTo>
                    <a:pt x="0" y="0"/>
                  </a:moveTo>
                  <a:lnTo>
                    <a:pt x="7952000" y="0"/>
                  </a:lnTo>
                  <a:lnTo>
                    <a:pt x="7952000" y="1420800"/>
                  </a:lnTo>
                  <a:lnTo>
                    <a:pt x="0" y="1420800"/>
                  </a:lnTo>
                  <a:close/>
                </a:path>
              </a:pathLst>
            </a:custGeom>
          </p:spPr>
        </p:sp>
        <p:sp>
          <p:nvSpPr>
            <p:cNvPr id="40" name="TextBox 40"/>
            <p:cNvSpPr txBox="1"/>
            <p:nvPr/>
          </p:nvSpPr>
          <p:spPr>
            <a:xfrm>
              <a:off x="0" y="-85725"/>
              <a:ext cx="7952000" cy="1506525"/>
            </a:xfrm>
            <a:prstGeom prst="rect">
              <a:avLst/>
            </a:prstGeom>
          </p:spPr>
          <p:txBody>
            <a:bodyPr lIns="0" tIns="0" rIns="0" bIns="0" rtlCol="0" anchor="ctr"/>
            <a:lstStyle/>
            <a:p>
              <a:pPr algn="l">
                <a:lnSpc>
                  <a:spcPts val="4800"/>
                </a:lnSpc>
              </a:pPr>
              <a:r>
                <a:rPr lang="fr-FR" sz="4000" b="1" i="1" dirty="0">
                  <a:solidFill>
                    <a:schemeClr val="tx2">
                      <a:lumMod val="50000"/>
                    </a:schemeClr>
                  </a:solidFill>
                  <a:effectLst>
                    <a:outerShdw blurRad="38100" dist="38100" dir="2700000" algn="tl">
                      <a:srgbClr val="000000">
                        <a:alpha val="43137"/>
                      </a:srgbClr>
                    </a:outerShdw>
                  </a:effectLst>
                  <a:latin typeface="+mj-lt"/>
                </a:rPr>
                <a:t>Modélisation (Machine Learning)</a:t>
              </a:r>
              <a:endParaRPr lang="en-US" sz="4000" b="1" i="1" dirty="0">
                <a:solidFill>
                  <a:schemeClr val="tx2">
                    <a:lumMod val="50000"/>
                  </a:schemeClr>
                </a:solidFill>
                <a:effectLst>
                  <a:outerShdw blurRad="38100" dist="38100" dir="2700000" algn="tl">
                    <a:srgbClr val="000000">
                      <a:alpha val="43137"/>
                    </a:srgbClr>
                  </a:outerShdw>
                </a:effectLst>
                <a:latin typeface="+mj-lt"/>
                <a:ea typeface="Arial MT Pro"/>
                <a:cs typeface="Arial MT Pro"/>
                <a:sym typeface="Arial MT Pro"/>
              </a:endParaRPr>
            </a:p>
          </p:txBody>
        </p:sp>
      </p:grpSp>
      <p:grpSp>
        <p:nvGrpSpPr>
          <p:cNvPr id="41" name="Group 41"/>
          <p:cNvGrpSpPr/>
          <p:nvPr/>
        </p:nvGrpSpPr>
        <p:grpSpPr>
          <a:xfrm>
            <a:off x="10874475" y="6938820"/>
            <a:ext cx="5964000" cy="1065600"/>
            <a:chOff x="0" y="0"/>
            <a:chExt cx="7952000" cy="1420800"/>
          </a:xfrm>
        </p:grpSpPr>
        <p:sp>
          <p:nvSpPr>
            <p:cNvPr id="42" name="Freeform 42"/>
            <p:cNvSpPr/>
            <p:nvPr/>
          </p:nvSpPr>
          <p:spPr>
            <a:xfrm>
              <a:off x="0" y="0"/>
              <a:ext cx="7952000" cy="1420800"/>
            </a:xfrm>
            <a:custGeom>
              <a:avLst/>
              <a:gdLst/>
              <a:ahLst/>
              <a:cxnLst/>
              <a:rect l="l" t="t" r="r" b="b"/>
              <a:pathLst>
                <a:path w="7952000" h="1420800">
                  <a:moveTo>
                    <a:pt x="0" y="0"/>
                  </a:moveTo>
                  <a:lnTo>
                    <a:pt x="7952000" y="0"/>
                  </a:lnTo>
                  <a:lnTo>
                    <a:pt x="7952000" y="1420800"/>
                  </a:lnTo>
                  <a:lnTo>
                    <a:pt x="0" y="1420800"/>
                  </a:lnTo>
                  <a:close/>
                </a:path>
              </a:pathLst>
            </a:custGeom>
          </p:spPr>
        </p:sp>
        <p:sp>
          <p:nvSpPr>
            <p:cNvPr id="43" name="TextBox 43"/>
            <p:cNvSpPr txBox="1"/>
            <p:nvPr/>
          </p:nvSpPr>
          <p:spPr>
            <a:xfrm>
              <a:off x="0" y="-85725"/>
              <a:ext cx="7952000" cy="1506525"/>
            </a:xfrm>
            <a:prstGeom prst="rect">
              <a:avLst/>
            </a:prstGeom>
          </p:spPr>
          <p:txBody>
            <a:bodyPr lIns="0" tIns="0" rIns="0" bIns="0" rtlCol="0" anchor="ctr"/>
            <a:lstStyle/>
            <a:p>
              <a:pPr algn="l">
                <a:lnSpc>
                  <a:spcPts val="4800"/>
                </a:lnSpc>
              </a:pPr>
              <a:r>
                <a:rPr lang="en-US" sz="4000" b="1" i="1" dirty="0">
                  <a:solidFill>
                    <a:srgbClr val="041834"/>
                  </a:solidFill>
                  <a:effectLst>
                    <a:outerShdw blurRad="38100" dist="38100" dir="2700000" algn="tl">
                      <a:srgbClr val="000000">
                        <a:alpha val="43137"/>
                      </a:srgbClr>
                    </a:outerShdw>
                  </a:effectLst>
                  <a:latin typeface="+mj-lt"/>
                  <a:ea typeface="Arial MT Pro"/>
                  <a:cs typeface="Arial MT Pro"/>
                  <a:sym typeface="Arial MT Pro"/>
                </a:rPr>
                <a:t>Conclusion</a:t>
              </a:r>
            </a:p>
          </p:txBody>
        </p:sp>
      </p:grpSp>
      <p:sp>
        <p:nvSpPr>
          <p:cNvPr id="44" name="Freeform 44"/>
          <p:cNvSpPr/>
          <p:nvPr/>
        </p:nvSpPr>
        <p:spPr>
          <a:xfrm>
            <a:off x="1109349" y="2220144"/>
            <a:ext cx="11301259" cy="56506"/>
          </a:xfrm>
          <a:custGeom>
            <a:avLst/>
            <a:gdLst/>
            <a:ahLst/>
            <a:cxnLst/>
            <a:rect l="l" t="t" r="r" b="b"/>
            <a:pathLst>
              <a:path w="11301259" h="56506">
                <a:moveTo>
                  <a:pt x="0" y="0"/>
                </a:moveTo>
                <a:lnTo>
                  <a:pt x="11301259" y="0"/>
                </a:lnTo>
                <a:lnTo>
                  <a:pt x="11301259" y="56506"/>
                </a:lnTo>
                <a:lnTo>
                  <a:pt x="0" y="56506"/>
                </a:lnTo>
                <a:lnTo>
                  <a:pt x="0" y="0"/>
                </a:lnTo>
                <a:close/>
              </a:path>
            </a:pathLst>
          </a:custGeom>
          <a:blipFill>
            <a:blip r:embed="rId9"/>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1000"/>
                                        <p:tgtEl>
                                          <p:spTgt spid="26"/>
                                        </p:tgtEl>
                                      </p:cBhvr>
                                    </p:animEffect>
                                    <p:anim calcmode="lin" valueType="num">
                                      <p:cBhvr>
                                        <p:cTn id="53" dur="1000" fill="hold"/>
                                        <p:tgtEl>
                                          <p:spTgt spid="26"/>
                                        </p:tgtEl>
                                        <p:attrNameLst>
                                          <p:attrName>ppt_x</p:attrName>
                                        </p:attrNameLst>
                                      </p:cBhvr>
                                      <p:tavLst>
                                        <p:tav tm="0">
                                          <p:val>
                                            <p:strVal val="#ppt_x"/>
                                          </p:val>
                                        </p:tav>
                                        <p:tav tm="100000">
                                          <p:val>
                                            <p:strVal val="#ppt_x"/>
                                          </p:val>
                                        </p:tav>
                                      </p:tavLst>
                                    </p:anim>
                                    <p:anim calcmode="lin" valueType="num">
                                      <p:cBhvr>
                                        <p:cTn id="54" dur="1000" fill="hold"/>
                                        <p:tgtEl>
                                          <p:spTgt spid="2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1000"/>
                                        <p:tgtEl>
                                          <p:spTgt spid="29"/>
                                        </p:tgtEl>
                                      </p:cBhvr>
                                    </p:animEffect>
                                    <p:anim calcmode="lin" valueType="num">
                                      <p:cBhvr>
                                        <p:cTn id="58" dur="1000" fill="hold"/>
                                        <p:tgtEl>
                                          <p:spTgt spid="29"/>
                                        </p:tgtEl>
                                        <p:attrNameLst>
                                          <p:attrName>ppt_x</p:attrName>
                                        </p:attrNameLst>
                                      </p:cBhvr>
                                      <p:tavLst>
                                        <p:tav tm="0">
                                          <p:val>
                                            <p:strVal val="#ppt_x"/>
                                          </p:val>
                                        </p:tav>
                                        <p:tav tm="100000">
                                          <p:val>
                                            <p:strVal val="#ppt_x"/>
                                          </p:val>
                                        </p:tav>
                                      </p:tavLst>
                                    </p:anim>
                                    <p:anim calcmode="lin" valueType="num">
                                      <p:cBhvr>
                                        <p:cTn id="59" dur="1000" fill="hold"/>
                                        <p:tgtEl>
                                          <p:spTgt spid="2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anim calcmode="lin" valueType="num">
                                      <p:cBhvr>
                                        <p:cTn id="68" dur="1000" fill="hold"/>
                                        <p:tgtEl>
                                          <p:spTgt spid="35"/>
                                        </p:tgtEl>
                                        <p:attrNameLst>
                                          <p:attrName>ppt_x</p:attrName>
                                        </p:attrNameLst>
                                      </p:cBhvr>
                                      <p:tavLst>
                                        <p:tav tm="0">
                                          <p:val>
                                            <p:strVal val="#ppt_x"/>
                                          </p:val>
                                        </p:tav>
                                        <p:tav tm="100000">
                                          <p:val>
                                            <p:strVal val="#ppt_x"/>
                                          </p:val>
                                        </p:tav>
                                      </p:tavLst>
                                    </p:anim>
                                    <p:anim calcmode="lin" valueType="num">
                                      <p:cBhvr>
                                        <p:cTn id="69" dur="1000" fill="hold"/>
                                        <p:tgtEl>
                                          <p:spTgt spid="3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1000"/>
                                        <p:tgtEl>
                                          <p:spTgt spid="38"/>
                                        </p:tgtEl>
                                      </p:cBhvr>
                                    </p:animEffect>
                                    <p:anim calcmode="lin" valueType="num">
                                      <p:cBhvr>
                                        <p:cTn id="73" dur="1000" fill="hold"/>
                                        <p:tgtEl>
                                          <p:spTgt spid="38"/>
                                        </p:tgtEl>
                                        <p:attrNameLst>
                                          <p:attrName>ppt_x</p:attrName>
                                        </p:attrNameLst>
                                      </p:cBhvr>
                                      <p:tavLst>
                                        <p:tav tm="0">
                                          <p:val>
                                            <p:strVal val="#ppt_x"/>
                                          </p:val>
                                        </p:tav>
                                        <p:tav tm="100000">
                                          <p:val>
                                            <p:strVal val="#ppt_x"/>
                                          </p:val>
                                        </p:tav>
                                      </p:tavLst>
                                    </p:anim>
                                    <p:anim calcmode="lin" valueType="num">
                                      <p:cBhvr>
                                        <p:cTn id="74" dur="1000" fill="hold"/>
                                        <p:tgtEl>
                                          <p:spTgt spid="3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1000"/>
                                        <p:tgtEl>
                                          <p:spTgt spid="41"/>
                                        </p:tgtEl>
                                      </p:cBhvr>
                                    </p:animEffect>
                                    <p:anim calcmode="lin" valueType="num">
                                      <p:cBhvr>
                                        <p:cTn id="78" dur="1000" fill="hold"/>
                                        <p:tgtEl>
                                          <p:spTgt spid="41"/>
                                        </p:tgtEl>
                                        <p:attrNameLst>
                                          <p:attrName>ppt_x</p:attrName>
                                        </p:attrNameLst>
                                      </p:cBhvr>
                                      <p:tavLst>
                                        <p:tav tm="0">
                                          <p:val>
                                            <p:strVal val="#ppt_x"/>
                                          </p:val>
                                        </p:tav>
                                        <p:tav tm="100000">
                                          <p:val>
                                            <p:strVal val="#ppt_x"/>
                                          </p:val>
                                        </p:tav>
                                      </p:tavLst>
                                    </p:anim>
                                    <p:anim calcmode="lin" valueType="num">
                                      <p:cBhvr>
                                        <p:cTn id="79" dur="1000" fill="hold"/>
                                        <p:tgtEl>
                                          <p:spTgt spid="41"/>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1000"/>
                                        <p:tgtEl>
                                          <p:spTgt spid="44"/>
                                        </p:tgtEl>
                                      </p:cBhvr>
                                    </p:animEffect>
                                    <p:anim calcmode="lin" valueType="num">
                                      <p:cBhvr>
                                        <p:cTn id="83" dur="1000" fill="hold"/>
                                        <p:tgtEl>
                                          <p:spTgt spid="44"/>
                                        </p:tgtEl>
                                        <p:attrNameLst>
                                          <p:attrName>ppt_x</p:attrName>
                                        </p:attrNameLst>
                                      </p:cBhvr>
                                      <p:tavLst>
                                        <p:tav tm="0">
                                          <p:val>
                                            <p:strVal val="#ppt_x"/>
                                          </p:val>
                                        </p:tav>
                                        <p:tav tm="100000">
                                          <p:val>
                                            <p:strVal val="#ppt_x"/>
                                          </p:val>
                                        </p:tav>
                                      </p:tavLst>
                                    </p:anim>
                                    <p:anim calcmode="lin" valueType="num">
                                      <p:cBhvr>
                                        <p:cTn id="84" dur="1000" fill="hold"/>
                                        <p:tgtEl>
                                          <p:spTgt spid="44"/>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fade">
                                      <p:cBhvr>
                                        <p:cTn id="87" dur="1000"/>
                                        <p:tgtEl>
                                          <p:spTgt spid="2"/>
                                        </p:tgtEl>
                                      </p:cBhvr>
                                    </p:animEffect>
                                    <p:anim calcmode="lin" valueType="num">
                                      <p:cBhvr>
                                        <p:cTn id="88" dur="1000" fill="hold"/>
                                        <p:tgtEl>
                                          <p:spTgt spid="2"/>
                                        </p:tgtEl>
                                        <p:attrNameLst>
                                          <p:attrName>ppt_x</p:attrName>
                                        </p:attrNameLst>
                                      </p:cBhvr>
                                      <p:tavLst>
                                        <p:tav tm="0">
                                          <p:val>
                                            <p:strVal val="#ppt_x"/>
                                          </p:val>
                                        </p:tav>
                                        <p:tav tm="100000">
                                          <p:val>
                                            <p:strVal val="#ppt_x"/>
                                          </p:val>
                                        </p:tav>
                                      </p:tavLst>
                                    </p:anim>
                                    <p:anim calcmode="lin" valueType="num">
                                      <p:cBhvr>
                                        <p:cTn id="8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828800"/>
          </a:xfrm>
          <a:prstGeom prst="rect">
            <a:avLst/>
          </a:prstGeom>
          <a:solidFill>
            <a:schemeClr val="accent5">
              <a:lumMod val="60000"/>
              <a:lumOff val="40000"/>
            </a:schemeClr>
          </a:solidFill>
          <a:ln w="12700">
            <a:solidFill>
              <a:srgbClr val="065A82"/>
            </a:solidFill>
            <a:prstDash val="solid"/>
          </a:ln>
        </p:spPr>
      </p:sp>
      <p:sp>
        <p:nvSpPr>
          <p:cNvPr id="3" name="Shape 1"/>
          <p:cNvSpPr/>
          <p:nvPr/>
        </p:nvSpPr>
        <p:spPr>
          <a:xfrm>
            <a:off x="0" y="1737360"/>
            <a:ext cx="18288000" cy="146304"/>
          </a:xfrm>
          <a:prstGeom prst="rect">
            <a:avLst/>
          </a:prstGeom>
          <a:solidFill>
            <a:schemeClr val="accent1">
              <a:lumMod val="50000"/>
            </a:schemeClr>
          </a:solidFill>
          <a:ln w="12700">
            <a:solidFill>
              <a:schemeClr val="tx2">
                <a:lumMod val="50000"/>
              </a:schemeClr>
            </a:solidFill>
            <a:prstDash val="solid"/>
          </a:ln>
        </p:spPr>
      </p:sp>
      <p:sp>
        <p:nvSpPr>
          <p:cNvPr id="4" name="Text 2"/>
          <p:cNvSpPr/>
          <p:nvPr/>
        </p:nvSpPr>
        <p:spPr>
          <a:xfrm>
            <a:off x="731520" y="274320"/>
            <a:ext cx="16459200" cy="1280160"/>
          </a:xfrm>
          <a:prstGeom prst="rect">
            <a:avLst/>
          </a:prstGeom>
          <a:noFill/>
          <a:ln/>
        </p:spPr>
        <p:txBody>
          <a:bodyPr wrap="square" lIns="0" tIns="0" rIns="0" bIns="0" rtlCol="0" anchor="ctr"/>
          <a:lstStyle/>
          <a:p>
            <a:r>
              <a:rPr lang="en-US" sz="4800" b="1" dirty="0">
                <a:solidFill>
                  <a:srgbClr val="FFFFFF"/>
                </a:solidFill>
                <a:latin typeface="Calibri" pitchFamily="34" charset="0"/>
                <a:ea typeface="Calibri" pitchFamily="34" charset="-122"/>
                <a:cs typeface="Calibri" pitchFamily="34" charset="-120"/>
              </a:rPr>
              <a:t>STRUCTURE DU DATASET</a:t>
            </a:r>
            <a:endParaRPr lang="en-US" sz="4800" dirty="0"/>
          </a:p>
        </p:txBody>
      </p:sp>
      <p:sp>
        <p:nvSpPr>
          <p:cNvPr id="5" name="Shape 3"/>
          <p:cNvSpPr/>
          <p:nvPr/>
        </p:nvSpPr>
        <p:spPr>
          <a:xfrm>
            <a:off x="640080" y="2194560"/>
            <a:ext cx="6949440" cy="7223760"/>
          </a:xfrm>
          <a:prstGeom prst="rect">
            <a:avLst/>
          </a:prstGeom>
          <a:solidFill>
            <a:srgbClr val="FFFFFF"/>
          </a:solidFill>
          <a:ln w="12700">
            <a:solidFill>
              <a:srgbClr val="9DC3D4"/>
            </a:solidFill>
            <a:prstDash val="solid"/>
          </a:ln>
        </p:spPr>
      </p:sp>
      <p:sp>
        <p:nvSpPr>
          <p:cNvPr id="6" name="Shape 4"/>
          <p:cNvSpPr/>
          <p:nvPr/>
        </p:nvSpPr>
        <p:spPr>
          <a:xfrm>
            <a:off x="640080" y="2194560"/>
            <a:ext cx="6949440" cy="822960"/>
          </a:xfrm>
          <a:prstGeom prst="rect">
            <a:avLst/>
          </a:prstGeom>
          <a:solidFill>
            <a:schemeClr val="accent5">
              <a:lumMod val="60000"/>
              <a:lumOff val="40000"/>
            </a:schemeClr>
          </a:solidFill>
          <a:ln w="12700">
            <a:solidFill>
              <a:srgbClr val="1C7293"/>
            </a:solidFill>
            <a:prstDash val="solid"/>
          </a:ln>
        </p:spPr>
      </p:sp>
      <p:sp>
        <p:nvSpPr>
          <p:cNvPr id="7" name="Text 5"/>
          <p:cNvSpPr/>
          <p:nvPr/>
        </p:nvSpPr>
        <p:spPr>
          <a:xfrm>
            <a:off x="822960" y="2231136"/>
            <a:ext cx="6583680" cy="768096"/>
          </a:xfrm>
          <a:prstGeom prst="rect">
            <a:avLst/>
          </a:prstGeom>
          <a:noFill/>
          <a:ln/>
        </p:spPr>
        <p:txBody>
          <a:bodyPr wrap="square" lIns="0" tIns="0" rIns="0" bIns="0" rtlCol="0" anchor="ctr"/>
          <a:lstStyle/>
          <a:p>
            <a:r>
              <a:rPr lang="en-US" sz="2600" b="1" dirty="0">
                <a:solidFill>
                  <a:srgbClr val="FFFFFF"/>
                </a:solidFill>
                <a:latin typeface="Calibri" pitchFamily="34" charset="0"/>
                <a:ea typeface="Calibri" pitchFamily="34" charset="-122"/>
                <a:cs typeface="Calibri" pitchFamily="34" charset="-120"/>
              </a:rPr>
              <a:t>À PROPOS DU DATASET</a:t>
            </a:r>
            <a:endParaRPr lang="en-US" sz="2600" dirty="0"/>
          </a:p>
        </p:txBody>
      </p:sp>
      <p:sp>
        <p:nvSpPr>
          <p:cNvPr id="8" name="Text 6"/>
          <p:cNvSpPr/>
          <p:nvPr/>
        </p:nvSpPr>
        <p:spPr>
          <a:xfrm>
            <a:off x="914400" y="3200400"/>
            <a:ext cx="6400800" cy="5852160"/>
          </a:xfrm>
          <a:prstGeom prst="rect">
            <a:avLst/>
          </a:prstGeom>
          <a:noFill/>
          <a:ln/>
        </p:spPr>
        <p:txBody>
          <a:bodyPr wrap="square" rtlCol="0" anchor="ctr"/>
          <a:lstStyle/>
          <a:p>
            <a:pPr>
              <a:lnSpc>
                <a:spcPct val="150000"/>
              </a:lnSpc>
            </a:pPr>
            <a:r>
              <a:rPr lang="en-US" sz="2600" b="1" dirty="0">
                <a:solidFill>
                  <a:srgbClr val="1E2D3D"/>
                </a:solidFill>
                <a:latin typeface="Calibri" pitchFamily="34" charset="0"/>
                <a:ea typeface="Calibri" pitchFamily="34" charset="-122"/>
                <a:cs typeface="Calibri" pitchFamily="34" charset="-120"/>
              </a:rPr>
              <a:t>Source : </a:t>
            </a:r>
            <a:r>
              <a:rPr lang="en-US" sz="2600" dirty="0">
                <a:solidFill>
                  <a:srgbClr val="1E2D3D"/>
                </a:solidFill>
                <a:latin typeface="Calibri" pitchFamily="34" charset="0"/>
                <a:ea typeface="Calibri" pitchFamily="34" charset="-122"/>
                <a:cs typeface="Calibri" pitchFamily="34" charset="-120"/>
              </a:rPr>
              <a:t>UCI Machine Learning Repository
</a:t>
            </a:r>
            <a:r>
              <a:rPr lang="en-US" sz="2600" b="1" dirty="0">
                <a:solidFill>
                  <a:srgbClr val="1E2D3D"/>
                </a:solidFill>
                <a:latin typeface="Calibri" pitchFamily="34" charset="0"/>
                <a:ea typeface="Calibri" pitchFamily="34" charset="-122"/>
                <a:cs typeface="Calibri" pitchFamily="34" charset="-120"/>
              </a:rPr>
              <a:t>Population : </a:t>
            </a:r>
            <a:r>
              <a:rPr lang="en-US" sz="2600" dirty="0">
                <a:solidFill>
                  <a:srgbClr val="1E2D3D"/>
                </a:solidFill>
                <a:latin typeface="Calibri" pitchFamily="34" charset="0"/>
                <a:ea typeface="Calibri" pitchFamily="34" charset="-122"/>
                <a:cs typeface="Calibri" pitchFamily="34" charset="-120"/>
              </a:rPr>
              <a:t>Femmes Amérindiennes Pima
</a:t>
            </a:r>
            <a:r>
              <a:rPr lang="en-US" sz="2600" b="1" dirty="0">
                <a:solidFill>
                  <a:srgbClr val="1E2D3D"/>
                </a:solidFill>
                <a:latin typeface="Calibri" pitchFamily="34" charset="0"/>
                <a:ea typeface="Calibri" pitchFamily="34" charset="-122"/>
                <a:cs typeface="Calibri" pitchFamily="34" charset="-120"/>
              </a:rPr>
              <a:t>Lignes : </a:t>
            </a:r>
            <a:r>
              <a:rPr lang="en-US" sz="2600" dirty="0">
                <a:solidFill>
                  <a:srgbClr val="1E2D3D"/>
                </a:solidFill>
                <a:latin typeface="Calibri" pitchFamily="34" charset="0"/>
                <a:ea typeface="Calibri" pitchFamily="34" charset="-122"/>
                <a:cs typeface="Calibri" pitchFamily="34" charset="-120"/>
              </a:rPr>
              <a:t>768 patientes
</a:t>
            </a:r>
            <a:r>
              <a:rPr lang="en-US" sz="2600" b="1" dirty="0">
                <a:solidFill>
                  <a:srgbClr val="1E2D3D"/>
                </a:solidFill>
                <a:latin typeface="Calibri" pitchFamily="34" charset="0"/>
                <a:ea typeface="Calibri" pitchFamily="34" charset="-122"/>
                <a:cs typeface="Calibri" pitchFamily="34" charset="-120"/>
              </a:rPr>
              <a:t>Variables : </a:t>
            </a:r>
            <a:r>
              <a:rPr lang="en-US" sz="2600" dirty="0">
                <a:solidFill>
                  <a:srgbClr val="1E2D3D"/>
                </a:solidFill>
                <a:latin typeface="Calibri" pitchFamily="34" charset="0"/>
                <a:ea typeface="Calibri" pitchFamily="34" charset="-122"/>
                <a:cs typeface="Calibri" pitchFamily="34" charset="-120"/>
              </a:rPr>
              <a:t>8 prédicteurs + 1 cible
</a:t>
            </a:r>
            <a:r>
              <a:rPr lang="en-US" sz="2600" b="1" dirty="0">
                <a:solidFill>
                  <a:srgbClr val="1E2D3D"/>
                </a:solidFill>
                <a:latin typeface="Calibri" pitchFamily="34" charset="0"/>
                <a:ea typeface="Calibri" pitchFamily="34" charset="-122"/>
                <a:cs typeface="Calibri" pitchFamily="34" charset="-120"/>
              </a:rPr>
              <a:t>Objectif : </a:t>
            </a:r>
            <a:r>
              <a:rPr lang="en-US" sz="2600" dirty="0">
                <a:solidFill>
                  <a:srgbClr val="1E2D3D"/>
                </a:solidFill>
                <a:latin typeface="Calibri" pitchFamily="34" charset="0"/>
                <a:ea typeface="Calibri" pitchFamily="34" charset="-122"/>
                <a:cs typeface="Calibri" pitchFamily="34" charset="-120"/>
              </a:rPr>
              <a:t>Prédire l'apparition du diabète</a:t>
            </a:r>
            <a:endParaRPr lang="en-US" sz="2600" dirty="0"/>
          </a:p>
        </p:txBody>
      </p:sp>
      <p:sp>
        <p:nvSpPr>
          <p:cNvPr id="9" name="Shape 7"/>
          <p:cNvSpPr/>
          <p:nvPr/>
        </p:nvSpPr>
        <p:spPr>
          <a:xfrm>
            <a:off x="8229600" y="2194560"/>
            <a:ext cx="9418320" cy="7223760"/>
          </a:xfrm>
          <a:prstGeom prst="rect">
            <a:avLst/>
          </a:prstGeom>
          <a:solidFill>
            <a:srgbClr val="FFFFFF"/>
          </a:solidFill>
          <a:ln w="12700">
            <a:solidFill>
              <a:srgbClr val="9DC3D4"/>
            </a:solidFill>
            <a:prstDash val="solid"/>
          </a:ln>
        </p:spPr>
      </p:sp>
      <p:sp>
        <p:nvSpPr>
          <p:cNvPr id="10" name="Shape 8"/>
          <p:cNvSpPr/>
          <p:nvPr/>
        </p:nvSpPr>
        <p:spPr>
          <a:xfrm>
            <a:off x="8229600" y="2194560"/>
            <a:ext cx="9418320" cy="822960"/>
          </a:xfrm>
          <a:prstGeom prst="rect">
            <a:avLst/>
          </a:prstGeom>
          <a:solidFill>
            <a:schemeClr val="accent5">
              <a:lumMod val="60000"/>
              <a:lumOff val="40000"/>
            </a:schemeClr>
          </a:solidFill>
          <a:ln w="12700">
            <a:solidFill>
              <a:srgbClr val="065A82"/>
            </a:solidFill>
            <a:prstDash val="solid"/>
          </a:ln>
        </p:spPr>
      </p:sp>
      <p:sp>
        <p:nvSpPr>
          <p:cNvPr id="11" name="Text 9"/>
          <p:cNvSpPr/>
          <p:nvPr/>
        </p:nvSpPr>
        <p:spPr>
          <a:xfrm>
            <a:off x="8412480" y="2231136"/>
            <a:ext cx="8961120" cy="768096"/>
          </a:xfrm>
          <a:prstGeom prst="rect">
            <a:avLst/>
          </a:prstGeom>
          <a:noFill/>
          <a:ln/>
        </p:spPr>
        <p:txBody>
          <a:bodyPr wrap="square" lIns="0" tIns="0" rIns="0" bIns="0" rtlCol="0" anchor="ctr"/>
          <a:lstStyle/>
          <a:p>
            <a:r>
              <a:rPr lang="en-US" sz="2600" b="1" dirty="0">
                <a:solidFill>
                  <a:srgbClr val="FFFFFF"/>
                </a:solidFill>
                <a:latin typeface="Calibri" pitchFamily="34" charset="0"/>
                <a:ea typeface="Calibri" pitchFamily="34" charset="-122"/>
                <a:cs typeface="Calibri" pitchFamily="34" charset="-120"/>
              </a:rPr>
              <a:t>VARIABLES DU DATASET</a:t>
            </a:r>
            <a:endParaRPr lang="en-US" sz="2600" dirty="0"/>
          </a:p>
        </p:txBody>
      </p:sp>
      <p:sp>
        <p:nvSpPr>
          <p:cNvPr id="12" name="Shape 10"/>
          <p:cNvSpPr/>
          <p:nvPr/>
        </p:nvSpPr>
        <p:spPr>
          <a:xfrm>
            <a:off x="8229600" y="3163824"/>
            <a:ext cx="9418320" cy="749808"/>
          </a:xfrm>
          <a:prstGeom prst="rect">
            <a:avLst/>
          </a:prstGeom>
          <a:solidFill>
            <a:srgbClr val="F0F7FB"/>
          </a:solidFill>
          <a:ln w="12700">
            <a:solidFill>
              <a:srgbClr val="E0EEF3"/>
            </a:solidFill>
            <a:prstDash val="solid"/>
          </a:ln>
        </p:spPr>
      </p:sp>
      <p:sp>
        <p:nvSpPr>
          <p:cNvPr id="13" name="Text 11"/>
          <p:cNvSpPr/>
          <p:nvPr/>
        </p:nvSpPr>
        <p:spPr>
          <a:xfrm>
            <a:off x="8412480" y="3255264"/>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Pregnancies</a:t>
            </a:r>
            <a:endParaRPr lang="en-US" sz="2200" dirty="0"/>
          </a:p>
        </p:txBody>
      </p:sp>
      <p:sp>
        <p:nvSpPr>
          <p:cNvPr id="14" name="Text 12"/>
          <p:cNvSpPr/>
          <p:nvPr/>
        </p:nvSpPr>
        <p:spPr>
          <a:xfrm>
            <a:off x="12161520" y="3255264"/>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Nombre de grossesses</a:t>
            </a:r>
            <a:endParaRPr lang="en-US" sz="2200" dirty="0"/>
          </a:p>
        </p:txBody>
      </p:sp>
      <p:sp>
        <p:nvSpPr>
          <p:cNvPr id="15" name="Shape 13"/>
          <p:cNvSpPr/>
          <p:nvPr/>
        </p:nvSpPr>
        <p:spPr>
          <a:xfrm>
            <a:off x="8229600" y="3931920"/>
            <a:ext cx="9418320" cy="749808"/>
          </a:xfrm>
          <a:prstGeom prst="rect">
            <a:avLst/>
          </a:prstGeom>
          <a:solidFill>
            <a:srgbClr val="FFFFFF"/>
          </a:solidFill>
          <a:ln w="12700">
            <a:solidFill>
              <a:srgbClr val="E0EEF3"/>
            </a:solidFill>
            <a:prstDash val="solid"/>
          </a:ln>
        </p:spPr>
      </p:sp>
      <p:sp>
        <p:nvSpPr>
          <p:cNvPr id="16" name="Text 14"/>
          <p:cNvSpPr/>
          <p:nvPr/>
        </p:nvSpPr>
        <p:spPr>
          <a:xfrm>
            <a:off x="8412480" y="4023360"/>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Glucose</a:t>
            </a:r>
            <a:endParaRPr lang="en-US" sz="2200" dirty="0"/>
          </a:p>
        </p:txBody>
      </p:sp>
      <p:sp>
        <p:nvSpPr>
          <p:cNvPr id="17" name="Text 15"/>
          <p:cNvSpPr/>
          <p:nvPr/>
        </p:nvSpPr>
        <p:spPr>
          <a:xfrm>
            <a:off x="12161520" y="4023360"/>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Niveau de glucose plasmatique</a:t>
            </a:r>
            <a:endParaRPr lang="en-US" sz="2200" dirty="0"/>
          </a:p>
        </p:txBody>
      </p:sp>
      <p:sp>
        <p:nvSpPr>
          <p:cNvPr id="18" name="Shape 16"/>
          <p:cNvSpPr/>
          <p:nvPr/>
        </p:nvSpPr>
        <p:spPr>
          <a:xfrm>
            <a:off x="8229600" y="4700016"/>
            <a:ext cx="9418320" cy="749808"/>
          </a:xfrm>
          <a:prstGeom prst="rect">
            <a:avLst/>
          </a:prstGeom>
          <a:solidFill>
            <a:srgbClr val="F0F7FB"/>
          </a:solidFill>
          <a:ln w="12700">
            <a:solidFill>
              <a:srgbClr val="E0EEF3"/>
            </a:solidFill>
            <a:prstDash val="solid"/>
          </a:ln>
        </p:spPr>
      </p:sp>
      <p:sp>
        <p:nvSpPr>
          <p:cNvPr id="19" name="Text 17"/>
          <p:cNvSpPr/>
          <p:nvPr/>
        </p:nvSpPr>
        <p:spPr>
          <a:xfrm>
            <a:off x="8412480" y="4791456"/>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BloodPressure</a:t>
            </a:r>
            <a:endParaRPr lang="en-US" sz="2200" dirty="0"/>
          </a:p>
        </p:txBody>
      </p:sp>
      <p:sp>
        <p:nvSpPr>
          <p:cNvPr id="20" name="Text 18"/>
          <p:cNvSpPr/>
          <p:nvPr/>
        </p:nvSpPr>
        <p:spPr>
          <a:xfrm>
            <a:off x="12161520" y="4791456"/>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Pression diastolique (mm Hg)</a:t>
            </a:r>
            <a:endParaRPr lang="en-US" sz="2200" dirty="0"/>
          </a:p>
        </p:txBody>
      </p:sp>
      <p:sp>
        <p:nvSpPr>
          <p:cNvPr id="21" name="Shape 19"/>
          <p:cNvSpPr/>
          <p:nvPr/>
        </p:nvSpPr>
        <p:spPr>
          <a:xfrm>
            <a:off x="8229600" y="5468112"/>
            <a:ext cx="9418320" cy="749808"/>
          </a:xfrm>
          <a:prstGeom prst="rect">
            <a:avLst/>
          </a:prstGeom>
          <a:solidFill>
            <a:srgbClr val="FFFFFF"/>
          </a:solidFill>
          <a:ln w="12700">
            <a:solidFill>
              <a:srgbClr val="E0EEF3"/>
            </a:solidFill>
            <a:prstDash val="solid"/>
          </a:ln>
        </p:spPr>
      </p:sp>
      <p:sp>
        <p:nvSpPr>
          <p:cNvPr id="22" name="Text 20"/>
          <p:cNvSpPr/>
          <p:nvPr/>
        </p:nvSpPr>
        <p:spPr>
          <a:xfrm>
            <a:off x="8412480" y="5559552"/>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SkinThickness</a:t>
            </a:r>
            <a:endParaRPr lang="en-US" sz="2200" dirty="0"/>
          </a:p>
        </p:txBody>
      </p:sp>
      <p:sp>
        <p:nvSpPr>
          <p:cNvPr id="23" name="Text 21"/>
          <p:cNvSpPr/>
          <p:nvPr/>
        </p:nvSpPr>
        <p:spPr>
          <a:xfrm>
            <a:off x="12161520" y="5559552"/>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Épaisseur du pli cutané (mm)</a:t>
            </a:r>
            <a:endParaRPr lang="en-US" sz="2200" dirty="0"/>
          </a:p>
        </p:txBody>
      </p:sp>
      <p:sp>
        <p:nvSpPr>
          <p:cNvPr id="24" name="Shape 22"/>
          <p:cNvSpPr/>
          <p:nvPr/>
        </p:nvSpPr>
        <p:spPr>
          <a:xfrm>
            <a:off x="8229600" y="6236208"/>
            <a:ext cx="9418320" cy="749808"/>
          </a:xfrm>
          <a:prstGeom prst="rect">
            <a:avLst/>
          </a:prstGeom>
          <a:solidFill>
            <a:srgbClr val="F0F7FB"/>
          </a:solidFill>
          <a:ln w="12700">
            <a:solidFill>
              <a:srgbClr val="E0EEF3"/>
            </a:solidFill>
            <a:prstDash val="solid"/>
          </a:ln>
        </p:spPr>
      </p:sp>
      <p:sp>
        <p:nvSpPr>
          <p:cNvPr id="25" name="Text 23"/>
          <p:cNvSpPr/>
          <p:nvPr/>
        </p:nvSpPr>
        <p:spPr>
          <a:xfrm>
            <a:off x="8412480" y="6327648"/>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Insulin</a:t>
            </a:r>
            <a:endParaRPr lang="en-US" sz="2200" dirty="0"/>
          </a:p>
        </p:txBody>
      </p:sp>
      <p:sp>
        <p:nvSpPr>
          <p:cNvPr id="26" name="Text 24"/>
          <p:cNvSpPr/>
          <p:nvPr/>
        </p:nvSpPr>
        <p:spPr>
          <a:xfrm>
            <a:off x="12161520" y="6327648"/>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Insuline sérique 2h (mu U/ml)</a:t>
            </a:r>
            <a:endParaRPr lang="en-US" sz="2200" dirty="0"/>
          </a:p>
        </p:txBody>
      </p:sp>
      <p:sp>
        <p:nvSpPr>
          <p:cNvPr id="27" name="Shape 25"/>
          <p:cNvSpPr/>
          <p:nvPr/>
        </p:nvSpPr>
        <p:spPr>
          <a:xfrm>
            <a:off x="8229600" y="7004304"/>
            <a:ext cx="9418320" cy="749808"/>
          </a:xfrm>
          <a:prstGeom prst="rect">
            <a:avLst/>
          </a:prstGeom>
          <a:solidFill>
            <a:srgbClr val="FFFFFF"/>
          </a:solidFill>
          <a:ln w="12700">
            <a:solidFill>
              <a:srgbClr val="E0EEF3"/>
            </a:solidFill>
            <a:prstDash val="solid"/>
          </a:ln>
        </p:spPr>
      </p:sp>
      <p:sp>
        <p:nvSpPr>
          <p:cNvPr id="28" name="Text 26"/>
          <p:cNvSpPr/>
          <p:nvPr/>
        </p:nvSpPr>
        <p:spPr>
          <a:xfrm>
            <a:off x="8412480" y="7095744"/>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BMI</a:t>
            </a:r>
            <a:endParaRPr lang="en-US" sz="2200" dirty="0"/>
          </a:p>
        </p:txBody>
      </p:sp>
      <p:sp>
        <p:nvSpPr>
          <p:cNvPr id="29" name="Text 27"/>
          <p:cNvSpPr/>
          <p:nvPr/>
        </p:nvSpPr>
        <p:spPr>
          <a:xfrm>
            <a:off x="12161520" y="7095744"/>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Indice de masse corporelle</a:t>
            </a:r>
            <a:endParaRPr lang="en-US" sz="2200" dirty="0"/>
          </a:p>
        </p:txBody>
      </p:sp>
      <p:sp>
        <p:nvSpPr>
          <p:cNvPr id="30" name="Shape 28"/>
          <p:cNvSpPr/>
          <p:nvPr/>
        </p:nvSpPr>
        <p:spPr>
          <a:xfrm>
            <a:off x="8229600" y="7772400"/>
            <a:ext cx="9418320" cy="749808"/>
          </a:xfrm>
          <a:prstGeom prst="rect">
            <a:avLst/>
          </a:prstGeom>
          <a:solidFill>
            <a:srgbClr val="F0F7FB"/>
          </a:solidFill>
          <a:ln w="12700">
            <a:solidFill>
              <a:srgbClr val="E0EEF3"/>
            </a:solidFill>
            <a:prstDash val="solid"/>
          </a:ln>
        </p:spPr>
      </p:sp>
      <p:sp>
        <p:nvSpPr>
          <p:cNvPr id="31" name="Text 29"/>
          <p:cNvSpPr/>
          <p:nvPr/>
        </p:nvSpPr>
        <p:spPr>
          <a:xfrm>
            <a:off x="8412480" y="7863840"/>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DiabetesPedigreeFunction</a:t>
            </a:r>
            <a:endParaRPr lang="en-US" sz="2200" dirty="0"/>
          </a:p>
        </p:txBody>
      </p:sp>
      <p:sp>
        <p:nvSpPr>
          <p:cNvPr id="32" name="Text 30"/>
          <p:cNvSpPr/>
          <p:nvPr/>
        </p:nvSpPr>
        <p:spPr>
          <a:xfrm>
            <a:off x="12161520" y="7863840"/>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Prédisposition génétique</a:t>
            </a:r>
            <a:endParaRPr lang="en-US" sz="2200" dirty="0"/>
          </a:p>
        </p:txBody>
      </p:sp>
      <p:sp>
        <p:nvSpPr>
          <p:cNvPr id="33" name="Shape 31"/>
          <p:cNvSpPr/>
          <p:nvPr/>
        </p:nvSpPr>
        <p:spPr>
          <a:xfrm>
            <a:off x="8229600" y="8540496"/>
            <a:ext cx="9418320" cy="749808"/>
          </a:xfrm>
          <a:prstGeom prst="rect">
            <a:avLst/>
          </a:prstGeom>
          <a:solidFill>
            <a:srgbClr val="FFFFFF"/>
          </a:solidFill>
          <a:ln w="12700">
            <a:solidFill>
              <a:srgbClr val="E0EEF3"/>
            </a:solidFill>
            <a:prstDash val="solid"/>
          </a:ln>
        </p:spPr>
      </p:sp>
      <p:sp>
        <p:nvSpPr>
          <p:cNvPr id="34" name="Text 32"/>
          <p:cNvSpPr/>
          <p:nvPr/>
        </p:nvSpPr>
        <p:spPr>
          <a:xfrm>
            <a:off x="8412480" y="8631936"/>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Age</a:t>
            </a:r>
            <a:endParaRPr lang="en-US" sz="2200" dirty="0"/>
          </a:p>
        </p:txBody>
      </p:sp>
      <p:sp>
        <p:nvSpPr>
          <p:cNvPr id="35" name="Text 33"/>
          <p:cNvSpPr/>
          <p:nvPr/>
        </p:nvSpPr>
        <p:spPr>
          <a:xfrm>
            <a:off x="12161520" y="8631936"/>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Âge (années)</a:t>
            </a:r>
            <a:endParaRPr lang="en-US" sz="2200" dirty="0"/>
          </a:p>
        </p:txBody>
      </p:sp>
      <p:sp>
        <p:nvSpPr>
          <p:cNvPr id="36" name="Shape 34"/>
          <p:cNvSpPr/>
          <p:nvPr/>
        </p:nvSpPr>
        <p:spPr>
          <a:xfrm>
            <a:off x="8229600" y="9308592"/>
            <a:ext cx="9418320" cy="749808"/>
          </a:xfrm>
          <a:prstGeom prst="rect">
            <a:avLst/>
          </a:prstGeom>
          <a:solidFill>
            <a:srgbClr val="F0F7FB"/>
          </a:solidFill>
          <a:ln w="12700">
            <a:solidFill>
              <a:srgbClr val="E0EEF3"/>
            </a:solidFill>
            <a:prstDash val="solid"/>
          </a:ln>
        </p:spPr>
      </p:sp>
      <p:sp>
        <p:nvSpPr>
          <p:cNvPr id="37" name="Text 35"/>
          <p:cNvSpPr/>
          <p:nvPr/>
        </p:nvSpPr>
        <p:spPr>
          <a:xfrm>
            <a:off x="8412480" y="9400032"/>
            <a:ext cx="3657600" cy="585216"/>
          </a:xfrm>
          <a:prstGeom prst="rect">
            <a:avLst/>
          </a:prstGeom>
          <a:noFill/>
          <a:ln/>
        </p:spPr>
        <p:txBody>
          <a:bodyPr wrap="square" lIns="0" tIns="0" rIns="0" bIns="0" rtlCol="0" anchor="ctr"/>
          <a:lstStyle/>
          <a:p>
            <a:r>
              <a:rPr lang="en-US" sz="2200" b="1" dirty="0">
                <a:solidFill>
                  <a:srgbClr val="065A82"/>
                </a:solidFill>
                <a:latin typeface="Calibri" pitchFamily="34" charset="0"/>
                <a:ea typeface="Calibri" pitchFamily="34" charset="-122"/>
                <a:cs typeface="Calibri" pitchFamily="34" charset="-120"/>
              </a:rPr>
              <a:t>Outcome ★</a:t>
            </a:r>
            <a:endParaRPr lang="en-US" sz="2200" dirty="0"/>
          </a:p>
        </p:txBody>
      </p:sp>
      <p:sp>
        <p:nvSpPr>
          <p:cNvPr id="38" name="Text 36"/>
          <p:cNvSpPr/>
          <p:nvPr/>
        </p:nvSpPr>
        <p:spPr>
          <a:xfrm>
            <a:off x="12161520" y="9400032"/>
            <a:ext cx="5303520" cy="585216"/>
          </a:xfrm>
          <a:prstGeom prst="rect">
            <a:avLst/>
          </a:prstGeom>
          <a:noFill/>
          <a:ln/>
        </p:spPr>
        <p:txBody>
          <a:bodyPr wrap="square" lIns="0" tIns="0" rIns="0" bIns="0" rtlCol="0" anchor="ctr"/>
          <a:lstStyle/>
          <a:p>
            <a:r>
              <a:rPr lang="en-US" sz="2200" dirty="0">
                <a:solidFill>
                  <a:srgbClr val="1E2D3D"/>
                </a:solidFill>
                <a:latin typeface="Calibri" pitchFamily="34" charset="0"/>
                <a:ea typeface="Calibri" pitchFamily="34" charset="-122"/>
                <a:cs typeface="Calibri" pitchFamily="34" charset="-120"/>
              </a:rPr>
              <a:t>Cible : 0 = non diabétique, 1 = diabétique</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1000"/>
                                        <p:tgtEl>
                                          <p:spTgt spid="25"/>
                                        </p:tgtEl>
                                      </p:cBhvr>
                                    </p:animEffect>
                                    <p:anim calcmode="lin" valueType="num">
                                      <p:cBhvr>
                                        <p:cTn id="123" dur="1000" fill="hold"/>
                                        <p:tgtEl>
                                          <p:spTgt spid="25"/>
                                        </p:tgtEl>
                                        <p:attrNameLst>
                                          <p:attrName>ppt_x</p:attrName>
                                        </p:attrNameLst>
                                      </p:cBhvr>
                                      <p:tavLst>
                                        <p:tav tm="0">
                                          <p:val>
                                            <p:strVal val="#ppt_x"/>
                                          </p:val>
                                        </p:tav>
                                        <p:tav tm="100000">
                                          <p:val>
                                            <p:strVal val="#ppt_x"/>
                                          </p:val>
                                        </p:tav>
                                      </p:tavLst>
                                    </p:anim>
                                    <p:anim calcmode="lin" valueType="num">
                                      <p:cBhvr>
                                        <p:cTn id="124" dur="10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1000"/>
                                        <p:tgtEl>
                                          <p:spTgt spid="26"/>
                                        </p:tgtEl>
                                      </p:cBhvr>
                                    </p:animEffect>
                                    <p:anim calcmode="lin" valueType="num">
                                      <p:cBhvr>
                                        <p:cTn id="128" dur="1000" fill="hold"/>
                                        <p:tgtEl>
                                          <p:spTgt spid="26"/>
                                        </p:tgtEl>
                                        <p:attrNameLst>
                                          <p:attrName>ppt_x</p:attrName>
                                        </p:attrNameLst>
                                      </p:cBhvr>
                                      <p:tavLst>
                                        <p:tav tm="0">
                                          <p:val>
                                            <p:strVal val="#ppt_x"/>
                                          </p:val>
                                        </p:tav>
                                        <p:tav tm="100000">
                                          <p:val>
                                            <p:strVal val="#ppt_x"/>
                                          </p:val>
                                        </p:tav>
                                      </p:tavLst>
                                    </p:anim>
                                    <p:anim calcmode="lin" valueType="num">
                                      <p:cBhvr>
                                        <p:cTn id="129" dur="10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1000"/>
                                        <p:tgtEl>
                                          <p:spTgt spid="27"/>
                                        </p:tgtEl>
                                      </p:cBhvr>
                                    </p:animEffect>
                                    <p:anim calcmode="lin" valueType="num">
                                      <p:cBhvr>
                                        <p:cTn id="133" dur="1000" fill="hold"/>
                                        <p:tgtEl>
                                          <p:spTgt spid="27"/>
                                        </p:tgtEl>
                                        <p:attrNameLst>
                                          <p:attrName>ppt_x</p:attrName>
                                        </p:attrNameLst>
                                      </p:cBhvr>
                                      <p:tavLst>
                                        <p:tav tm="0">
                                          <p:val>
                                            <p:strVal val="#ppt_x"/>
                                          </p:val>
                                        </p:tav>
                                        <p:tav tm="100000">
                                          <p:val>
                                            <p:strVal val="#ppt_x"/>
                                          </p:val>
                                        </p:tav>
                                      </p:tavLst>
                                    </p:anim>
                                    <p:anim calcmode="lin" valueType="num">
                                      <p:cBhvr>
                                        <p:cTn id="134" dur="10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1000"/>
                                        <p:tgtEl>
                                          <p:spTgt spid="28"/>
                                        </p:tgtEl>
                                      </p:cBhvr>
                                    </p:animEffect>
                                    <p:anim calcmode="lin" valueType="num">
                                      <p:cBhvr>
                                        <p:cTn id="138" dur="1000" fill="hold"/>
                                        <p:tgtEl>
                                          <p:spTgt spid="28"/>
                                        </p:tgtEl>
                                        <p:attrNameLst>
                                          <p:attrName>ppt_x</p:attrName>
                                        </p:attrNameLst>
                                      </p:cBhvr>
                                      <p:tavLst>
                                        <p:tav tm="0">
                                          <p:val>
                                            <p:strVal val="#ppt_x"/>
                                          </p:val>
                                        </p:tav>
                                        <p:tav tm="100000">
                                          <p:val>
                                            <p:strVal val="#ppt_x"/>
                                          </p:val>
                                        </p:tav>
                                      </p:tavLst>
                                    </p:anim>
                                    <p:anim calcmode="lin" valueType="num">
                                      <p:cBhvr>
                                        <p:cTn id="139" dur="10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1000"/>
                                        <p:tgtEl>
                                          <p:spTgt spid="29"/>
                                        </p:tgtEl>
                                      </p:cBhvr>
                                    </p:animEffect>
                                    <p:anim calcmode="lin" valueType="num">
                                      <p:cBhvr>
                                        <p:cTn id="143" dur="1000" fill="hold"/>
                                        <p:tgtEl>
                                          <p:spTgt spid="29"/>
                                        </p:tgtEl>
                                        <p:attrNameLst>
                                          <p:attrName>ppt_x</p:attrName>
                                        </p:attrNameLst>
                                      </p:cBhvr>
                                      <p:tavLst>
                                        <p:tav tm="0">
                                          <p:val>
                                            <p:strVal val="#ppt_x"/>
                                          </p:val>
                                        </p:tav>
                                        <p:tav tm="100000">
                                          <p:val>
                                            <p:strVal val="#ppt_x"/>
                                          </p:val>
                                        </p:tav>
                                      </p:tavLst>
                                    </p:anim>
                                    <p:anim calcmode="lin" valueType="num">
                                      <p:cBhvr>
                                        <p:cTn id="144" dur="10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1000"/>
                                        <p:tgtEl>
                                          <p:spTgt spid="30"/>
                                        </p:tgtEl>
                                      </p:cBhvr>
                                    </p:animEffect>
                                    <p:anim calcmode="lin" valueType="num">
                                      <p:cBhvr>
                                        <p:cTn id="148" dur="1000" fill="hold"/>
                                        <p:tgtEl>
                                          <p:spTgt spid="30"/>
                                        </p:tgtEl>
                                        <p:attrNameLst>
                                          <p:attrName>ppt_x</p:attrName>
                                        </p:attrNameLst>
                                      </p:cBhvr>
                                      <p:tavLst>
                                        <p:tav tm="0">
                                          <p:val>
                                            <p:strVal val="#ppt_x"/>
                                          </p:val>
                                        </p:tav>
                                        <p:tav tm="100000">
                                          <p:val>
                                            <p:strVal val="#ppt_x"/>
                                          </p:val>
                                        </p:tav>
                                      </p:tavLst>
                                    </p:anim>
                                    <p:anim calcmode="lin" valueType="num">
                                      <p:cBhvr>
                                        <p:cTn id="149" dur="1000" fill="hold"/>
                                        <p:tgtEl>
                                          <p:spTgt spid="30"/>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1000"/>
                                        <p:tgtEl>
                                          <p:spTgt spid="31"/>
                                        </p:tgtEl>
                                      </p:cBhvr>
                                    </p:animEffect>
                                    <p:anim calcmode="lin" valueType="num">
                                      <p:cBhvr>
                                        <p:cTn id="153" dur="1000" fill="hold"/>
                                        <p:tgtEl>
                                          <p:spTgt spid="31"/>
                                        </p:tgtEl>
                                        <p:attrNameLst>
                                          <p:attrName>ppt_x</p:attrName>
                                        </p:attrNameLst>
                                      </p:cBhvr>
                                      <p:tavLst>
                                        <p:tav tm="0">
                                          <p:val>
                                            <p:strVal val="#ppt_x"/>
                                          </p:val>
                                        </p:tav>
                                        <p:tav tm="100000">
                                          <p:val>
                                            <p:strVal val="#ppt_x"/>
                                          </p:val>
                                        </p:tav>
                                      </p:tavLst>
                                    </p:anim>
                                    <p:anim calcmode="lin" valueType="num">
                                      <p:cBhvr>
                                        <p:cTn id="154" dur="1000" fill="hold"/>
                                        <p:tgtEl>
                                          <p:spTgt spid="31"/>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1000"/>
                                        <p:tgtEl>
                                          <p:spTgt spid="32"/>
                                        </p:tgtEl>
                                      </p:cBhvr>
                                    </p:animEffect>
                                    <p:anim calcmode="lin" valueType="num">
                                      <p:cBhvr>
                                        <p:cTn id="158" dur="1000" fill="hold"/>
                                        <p:tgtEl>
                                          <p:spTgt spid="32"/>
                                        </p:tgtEl>
                                        <p:attrNameLst>
                                          <p:attrName>ppt_x</p:attrName>
                                        </p:attrNameLst>
                                      </p:cBhvr>
                                      <p:tavLst>
                                        <p:tav tm="0">
                                          <p:val>
                                            <p:strVal val="#ppt_x"/>
                                          </p:val>
                                        </p:tav>
                                        <p:tav tm="100000">
                                          <p:val>
                                            <p:strVal val="#ppt_x"/>
                                          </p:val>
                                        </p:tav>
                                      </p:tavLst>
                                    </p:anim>
                                    <p:anim calcmode="lin" valueType="num">
                                      <p:cBhvr>
                                        <p:cTn id="159" dur="1000" fill="hold"/>
                                        <p:tgtEl>
                                          <p:spTgt spid="32"/>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1000"/>
                                        <p:tgtEl>
                                          <p:spTgt spid="33"/>
                                        </p:tgtEl>
                                      </p:cBhvr>
                                    </p:animEffect>
                                    <p:anim calcmode="lin" valueType="num">
                                      <p:cBhvr>
                                        <p:cTn id="163" dur="1000" fill="hold"/>
                                        <p:tgtEl>
                                          <p:spTgt spid="33"/>
                                        </p:tgtEl>
                                        <p:attrNameLst>
                                          <p:attrName>ppt_x</p:attrName>
                                        </p:attrNameLst>
                                      </p:cBhvr>
                                      <p:tavLst>
                                        <p:tav tm="0">
                                          <p:val>
                                            <p:strVal val="#ppt_x"/>
                                          </p:val>
                                        </p:tav>
                                        <p:tav tm="100000">
                                          <p:val>
                                            <p:strVal val="#ppt_x"/>
                                          </p:val>
                                        </p:tav>
                                      </p:tavLst>
                                    </p:anim>
                                    <p:anim calcmode="lin" valueType="num">
                                      <p:cBhvr>
                                        <p:cTn id="164" dur="1000" fill="hold"/>
                                        <p:tgtEl>
                                          <p:spTgt spid="33"/>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1000"/>
                                        <p:tgtEl>
                                          <p:spTgt spid="34"/>
                                        </p:tgtEl>
                                      </p:cBhvr>
                                    </p:animEffect>
                                    <p:anim calcmode="lin" valueType="num">
                                      <p:cBhvr>
                                        <p:cTn id="168" dur="1000" fill="hold"/>
                                        <p:tgtEl>
                                          <p:spTgt spid="34"/>
                                        </p:tgtEl>
                                        <p:attrNameLst>
                                          <p:attrName>ppt_x</p:attrName>
                                        </p:attrNameLst>
                                      </p:cBhvr>
                                      <p:tavLst>
                                        <p:tav tm="0">
                                          <p:val>
                                            <p:strVal val="#ppt_x"/>
                                          </p:val>
                                        </p:tav>
                                        <p:tav tm="100000">
                                          <p:val>
                                            <p:strVal val="#ppt_x"/>
                                          </p:val>
                                        </p:tav>
                                      </p:tavLst>
                                    </p:anim>
                                    <p:anim calcmode="lin" valueType="num">
                                      <p:cBhvr>
                                        <p:cTn id="169" dur="1000" fill="hold"/>
                                        <p:tgtEl>
                                          <p:spTgt spid="34"/>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1000"/>
                                        <p:tgtEl>
                                          <p:spTgt spid="35"/>
                                        </p:tgtEl>
                                      </p:cBhvr>
                                    </p:animEffect>
                                    <p:anim calcmode="lin" valueType="num">
                                      <p:cBhvr>
                                        <p:cTn id="173" dur="1000" fill="hold"/>
                                        <p:tgtEl>
                                          <p:spTgt spid="35"/>
                                        </p:tgtEl>
                                        <p:attrNameLst>
                                          <p:attrName>ppt_x</p:attrName>
                                        </p:attrNameLst>
                                      </p:cBhvr>
                                      <p:tavLst>
                                        <p:tav tm="0">
                                          <p:val>
                                            <p:strVal val="#ppt_x"/>
                                          </p:val>
                                        </p:tav>
                                        <p:tav tm="100000">
                                          <p:val>
                                            <p:strVal val="#ppt_x"/>
                                          </p:val>
                                        </p:tav>
                                      </p:tavLst>
                                    </p:anim>
                                    <p:anim calcmode="lin" valueType="num">
                                      <p:cBhvr>
                                        <p:cTn id="174" dur="1000" fill="hold"/>
                                        <p:tgtEl>
                                          <p:spTgt spid="35"/>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1000"/>
                                        <p:tgtEl>
                                          <p:spTgt spid="36"/>
                                        </p:tgtEl>
                                      </p:cBhvr>
                                    </p:animEffect>
                                    <p:anim calcmode="lin" valueType="num">
                                      <p:cBhvr>
                                        <p:cTn id="178" dur="1000" fill="hold"/>
                                        <p:tgtEl>
                                          <p:spTgt spid="36"/>
                                        </p:tgtEl>
                                        <p:attrNameLst>
                                          <p:attrName>ppt_x</p:attrName>
                                        </p:attrNameLst>
                                      </p:cBhvr>
                                      <p:tavLst>
                                        <p:tav tm="0">
                                          <p:val>
                                            <p:strVal val="#ppt_x"/>
                                          </p:val>
                                        </p:tav>
                                        <p:tav tm="100000">
                                          <p:val>
                                            <p:strVal val="#ppt_x"/>
                                          </p:val>
                                        </p:tav>
                                      </p:tavLst>
                                    </p:anim>
                                    <p:anim calcmode="lin" valueType="num">
                                      <p:cBhvr>
                                        <p:cTn id="179" dur="1000" fill="hold"/>
                                        <p:tgtEl>
                                          <p:spTgt spid="36"/>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1000"/>
                                        <p:tgtEl>
                                          <p:spTgt spid="37"/>
                                        </p:tgtEl>
                                      </p:cBhvr>
                                    </p:animEffect>
                                    <p:anim calcmode="lin" valueType="num">
                                      <p:cBhvr>
                                        <p:cTn id="183" dur="1000" fill="hold"/>
                                        <p:tgtEl>
                                          <p:spTgt spid="37"/>
                                        </p:tgtEl>
                                        <p:attrNameLst>
                                          <p:attrName>ppt_x</p:attrName>
                                        </p:attrNameLst>
                                      </p:cBhvr>
                                      <p:tavLst>
                                        <p:tav tm="0">
                                          <p:val>
                                            <p:strVal val="#ppt_x"/>
                                          </p:val>
                                        </p:tav>
                                        <p:tav tm="100000">
                                          <p:val>
                                            <p:strVal val="#ppt_x"/>
                                          </p:val>
                                        </p:tav>
                                      </p:tavLst>
                                    </p:anim>
                                    <p:anim calcmode="lin" valueType="num">
                                      <p:cBhvr>
                                        <p:cTn id="184" dur="1000" fill="hold"/>
                                        <p:tgtEl>
                                          <p:spTgt spid="37"/>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1000"/>
                                        <p:tgtEl>
                                          <p:spTgt spid="38"/>
                                        </p:tgtEl>
                                      </p:cBhvr>
                                    </p:animEffect>
                                    <p:anim calcmode="lin" valueType="num">
                                      <p:cBhvr>
                                        <p:cTn id="188" dur="1000" fill="hold"/>
                                        <p:tgtEl>
                                          <p:spTgt spid="38"/>
                                        </p:tgtEl>
                                        <p:attrNameLst>
                                          <p:attrName>ppt_x</p:attrName>
                                        </p:attrNameLst>
                                      </p:cBhvr>
                                      <p:tavLst>
                                        <p:tav tm="0">
                                          <p:val>
                                            <p:strVal val="#ppt_x"/>
                                          </p:val>
                                        </p:tav>
                                        <p:tav tm="100000">
                                          <p:val>
                                            <p:strVal val="#ppt_x"/>
                                          </p:val>
                                        </p:tav>
                                      </p:tavLst>
                                    </p:anim>
                                    <p:anim calcmode="lin" valueType="num">
                                      <p:cBhvr>
                                        <p:cTn id="18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474212" y="454288"/>
            <a:ext cx="1904444" cy="639834"/>
          </a:xfrm>
          <a:custGeom>
            <a:avLst/>
            <a:gdLst/>
            <a:ahLst/>
            <a:cxnLst/>
            <a:rect l="l" t="t" r="r" b="b"/>
            <a:pathLst>
              <a:path w="1904444" h="639834">
                <a:moveTo>
                  <a:pt x="0" y="0"/>
                </a:moveTo>
                <a:lnTo>
                  <a:pt x="1904444" y="0"/>
                </a:lnTo>
                <a:lnTo>
                  <a:pt x="1904444" y="639834"/>
                </a:lnTo>
                <a:lnTo>
                  <a:pt x="0" y="6398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317521" y="384083"/>
            <a:ext cx="9686176" cy="6119414"/>
            <a:chOff x="-29701" y="-5583711"/>
            <a:chExt cx="12914901" cy="8159217"/>
          </a:xfrm>
        </p:grpSpPr>
        <p:sp>
          <p:nvSpPr>
            <p:cNvPr id="4" name="Freeform 4"/>
            <p:cNvSpPr/>
            <p:nvPr/>
          </p:nvSpPr>
          <p:spPr>
            <a:xfrm>
              <a:off x="0" y="0"/>
              <a:ext cx="12885200" cy="2575506"/>
            </a:xfrm>
            <a:custGeom>
              <a:avLst/>
              <a:gdLst/>
              <a:ahLst/>
              <a:cxnLst/>
              <a:rect l="l" t="t" r="r" b="b"/>
              <a:pathLst>
                <a:path w="12885200" h="2575506">
                  <a:moveTo>
                    <a:pt x="0" y="0"/>
                  </a:moveTo>
                  <a:lnTo>
                    <a:pt x="12885200" y="0"/>
                  </a:lnTo>
                  <a:lnTo>
                    <a:pt x="12885200" y="2575506"/>
                  </a:lnTo>
                  <a:lnTo>
                    <a:pt x="0" y="2575506"/>
                  </a:lnTo>
                  <a:close/>
                </a:path>
              </a:pathLst>
            </a:custGeom>
          </p:spPr>
        </p:sp>
        <p:sp>
          <p:nvSpPr>
            <p:cNvPr id="5" name="TextBox 5"/>
            <p:cNvSpPr txBox="1"/>
            <p:nvPr/>
          </p:nvSpPr>
          <p:spPr>
            <a:xfrm>
              <a:off x="-29701" y="-5583711"/>
              <a:ext cx="12885200" cy="2651706"/>
            </a:xfrm>
            <a:prstGeom prst="rect">
              <a:avLst/>
            </a:prstGeom>
          </p:spPr>
          <p:txBody>
            <a:bodyPr lIns="0" tIns="0" rIns="0" bIns="0" rtlCol="0" anchor="b"/>
            <a:lstStyle/>
            <a:p>
              <a:pPr algn="ctr">
                <a:lnSpc>
                  <a:spcPts val="9827"/>
                </a:lnSpc>
              </a:pPr>
              <a:r>
                <a:rPr lang="en-US" sz="9099" b="1" i="1" dirty="0">
                  <a:solidFill>
                    <a:srgbClr val="E2583E"/>
                  </a:solidFill>
                  <a:effectLst>
                    <a:outerShdw blurRad="38100" dist="38100" dir="2700000" algn="tl">
                      <a:srgbClr val="000000">
                        <a:alpha val="43137"/>
                      </a:srgbClr>
                    </a:outerShdw>
                  </a:effectLst>
                  <a:latin typeface="+mj-lt"/>
                  <a:ea typeface="Arial MT Pro Bold Italics"/>
                  <a:cs typeface="Arial MT Pro Bold Italics"/>
                  <a:sym typeface="Arial MT Pro Bold Italics"/>
                </a:rPr>
                <a:t>01.</a:t>
              </a:r>
              <a:r>
                <a:rPr lang="en-US" sz="9099" b="1" i="1" dirty="0">
                  <a:solidFill>
                    <a:srgbClr val="041834"/>
                  </a:solidFill>
                  <a:effectLst>
                    <a:outerShdw blurRad="38100" dist="38100" dir="2700000" algn="tl">
                      <a:srgbClr val="000000">
                        <a:alpha val="43137"/>
                      </a:srgbClr>
                    </a:outerShdw>
                  </a:effectLst>
                  <a:latin typeface="+mj-lt"/>
                  <a:ea typeface="Arial MT Pro Bold Italics"/>
                  <a:cs typeface="Arial MT Pro Bold Italics"/>
                  <a:sym typeface="Arial MT Pro Bold Italics"/>
                </a:rPr>
                <a:t> Introduction</a:t>
              </a:r>
            </a:p>
          </p:txBody>
        </p:sp>
      </p:grpSp>
      <p:grpSp>
        <p:nvGrpSpPr>
          <p:cNvPr id="6" name="Group 6"/>
          <p:cNvGrpSpPr/>
          <p:nvPr/>
        </p:nvGrpSpPr>
        <p:grpSpPr>
          <a:xfrm rot="-2700000">
            <a:off x="9976416" y="-6252136"/>
            <a:ext cx="13383272" cy="13383272"/>
            <a:chOff x="0" y="0"/>
            <a:chExt cx="17844363" cy="17844363"/>
          </a:xfrm>
        </p:grpSpPr>
        <p:sp>
          <p:nvSpPr>
            <p:cNvPr id="7" name="Freeform 7"/>
            <p:cNvSpPr/>
            <p:nvPr/>
          </p:nvSpPr>
          <p:spPr>
            <a:xfrm>
              <a:off x="0" y="0"/>
              <a:ext cx="17844390" cy="17844390"/>
            </a:xfrm>
            <a:custGeom>
              <a:avLst/>
              <a:gdLst/>
              <a:ahLst/>
              <a:cxnLst/>
              <a:rect l="l" t="t" r="r" b="b"/>
              <a:pathLst>
                <a:path w="17844390" h="17844390">
                  <a:moveTo>
                    <a:pt x="17844388" y="8922131"/>
                  </a:moveTo>
                  <a:cubicBezTo>
                    <a:pt x="17844388" y="13849731"/>
                    <a:pt x="13849730" y="17844390"/>
                    <a:pt x="8922131" y="17844390"/>
                  </a:cubicBezTo>
                  <a:cubicBezTo>
                    <a:pt x="3994531" y="17844390"/>
                    <a:pt x="0" y="13849731"/>
                    <a:pt x="0" y="8922131"/>
                  </a:cubicBezTo>
                  <a:cubicBezTo>
                    <a:pt x="0" y="3994531"/>
                    <a:pt x="3994658" y="0"/>
                    <a:pt x="8922131" y="0"/>
                  </a:cubicBezTo>
                  <a:cubicBezTo>
                    <a:pt x="13849604" y="0"/>
                    <a:pt x="17844390" y="3994658"/>
                    <a:pt x="17844390" y="8922131"/>
                  </a:cubicBezTo>
                  <a:close/>
                </a:path>
              </a:pathLst>
            </a:custGeom>
            <a:solidFill>
              <a:srgbClr val="B6E3F1"/>
            </a:solidFill>
          </p:spPr>
        </p:sp>
      </p:grpSp>
      <p:sp>
        <p:nvSpPr>
          <p:cNvPr id="8" name="Freeform 8"/>
          <p:cNvSpPr/>
          <p:nvPr/>
        </p:nvSpPr>
        <p:spPr>
          <a:xfrm>
            <a:off x="10827106" y="1117420"/>
            <a:ext cx="7455658" cy="9169588"/>
          </a:xfrm>
          <a:custGeom>
            <a:avLst/>
            <a:gdLst/>
            <a:ahLst/>
            <a:cxnLst/>
            <a:rect l="l" t="t" r="r" b="b"/>
            <a:pathLst>
              <a:path w="7455658" h="9169588">
                <a:moveTo>
                  <a:pt x="0" y="0"/>
                </a:moveTo>
                <a:lnTo>
                  <a:pt x="7455658" y="0"/>
                </a:lnTo>
                <a:lnTo>
                  <a:pt x="7455658" y="9169588"/>
                </a:lnTo>
                <a:lnTo>
                  <a:pt x="0" y="9169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rot="-2700000">
            <a:off x="1054650" y="8509530"/>
            <a:ext cx="4457842" cy="4457842"/>
            <a:chOff x="0" y="0"/>
            <a:chExt cx="5943789" cy="5943789"/>
          </a:xfrm>
        </p:grpSpPr>
        <p:sp>
          <p:nvSpPr>
            <p:cNvPr id="10" name="Freeform 10"/>
            <p:cNvSpPr/>
            <p:nvPr/>
          </p:nvSpPr>
          <p:spPr>
            <a:xfrm>
              <a:off x="0" y="0"/>
              <a:ext cx="5943854" cy="5943854"/>
            </a:xfrm>
            <a:custGeom>
              <a:avLst/>
              <a:gdLst/>
              <a:ahLst/>
              <a:cxnLst/>
              <a:rect l="l" t="t" r="r" b="b"/>
              <a:pathLst>
                <a:path w="5943854" h="5943854">
                  <a:moveTo>
                    <a:pt x="5943854" y="2971927"/>
                  </a:moveTo>
                  <a:cubicBezTo>
                    <a:pt x="5943854" y="4613275"/>
                    <a:pt x="4613275" y="5943854"/>
                    <a:pt x="2971927" y="5943854"/>
                  </a:cubicBezTo>
                  <a:cubicBezTo>
                    <a:pt x="1330579" y="5943854"/>
                    <a:pt x="0" y="4613275"/>
                    <a:pt x="0" y="2971927"/>
                  </a:cubicBezTo>
                  <a:cubicBezTo>
                    <a:pt x="0" y="1330579"/>
                    <a:pt x="1330579" y="0"/>
                    <a:pt x="2971927" y="0"/>
                  </a:cubicBezTo>
                  <a:cubicBezTo>
                    <a:pt x="4613275" y="0"/>
                    <a:pt x="5943854" y="1330579"/>
                    <a:pt x="5943854" y="2971927"/>
                  </a:cubicBezTo>
                  <a:close/>
                </a:path>
              </a:pathLst>
            </a:custGeom>
            <a:solidFill>
              <a:srgbClr val="B6E3F1"/>
            </a:solidFill>
          </p:spPr>
        </p:sp>
      </p:grpSp>
      <p:sp>
        <p:nvSpPr>
          <p:cNvPr id="11" name="Freeform 11"/>
          <p:cNvSpPr/>
          <p:nvPr/>
        </p:nvSpPr>
        <p:spPr>
          <a:xfrm>
            <a:off x="553076" y="8531872"/>
            <a:ext cx="1075798" cy="1039720"/>
          </a:xfrm>
          <a:custGeom>
            <a:avLst/>
            <a:gdLst/>
            <a:ahLst/>
            <a:cxnLst/>
            <a:rect l="l" t="t" r="r" b="b"/>
            <a:pathLst>
              <a:path w="1075798" h="1039720">
                <a:moveTo>
                  <a:pt x="0" y="0"/>
                </a:moveTo>
                <a:lnTo>
                  <a:pt x="1075798" y="0"/>
                </a:lnTo>
                <a:lnTo>
                  <a:pt x="1075798" y="1039720"/>
                </a:lnTo>
                <a:lnTo>
                  <a:pt x="0" y="10397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392712" y="1921046"/>
            <a:ext cx="2592226" cy="2744159"/>
          </a:xfrm>
          <a:custGeom>
            <a:avLst/>
            <a:gdLst/>
            <a:ahLst/>
            <a:cxnLst/>
            <a:rect l="l" t="t" r="r" b="b"/>
            <a:pathLst>
              <a:path w="2592226" h="2744159">
                <a:moveTo>
                  <a:pt x="0" y="0"/>
                </a:moveTo>
                <a:lnTo>
                  <a:pt x="2592226" y="0"/>
                </a:lnTo>
                <a:lnTo>
                  <a:pt x="2592226" y="2744159"/>
                </a:lnTo>
                <a:lnTo>
                  <a:pt x="0" y="274415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ZoneTexte 12">
            <a:extLst>
              <a:ext uri="{FF2B5EF4-FFF2-40B4-BE49-F238E27FC236}">
                <a16:creationId xmlns:a16="http://schemas.microsoft.com/office/drawing/2014/main" id="{61FC8EFB-BFF3-4480-98B6-6D83C53E270E}"/>
              </a:ext>
            </a:extLst>
          </p:cNvPr>
          <p:cNvSpPr txBox="1"/>
          <p:nvPr/>
        </p:nvSpPr>
        <p:spPr>
          <a:xfrm>
            <a:off x="1568778" y="3111644"/>
            <a:ext cx="9280604" cy="5940088"/>
          </a:xfrm>
          <a:prstGeom prst="rect">
            <a:avLst/>
          </a:prstGeom>
          <a:noFill/>
        </p:spPr>
        <p:txBody>
          <a:bodyPr wrap="square" rtlCol="0">
            <a:spAutoFit/>
          </a:bodyPr>
          <a:lstStyle/>
          <a:p>
            <a:r>
              <a:rPr lang="fr-FR" sz="2800" dirty="0">
                <a:solidFill>
                  <a:schemeClr val="tx2">
                    <a:lumMod val="50000"/>
                  </a:schemeClr>
                </a:solidFill>
                <a:latin typeface="+mj-lt"/>
              </a:rPr>
              <a:t>Le diabète est une maladie chronique caractérisée par un taux élevé de glucose dans le sang. Il représente aujourd’hui un problème majeur de santé publique dans le monde.</a:t>
            </a:r>
            <a:br>
              <a:rPr lang="fr-FR" sz="2800" dirty="0">
                <a:solidFill>
                  <a:schemeClr val="tx2">
                    <a:lumMod val="50000"/>
                  </a:schemeClr>
                </a:solidFill>
                <a:latin typeface="+mj-lt"/>
              </a:rPr>
            </a:br>
            <a:r>
              <a:rPr lang="fr-FR" sz="2800" dirty="0">
                <a:solidFill>
                  <a:schemeClr val="tx2">
                    <a:lumMod val="50000"/>
                  </a:schemeClr>
                </a:solidFill>
                <a:latin typeface="+mj-lt"/>
              </a:rPr>
              <a:t>Grâce à l’analyse des données médicales, il est possible d’identifier les facteurs associés à cette maladie et de mieux comprendre les différences entre les patients diabétiques et non diabétiques.</a:t>
            </a:r>
          </a:p>
          <a:p>
            <a:r>
              <a:rPr lang="fr-FR" sz="2800" dirty="0">
                <a:solidFill>
                  <a:schemeClr val="tx2">
                    <a:lumMod val="50000"/>
                  </a:schemeClr>
                </a:solidFill>
                <a:latin typeface="+mj-lt"/>
              </a:rPr>
              <a:t>Dans cette présentation, nous allons analyser un </a:t>
            </a:r>
            <a:r>
              <a:rPr lang="fr-FR" sz="2800" dirty="0" err="1">
                <a:solidFill>
                  <a:schemeClr val="tx2">
                    <a:lumMod val="50000"/>
                  </a:schemeClr>
                </a:solidFill>
                <a:latin typeface="+mj-lt"/>
              </a:rPr>
              <a:t>dataset</a:t>
            </a:r>
            <a:r>
              <a:rPr lang="fr-FR" sz="2800" dirty="0">
                <a:solidFill>
                  <a:schemeClr val="tx2">
                    <a:lumMod val="50000"/>
                  </a:schemeClr>
                </a:solidFill>
                <a:latin typeface="+mj-lt"/>
              </a:rPr>
              <a:t> de santé afin d’explorer les variables liées au diabète, préparer les données, réaliser une analyse exploratoire et appliquer des méthodes statistiques pour identifier les facteurs les plus influents</a:t>
            </a:r>
          </a:p>
          <a:p>
            <a:endParaRPr lang="fr-FR" sz="44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64189" y="63788"/>
            <a:ext cx="18223811" cy="10223212"/>
          </a:xfrm>
          <a:custGeom>
            <a:avLst/>
            <a:gdLst/>
            <a:ahLst/>
            <a:cxnLst/>
            <a:rect l="l" t="t" r="r" b="b"/>
            <a:pathLst>
              <a:path w="18223811" h="10223212">
                <a:moveTo>
                  <a:pt x="0" y="0"/>
                </a:moveTo>
                <a:lnTo>
                  <a:pt x="18223811" y="0"/>
                </a:lnTo>
                <a:lnTo>
                  <a:pt x="18223811" y="10223212"/>
                </a:lnTo>
                <a:lnTo>
                  <a:pt x="0" y="102232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2209800" y="-1474005"/>
            <a:ext cx="25540994" cy="16999926"/>
          </a:xfrm>
          <a:custGeom>
            <a:avLst/>
            <a:gdLst/>
            <a:ahLst/>
            <a:cxnLst/>
            <a:rect l="l" t="t" r="r" b="b"/>
            <a:pathLst>
              <a:path w="25540994" h="16999926">
                <a:moveTo>
                  <a:pt x="0" y="0"/>
                </a:moveTo>
                <a:lnTo>
                  <a:pt x="25540994" y="0"/>
                </a:lnTo>
                <a:lnTo>
                  <a:pt x="25540994" y="16999926"/>
                </a:lnTo>
                <a:lnTo>
                  <a:pt x="0" y="169999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2527103" y="683469"/>
            <a:ext cx="10969800" cy="2198400"/>
            <a:chOff x="0" y="0"/>
            <a:chExt cx="14626400" cy="2931200"/>
          </a:xfrm>
        </p:grpSpPr>
        <p:sp>
          <p:nvSpPr>
            <p:cNvPr id="5" name="Freeform 5"/>
            <p:cNvSpPr/>
            <p:nvPr/>
          </p:nvSpPr>
          <p:spPr>
            <a:xfrm>
              <a:off x="0" y="0"/>
              <a:ext cx="14626400" cy="2931200"/>
            </a:xfrm>
            <a:custGeom>
              <a:avLst/>
              <a:gdLst/>
              <a:ahLst/>
              <a:cxnLst/>
              <a:rect l="l" t="t" r="r" b="b"/>
              <a:pathLst>
                <a:path w="14626400" h="2931200">
                  <a:moveTo>
                    <a:pt x="0" y="0"/>
                  </a:moveTo>
                  <a:lnTo>
                    <a:pt x="14626400" y="0"/>
                  </a:lnTo>
                  <a:lnTo>
                    <a:pt x="14626400" y="2931200"/>
                  </a:lnTo>
                  <a:lnTo>
                    <a:pt x="0" y="2931200"/>
                  </a:lnTo>
                  <a:close/>
                </a:path>
              </a:pathLst>
            </a:custGeom>
          </p:spPr>
        </p:sp>
        <p:sp>
          <p:nvSpPr>
            <p:cNvPr id="6" name="TextBox 6"/>
            <p:cNvSpPr txBox="1"/>
            <p:nvPr/>
          </p:nvSpPr>
          <p:spPr>
            <a:xfrm>
              <a:off x="0" y="-152400"/>
              <a:ext cx="14626400" cy="3083600"/>
            </a:xfrm>
            <a:prstGeom prst="rect">
              <a:avLst/>
            </a:prstGeom>
          </p:spPr>
          <p:txBody>
            <a:bodyPr lIns="0" tIns="0" rIns="0" bIns="0" rtlCol="0" anchor="b"/>
            <a:lstStyle/>
            <a:p>
              <a:pPr algn="ctr">
                <a:lnSpc>
                  <a:spcPts val="9361"/>
                </a:lnSpc>
              </a:pPr>
              <a:r>
                <a:rPr lang="en-US" sz="7801" b="1" i="1" dirty="0">
                  <a:solidFill>
                    <a:srgbClr val="AB6659"/>
                  </a:solidFill>
                  <a:effectLst>
                    <a:outerShdw blurRad="38100" dist="38100" dir="2700000" algn="tl">
                      <a:srgbClr val="000000">
                        <a:alpha val="43137"/>
                      </a:srgbClr>
                    </a:outerShdw>
                  </a:effectLst>
                  <a:ea typeface="Arial MT Pro Bold Italics"/>
                  <a:cs typeface="Arial MT Pro Bold Italics"/>
                  <a:sym typeface="Arial MT Pro Bold Italics"/>
                </a:rPr>
                <a:t>02. </a:t>
              </a:r>
              <a:r>
                <a:rPr lang="en-US" sz="7801" b="1" i="1" dirty="0" err="1">
                  <a:solidFill>
                    <a:srgbClr val="374957"/>
                  </a:solidFill>
                  <a:effectLst>
                    <a:outerShdw blurRad="38100" dist="38100" dir="2700000" algn="tl">
                      <a:srgbClr val="000000">
                        <a:alpha val="43137"/>
                      </a:srgbClr>
                    </a:outerShdw>
                  </a:effectLst>
                  <a:ea typeface="Arial MT Pro Bold Italics"/>
                  <a:cs typeface="Arial MT Pro Bold Italics"/>
                  <a:sym typeface="Arial MT Pro Bold Italics"/>
                </a:rPr>
                <a:t>Problématique</a:t>
              </a:r>
              <a:endParaRPr lang="en-US" sz="7801" b="1" i="1" dirty="0">
                <a:solidFill>
                  <a:srgbClr val="374957"/>
                </a:solidFill>
                <a:effectLst>
                  <a:outerShdw blurRad="38100" dist="38100" dir="2700000" algn="tl">
                    <a:srgbClr val="000000">
                      <a:alpha val="43137"/>
                    </a:srgbClr>
                  </a:outerShdw>
                </a:effectLst>
                <a:ea typeface="Arial MT Pro Bold Italics"/>
                <a:cs typeface="Arial MT Pro Bold Italics"/>
                <a:sym typeface="Arial MT Pro Bold Italics"/>
              </a:endParaRPr>
            </a:p>
          </p:txBody>
        </p:sp>
      </p:grpSp>
      <p:grpSp>
        <p:nvGrpSpPr>
          <p:cNvPr id="7" name="Group 7"/>
          <p:cNvGrpSpPr/>
          <p:nvPr/>
        </p:nvGrpSpPr>
        <p:grpSpPr>
          <a:xfrm>
            <a:off x="2527103" y="3408208"/>
            <a:ext cx="10969800" cy="1109091"/>
            <a:chOff x="0" y="0"/>
            <a:chExt cx="14626400" cy="1478788"/>
          </a:xfrm>
        </p:grpSpPr>
        <p:sp>
          <p:nvSpPr>
            <p:cNvPr id="8" name="Freeform 8"/>
            <p:cNvSpPr/>
            <p:nvPr/>
          </p:nvSpPr>
          <p:spPr>
            <a:xfrm>
              <a:off x="0" y="0"/>
              <a:ext cx="14626400" cy="1478788"/>
            </a:xfrm>
            <a:custGeom>
              <a:avLst/>
              <a:gdLst/>
              <a:ahLst/>
              <a:cxnLst/>
              <a:rect l="l" t="t" r="r" b="b"/>
              <a:pathLst>
                <a:path w="14626400" h="1478788">
                  <a:moveTo>
                    <a:pt x="0" y="0"/>
                  </a:moveTo>
                  <a:lnTo>
                    <a:pt x="14626400" y="0"/>
                  </a:lnTo>
                  <a:lnTo>
                    <a:pt x="14626400" y="1478788"/>
                  </a:lnTo>
                  <a:lnTo>
                    <a:pt x="0" y="1478788"/>
                  </a:lnTo>
                  <a:close/>
                </a:path>
              </a:pathLst>
            </a:custGeom>
          </p:spPr>
        </p:sp>
        <p:sp>
          <p:nvSpPr>
            <p:cNvPr id="9" name="TextBox 9"/>
            <p:cNvSpPr txBox="1"/>
            <p:nvPr/>
          </p:nvSpPr>
          <p:spPr>
            <a:xfrm>
              <a:off x="0" y="-66675"/>
              <a:ext cx="14626400" cy="1545463"/>
            </a:xfrm>
            <a:prstGeom prst="rect">
              <a:avLst/>
            </a:prstGeom>
          </p:spPr>
          <p:txBody>
            <a:bodyPr lIns="0" tIns="0" rIns="0" bIns="0" rtlCol="0" anchor="t"/>
            <a:lstStyle/>
            <a:p>
              <a:pPr lvl="1">
                <a:lnSpc>
                  <a:spcPts val="4079"/>
                </a:lnSpc>
              </a:pPr>
              <a:r>
                <a:rPr lang="en-US" sz="3399" dirty="0">
                  <a:solidFill>
                    <a:srgbClr val="041834"/>
                  </a:solidFill>
                  <a:ea typeface="Arial MT Pro"/>
                  <a:cs typeface="Arial MT Pro"/>
                  <a:sym typeface="Arial MT Pro"/>
                </a:rPr>
                <a:t>▸</a:t>
              </a:r>
              <a:r>
                <a:rPr lang="fr-FR" sz="3600" dirty="0">
                  <a:solidFill>
                    <a:schemeClr val="tx2">
                      <a:lumMod val="50000"/>
                    </a:schemeClr>
                  </a:solidFill>
                </a:rPr>
                <a:t>Le diabète est une maladie chronique influencée par plusieurs facteurs comme le glucose, le BMI et l’âge.</a:t>
              </a:r>
              <a:br>
                <a:rPr lang="fr-FR" sz="3600" dirty="0">
                  <a:solidFill>
                    <a:schemeClr val="tx2">
                      <a:lumMod val="50000"/>
                    </a:schemeClr>
                  </a:solidFill>
                </a:rPr>
              </a:br>
              <a:r>
                <a:rPr lang="fr-FR" sz="3600" b="1" dirty="0">
                  <a:solidFill>
                    <a:schemeClr val="tx2">
                      <a:lumMod val="50000"/>
                    </a:schemeClr>
                  </a:solidFill>
                </a:rPr>
                <a:t>Question principale :</a:t>
              </a:r>
              <a:r>
                <a:rPr lang="fr-FR" sz="3600" dirty="0">
                  <a:solidFill>
                    <a:schemeClr val="tx2">
                      <a:lumMod val="50000"/>
                    </a:schemeClr>
                  </a:solidFill>
                </a:rPr>
                <a:t> quels sont les facteurs les plus associés au diabète dans ce </a:t>
              </a:r>
              <a:r>
                <a:rPr lang="fr-FR" sz="3600" dirty="0" err="1">
                  <a:solidFill>
                    <a:schemeClr val="tx2">
                      <a:lumMod val="50000"/>
                    </a:schemeClr>
                  </a:solidFill>
                </a:rPr>
                <a:t>dataset</a:t>
              </a:r>
              <a:r>
                <a:rPr lang="fr-FR" sz="3600" dirty="0">
                  <a:solidFill>
                    <a:schemeClr val="tx2">
                      <a:lumMod val="50000"/>
                    </a:schemeClr>
                  </a:solidFill>
                </a:rPr>
                <a:t> ?</a:t>
              </a:r>
            </a:p>
            <a:p>
              <a:pPr lvl="1">
                <a:lnSpc>
                  <a:spcPts val="4079"/>
                </a:lnSpc>
              </a:pPr>
              <a:endParaRPr lang="fr-FR" sz="3600" dirty="0">
                <a:solidFill>
                  <a:schemeClr val="tx2">
                    <a:lumMod val="50000"/>
                  </a:schemeClr>
                </a:solidFill>
              </a:endParaRPr>
            </a:p>
            <a:p>
              <a:pPr marL="914400" lvl="1" indent="-457200" eaLnBrk="0" fontAlgn="base" hangingPunct="0">
                <a:spcBef>
                  <a:spcPct val="0"/>
                </a:spcBef>
                <a:spcAft>
                  <a:spcPct val="0"/>
                </a:spcAft>
                <a:buFont typeface="Arial" panose="020B0604020202020204" pitchFamily="34" charset="0"/>
                <a:buChar char="•"/>
              </a:pPr>
              <a:r>
                <a:rPr kumimoji="0" lang="fr-FR" altLang="fr-FR" sz="3200" b="1" i="0" u="none" strike="noStrike" cap="none" normalizeH="0" baseline="0" dirty="0">
                  <a:ln>
                    <a:noFill/>
                  </a:ln>
                  <a:solidFill>
                    <a:schemeClr val="tx2">
                      <a:lumMod val="50000"/>
                    </a:schemeClr>
                  </a:solidFill>
                  <a:effectLst/>
                </a:rPr>
                <a:t>H0 :</a:t>
              </a:r>
              <a:r>
                <a:rPr kumimoji="0" lang="fr-FR" altLang="fr-FR" sz="3200" b="0" i="0" u="none" strike="noStrike" cap="none" normalizeH="0" baseline="0" dirty="0">
                  <a:ln>
                    <a:noFill/>
                  </a:ln>
                  <a:solidFill>
                    <a:schemeClr val="tx2">
                      <a:lumMod val="50000"/>
                    </a:schemeClr>
                  </a:solidFill>
                  <a:effectLst/>
                </a:rPr>
                <a:t> Les variables étudiées ne sont pas liées au diabète. </a:t>
              </a:r>
            </a:p>
            <a:p>
              <a:pPr marL="914400" lvl="1" indent="-457200" eaLnBrk="0" fontAlgn="base" hangingPunct="0">
                <a:spcBef>
                  <a:spcPct val="0"/>
                </a:spcBef>
                <a:spcAft>
                  <a:spcPct val="0"/>
                </a:spcAft>
                <a:buFont typeface="Arial" panose="020B0604020202020204" pitchFamily="34" charset="0"/>
                <a:buChar char="•"/>
              </a:pPr>
              <a:r>
                <a:rPr kumimoji="0" lang="fr-FR" altLang="fr-FR" sz="3200" b="1" i="0" u="none" strike="noStrike" cap="none" normalizeH="0" baseline="0" dirty="0">
                  <a:ln>
                    <a:noFill/>
                  </a:ln>
                  <a:solidFill>
                    <a:schemeClr val="tx2">
                      <a:lumMod val="50000"/>
                    </a:schemeClr>
                  </a:solidFill>
                  <a:effectLst/>
                </a:rPr>
                <a:t>H1 :</a:t>
              </a:r>
              <a:r>
                <a:rPr kumimoji="0" lang="fr-FR" altLang="fr-FR" sz="3200" b="0" i="0" u="none" strike="noStrike" cap="none" normalizeH="0" baseline="0" dirty="0">
                  <a:ln>
                    <a:noFill/>
                  </a:ln>
                  <a:solidFill>
                    <a:schemeClr val="tx2">
                      <a:lumMod val="50000"/>
                    </a:schemeClr>
                  </a:solidFill>
                  <a:effectLst/>
                </a:rPr>
                <a:t> Certaines variables (glucose, BMI…) sont liées au diabète </a:t>
              </a:r>
            </a:p>
            <a:p>
              <a:pPr algn="l">
                <a:lnSpc>
                  <a:spcPts val="4079"/>
                </a:lnSpc>
              </a:pPr>
              <a:endParaRPr lang="fr-FR" sz="3600" dirty="0">
                <a:solidFill>
                  <a:schemeClr val="tx2">
                    <a:lumMod val="50000"/>
                  </a:schemeClr>
                </a:solidFill>
              </a:endParaRPr>
            </a:p>
            <a:p>
              <a:pPr algn="l">
                <a:lnSpc>
                  <a:spcPts val="4079"/>
                </a:lnSpc>
              </a:pPr>
              <a:endParaRPr lang="fr-FR" sz="3600" dirty="0">
                <a:solidFill>
                  <a:schemeClr val="tx2">
                    <a:lumMod val="50000"/>
                  </a:schemeClr>
                </a:solidFill>
                <a:ea typeface="Arial MT Pro"/>
                <a:cs typeface="Arial MT Pro"/>
                <a:sym typeface="Arial MT Pro"/>
              </a:endParaRPr>
            </a:p>
            <a:p>
              <a:pPr algn="l">
                <a:lnSpc>
                  <a:spcPts val="4079"/>
                </a:lnSpc>
              </a:pPr>
              <a:endParaRPr lang="fr-FR" sz="3600" dirty="0">
                <a:solidFill>
                  <a:schemeClr val="tx2">
                    <a:lumMod val="50000"/>
                  </a:schemeClr>
                </a:solidFill>
                <a:ea typeface="Arial MT Pro"/>
                <a:cs typeface="Arial MT Pro"/>
                <a:sym typeface="Arial MT Pro"/>
              </a:endParaRPr>
            </a:p>
            <a:p>
              <a:pPr algn="l">
                <a:lnSpc>
                  <a:spcPts val="4079"/>
                </a:lnSpc>
              </a:pPr>
              <a:endParaRPr lang="en-US" sz="3399" dirty="0">
                <a:solidFill>
                  <a:schemeClr val="tx2">
                    <a:lumMod val="50000"/>
                  </a:schemeClr>
                </a:solidFill>
                <a:ea typeface="Arial MT Pro"/>
                <a:cs typeface="Arial MT Pro"/>
                <a:sym typeface="Arial MT Pro"/>
              </a:endParaRPr>
            </a:p>
          </p:txBody>
        </p:sp>
      </p:grpSp>
      <p:sp>
        <p:nvSpPr>
          <p:cNvPr id="10" name="Freeform 10"/>
          <p:cNvSpPr/>
          <p:nvPr/>
        </p:nvSpPr>
        <p:spPr>
          <a:xfrm>
            <a:off x="1714144" y="1404288"/>
            <a:ext cx="1625918" cy="1723347"/>
          </a:xfrm>
          <a:custGeom>
            <a:avLst/>
            <a:gdLst/>
            <a:ahLst/>
            <a:cxnLst/>
            <a:rect l="l" t="t" r="r" b="b"/>
            <a:pathLst>
              <a:path w="1625918" h="1723347">
                <a:moveTo>
                  <a:pt x="0" y="0"/>
                </a:moveTo>
                <a:lnTo>
                  <a:pt x="1625918" y="0"/>
                </a:lnTo>
                <a:lnTo>
                  <a:pt x="1625918" y="1723347"/>
                </a:lnTo>
                <a:lnTo>
                  <a:pt x="0" y="17233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12939971" y="2654247"/>
            <a:ext cx="4319329" cy="5693320"/>
          </a:xfrm>
          <a:custGeom>
            <a:avLst/>
            <a:gdLst/>
            <a:ahLst/>
            <a:cxnLst/>
            <a:rect l="l" t="t" r="r" b="b"/>
            <a:pathLst>
              <a:path w="4319329" h="5693320">
                <a:moveTo>
                  <a:pt x="0" y="0"/>
                </a:moveTo>
                <a:lnTo>
                  <a:pt x="4319329" y="0"/>
                </a:lnTo>
                <a:lnTo>
                  <a:pt x="4319329" y="5693319"/>
                </a:lnTo>
                <a:lnTo>
                  <a:pt x="0" y="56933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a:off x="2527103" y="6244464"/>
            <a:ext cx="10969800" cy="1562989"/>
          </a:xfrm>
          <a:custGeom>
            <a:avLst/>
            <a:gdLst/>
            <a:ahLst/>
            <a:cxnLst/>
            <a:rect l="l" t="t" r="r" b="b"/>
            <a:pathLst>
              <a:path w="14626400" h="2083985">
                <a:moveTo>
                  <a:pt x="0" y="0"/>
                </a:moveTo>
                <a:lnTo>
                  <a:pt x="14626400" y="0"/>
                </a:lnTo>
                <a:lnTo>
                  <a:pt x="14626400" y="2083985"/>
                </a:lnTo>
                <a:lnTo>
                  <a:pt x="0" y="2083985"/>
                </a:lnTo>
                <a:close/>
              </a:path>
            </a:pathLst>
          </a:custGeom>
        </p:spPr>
      </p:sp>
      <p:sp>
        <p:nvSpPr>
          <p:cNvPr id="19" name="Freeform 19"/>
          <p:cNvSpPr/>
          <p:nvPr/>
        </p:nvSpPr>
        <p:spPr>
          <a:xfrm>
            <a:off x="2527103" y="7754923"/>
            <a:ext cx="10969800" cy="1185288"/>
          </a:xfrm>
          <a:custGeom>
            <a:avLst/>
            <a:gdLst/>
            <a:ahLst/>
            <a:cxnLst/>
            <a:rect l="l" t="t" r="r" b="b"/>
            <a:pathLst>
              <a:path w="14626400" h="1580384">
                <a:moveTo>
                  <a:pt x="0" y="0"/>
                </a:moveTo>
                <a:lnTo>
                  <a:pt x="14626400" y="0"/>
                </a:lnTo>
                <a:lnTo>
                  <a:pt x="14626400" y="1580384"/>
                </a:lnTo>
                <a:lnTo>
                  <a:pt x="0" y="1580384"/>
                </a:lnTo>
                <a:close/>
              </a:path>
            </a:pathLst>
          </a:custGeom>
        </p:spPr>
      </p:sp>
      <p:sp>
        <p:nvSpPr>
          <p:cNvPr id="23" name="ZoneTexte 22">
            <a:extLst>
              <a:ext uri="{FF2B5EF4-FFF2-40B4-BE49-F238E27FC236}">
                <a16:creationId xmlns:a16="http://schemas.microsoft.com/office/drawing/2014/main" id="{91186E3D-27C4-476C-8B11-8FC5161FCD96}"/>
              </a:ext>
            </a:extLst>
          </p:cNvPr>
          <p:cNvSpPr txBox="1"/>
          <p:nvPr/>
        </p:nvSpPr>
        <p:spPr>
          <a:xfrm>
            <a:off x="3048000" y="8039100"/>
            <a:ext cx="10448903" cy="1200329"/>
          </a:xfrm>
          <a:prstGeom prst="rect">
            <a:avLst/>
          </a:prstGeom>
          <a:noFill/>
        </p:spPr>
        <p:txBody>
          <a:bodyPr wrap="square" rtlCol="0">
            <a:spAutoFit/>
          </a:bodyPr>
          <a:lstStyle/>
          <a:p>
            <a:r>
              <a:rPr lang="fr-FR" sz="2400" b="1" i="1" dirty="0">
                <a:solidFill>
                  <a:srgbClr val="FF0000"/>
                </a:solidFill>
                <a:effectLst/>
                <a:latin typeface="+mj-lt"/>
              </a:rPr>
              <a:t>BMI:  signifie Indice de Masse Corporelle (IMC) en français. C'est une mesure qui permet d'estimer la corpulence d'une personne en fonction de sa taille et de son poids, utilisée pour évaluer les risques de surpoids ou d'insuffisance pondérale </a:t>
            </a:r>
            <a:endParaRPr lang="fr-FR" sz="2400" b="1" i="1" dirty="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1000"/>
                                        <p:tgtEl>
                                          <p:spTgt spid="23"/>
                                        </p:tgtEl>
                                      </p:cBhvr>
                                    </p:animEffect>
                                    <p:anim calcmode="lin" valueType="num">
                                      <p:cBhvr>
                                        <p:cTn id="50" dur="1000" fill="hold"/>
                                        <p:tgtEl>
                                          <p:spTgt spid="23"/>
                                        </p:tgtEl>
                                        <p:attrNameLst>
                                          <p:attrName>ppt_x</p:attrName>
                                        </p:attrNameLst>
                                      </p:cBhvr>
                                      <p:tavLst>
                                        <p:tav tm="0">
                                          <p:val>
                                            <p:strVal val="#ppt_x"/>
                                          </p:val>
                                        </p:tav>
                                        <p:tav tm="100000">
                                          <p:val>
                                            <p:strVal val="#ppt_x"/>
                                          </p:val>
                                        </p:tav>
                                      </p:tavLst>
                                    </p:anim>
                                    <p:anim calcmode="lin" valueType="num">
                                      <p:cBhvr>
                                        <p:cTn id="5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1057009" y="63788"/>
            <a:ext cx="19345009" cy="10852183"/>
          </a:xfrm>
          <a:custGeom>
            <a:avLst/>
            <a:gdLst/>
            <a:ahLst/>
            <a:cxnLst/>
            <a:rect l="l" t="t" r="r" b="b"/>
            <a:pathLst>
              <a:path w="19345009" h="10852183">
                <a:moveTo>
                  <a:pt x="0" y="0"/>
                </a:moveTo>
                <a:lnTo>
                  <a:pt x="19345009" y="0"/>
                </a:lnTo>
                <a:lnTo>
                  <a:pt x="19345009" y="10852183"/>
                </a:lnTo>
                <a:lnTo>
                  <a:pt x="0" y="108521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2061200" y="-1714500"/>
            <a:ext cx="25540994" cy="16999926"/>
          </a:xfrm>
          <a:custGeom>
            <a:avLst/>
            <a:gdLst/>
            <a:ahLst/>
            <a:cxnLst/>
            <a:rect l="l" t="t" r="r" b="b"/>
            <a:pathLst>
              <a:path w="25540994" h="16999926">
                <a:moveTo>
                  <a:pt x="0" y="0"/>
                </a:moveTo>
                <a:lnTo>
                  <a:pt x="25540994" y="0"/>
                </a:lnTo>
                <a:lnTo>
                  <a:pt x="25540994" y="16999926"/>
                </a:lnTo>
                <a:lnTo>
                  <a:pt x="0" y="169999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4620905" y="-55276"/>
            <a:ext cx="11573292" cy="3597487"/>
            <a:chOff x="0" y="0"/>
            <a:chExt cx="15431056" cy="4796649"/>
          </a:xfrm>
        </p:grpSpPr>
        <p:sp>
          <p:nvSpPr>
            <p:cNvPr id="5" name="Freeform 5"/>
            <p:cNvSpPr/>
            <p:nvPr/>
          </p:nvSpPr>
          <p:spPr>
            <a:xfrm>
              <a:off x="0" y="0"/>
              <a:ext cx="14626400" cy="2931200"/>
            </a:xfrm>
            <a:custGeom>
              <a:avLst/>
              <a:gdLst/>
              <a:ahLst/>
              <a:cxnLst/>
              <a:rect l="l" t="t" r="r" b="b"/>
              <a:pathLst>
                <a:path w="14626400" h="2931200">
                  <a:moveTo>
                    <a:pt x="0" y="0"/>
                  </a:moveTo>
                  <a:lnTo>
                    <a:pt x="14626400" y="0"/>
                  </a:lnTo>
                  <a:lnTo>
                    <a:pt x="14626400" y="2931200"/>
                  </a:lnTo>
                  <a:lnTo>
                    <a:pt x="0" y="2931200"/>
                  </a:lnTo>
                  <a:close/>
                </a:path>
              </a:pathLst>
            </a:custGeom>
          </p:spPr>
        </p:sp>
        <p:sp>
          <p:nvSpPr>
            <p:cNvPr id="6" name="TextBox 6"/>
            <p:cNvSpPr txBox="1"/>
            <p:nvPr/>
          </p:nvSpPr>
          <p:spPr>
            <a:xfrm>
              <a:off x="804656" y="1713049"/>
              <a:ext cx="14626400" cy="3083600"/>
            </a:xfrm>
            <a:prstGeom prst="rect">
              <a:avLst/>
            </a:prstGeom>
          </p:spPr>
          <p:txBody>
            <a:bodyPr lIns="0" tIns="0" rIns="0" bIns="0" rtlCol="0" anchor="b"/>
            <a:lstStyle/>
            <a:p>
              <a:pPr algn="ctr">
                <a:lnSpc>
                  <a:spcPts val="9361"/>
                </a:lnSpc>
              </a:pPr>
              <a:r>
                <a:rPr lang="fr-FR" sz="8000" b="1" i="1" dirty="0">
                  <a:solidFill>
                    <a:srgbClr val="AB6659"/>
                  </a:solidFill>
                  <a:effectLst>
                    <a:outerShdw blurRad="38100" dist="38100" dir="2700000" algn="tl">
                      <a:srgbClr val="000000">
                        <a:alpha val="43137"/>
                      </a:srgbClr>
                    </a:outerShdw>
                  </a:effectLst>
                </a:rPr>
                <a:t>04. </a:t>
              </a:r>
              <a:r>
                <a:rPr lang="fr-FR" sz="8000" b="1" i="1" dirty="0">
                  <a:solidFill>
                    <a:schemeClr val="tx2">
                      <a:lumMod val="50000"/>
                    </a:schemeClr>
                  </a:solidFill>
                  <a:effectLst>
                    <a:outerShdw blurRad="38100" dist="38100" dir="2700000" algn="tl">
                      <a:srgbClr val="000000">
                        <a:alpha val="43137"/>
                      </a:srgbClr>
                    </a:outerShdw>
                  </a:effectLst>
                </a:rPr>
                <a:t>Analyse exploratoire (EDA)</a:t>
              </a:r>
              <a:endParaRPr lang="en-US" sz="8000" b="1" i="1" dirty="0">
                <a:solidFill>
                  <a:schemeClr val="tx2">
                    <a:lumMod val="50000"/>
                  </a:schemeClr>
                </a:solidFill>
                <a:effectLst>
                  <a:outerShdw blurRad="38100" dist="38100" dir="2700000" algn="tl">
                    <a:srgbClr val="000000">
                      <a:alpha val="43137"/>
                    </a:srgbClr>
                  </a:outerShdw>
                </a:effectLst>
                <a:ea typeface="Arial MT Pro"/>
                <a:cs typeface="Arial MT Pro"/>
                <a:sym typeface="Arial MT Pro"/>
              </a:endParaRPr>
            </a:p>
            <a:p>
              <a:pPr algn="ctr">
                <a:lnSpc>
                  <a:spcPts val="9361"/>
                </a:lnSpc>
              </a:pPr>
              <a:endParaRPr lang="en-US" sz="7801" b="1" i="1" dirty="0">
                <a:solidFill>
                  <a:srgbClr val="374957"/>
                </a:solidFill>
                <a:ea typeface="Arial MT Pro Bold Italics"/>
                <a:cs typeface="Arial MT Pro Bold Italics"/>
                <a:sym typeface="Arial MT Pro Bold Italics"/>
              </a:endParaRPr>
            </a:p>
          </p:txBody>
        </p:sp>
      </p:grpSp>
      <p:sp>
        <p:nvSpPr>
          <p:cNvPr id="8" name="Freeform 8"/>
          <p:cNvSpPr/>
          <p:nvPr/>
        </p:nvSpPr>
        <p:spPr>
          <a:xfrm>
            <a:off x="1805052" y="2962883"/>
            <a:ext cx="10969800" cy="1109091"/>
          </a:xfrm>
          <a:custGeom>
            <a:avLst/>
            <a:gdLst/>
            <a:ahLst/>
            <a:cxnLst/>
            <a:rect l="l" t="t" r="r" b="b"/>
            <a:pathLst>
              <a:path w="14626400" h="1478788">
                <a:moveTo>
                  <a:pt x="0" y="0"/>
                </a:moveTo>
                <a:lnTo>
                  <a:pt x="14626400" y="0"/>
                </a:lnTo>
                <a:lnTo>
                  <a:pt x="14626400" y="1478788"/>
                </a:lnTo>
                <a:lnTo>
                  <a:pt x="0" y="1478788"/>
                </a:lnTo>
                <a:close/>
              </a:path>
            </a:pathLst>
          </a:custGeom>
        </p:spPr>
      </p:sp>
      <p:sp>
        <p:nvSpPr>
          <p:cNvPr id="10" name="Freeform 10"/>
          <p:cNvSpPr/>
          <p:nvPr/>
        </p:nvSpPr>
        <p:spPr>
          <a:xfrm>
            <a:off x="1480479" y="1028700"/>
            <a:ext cx="1046624" cy="1109340"/>
          </a:xfrm>
          <a:custGeom>
            <a:avLst/>
            <a:gdLst/>
            <a:ahLst/>
            <a:cxnLst/>
            <a:rect l="l" t="t" r="r" b="b"/>
            <a:pathLst>
              <a:path w="1046624" h="1109340">
                <a:moveTo>
                  <a:pt x="0" y="0"/>
                </a:moveTo>
                <a:lnTo>
                  <a:pt x="1046624" y="0"/>
                </a:lnTo>
                <a:lnTo>
                  <a:pt x="1046624" y="1109340"/>
                </a:lnTo>
                <a:lnTo>
                  <a:pt x="0" y="11093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1805052" y="7480368"/>
            <a:ext cx="10969800" cy="1185288"/>
          </a:xfrm>
          <a:custGeom>
            <a:avLst/>
            <a:gdLst/>
            <a:ahLst/>
            <a:cxnLst/>
            <a:rect l="l" t="t" r="r" b="b"/>
            <a:pathLst>
              <a:path w="14626400" h="1580384">
                <a:moveTo>
                  <a:pt x="0" y="0"/>
                </a:moveTo>
                <a:lnTo>
                  <a:pt x="14626400" y="0"/>
                </a:lnTo>
                <a:lnTo>
                  <a:pt x="14626400" y="1580384"/>
                </a:lnTo>
                <a:lnTo>
                  <a:pt x="0" y="1580384"/>
                </a:lnTo>
                <a:close/>
              </a:path>
            </a:pathLst>
          </a:custGeom>
        </p:spPr>
      </p:sp>
      <p:sp>
        <p:nvSpPr>
          <p:cNvPr id="24" name="ZoneTexte 23">
            <a:extLst>
              <a:ext uri="{FF2B5EF4-FFF2-40B4-BE49-F238E27FC236}">
                <a16:creationId xmlns:a16="http://schemas.microsoft.com/office/drawing/2014/main" id="{96D3ADB8-2081-4C8F-A725-E566E3C6BEDE}"/>
              </a:ext>
            </a:extLst>
          </p:cNvPr>
          <p:cNvSpPr txBox="1"/>
          <p:nvPr/>
        </p:nvSpPr>
        <p:spPr>
          <a:xfrm>
            <a:off x="1923610" y="2138040"/>
            <a:ext cx="6019800" cy="584775"/>
          </a:xfrm>
          <a:prstGeom prst="rect">
            <a:avLst/>
          </a:prstGeom>
          <a:noFill/>
        </p:spPr>
        <p:txBody>
          <a:bodyPr wrap="square" rtlCol="0">
            <a:spAutoFit/>
          </a:bodyPr>
          <a:lstStyle/>
          <a:p>
            <a:r>
              <a:rPr lang="fr-FR" sz="3200" i="1" dirty="0">
                <a:solidFill>
                  <a:srgbClr val="AB6659"/>
                </a:solidFill>
                <a:effectLst>
                  <a:outerShdw blurRad="38100" dist="38100" dir="2700000" algn="tl">
                    <a:srgbClr val="000000">
                      <a:alpha val="43137"/>
                    </a:srgbClr>
                  </a:outerShdw>
                </a:effectLst>
              </a:rPr>
              <a:t>A. </a:t>
            </a:r>
            <a:r>
              <a:rPr lang="fr-FR" sz="3200" b="1" i="1" dirty="0">
                <a:solidFill>
                  <a:schemeClr val="tx2">
                    <a:lumMod val="50000"/>
                  </a:schemeClr>
                </a:solidFill>
                <a:effectLst>
                  <a:outerShdw blurRad="38100" dist="38100" dir="2700000" algn="tl">
                    <a:srgbClr val="000000">
                      <a:alpha val="43137"/>
                    </a:srgbClr>
                  </a:outerShdw>
                </a:effectLst>
              </a:rPr>
              <a:t>Distribution des variables</a:t>
            </a:r>
          </a:p>
        </p:txBody>
      </p:sp>
      <p:sp>
        <p:nvSpPr>
          <p:cNvPr id="25" name="ZoneTexte 24">
            <a:extLst>
              <a:ext uri="{FF2B5EF4-FFF2-40B4-BE49-F238E27FC236}">
                <a16:creationId xmlns:a16="http://schemas.microsoft.com/office/drawing/2014/main" id="{31FCE271-3FB7-4C73-9EAD-15AEF3355585}"/>
              </a:ext>
            </a:extLst>
          </p:cNvPr>
          <p:cNvSpPr txBox="1"/>
          <p:nvPr/>
        </p:nvSpPr>
        <p:spPr>
          <a:xfrm>
            <a:off x="228600" y="3238500"/>
            <a:ext cx="11963400" cy="6740307"/>
          </a:xfrm>
          <a:prstGeom prst="rect">
            <a:avLst/>
          </a:prstGeom>
          <a:noFill/>
        </p:spPr>
        <p:txBody>
          <a:bodyPr wrap="square" rtlCol="0">
            <a:spAutoFit/>
          </a:bodyPr>
          <a:lstStyle/>
          <a:p>
            <a:r>
              <a:rPr lang="fr-FR" sz="3600" dirty="0">
                <a:solidFill>
                  <a:schemeClr val="tx2">
                    <a:lumMod val="50000"/>
                  </a:schemeClr>
                </a:solidFill>
              </a:rPr>
              <a:t>Les histogrammes montrent la distribution des différentes variables du </a:t>
            </a:r>
            <a:r>
              <a:rPr lang="fr-FR" sz="3600" dirty="0" err="1">
                <a:solidFill>
                  <a:schemeClr val="tx2">
                    <a:lumMod val="50000"/>
                  </a:schemeClr>
                </a:solidFill>
              </a:rPr>
              <a:t>dataset</a:t>
            </a:r>
            <a:r>
              <a:rPr lang="fr-FR" sz="3600" dirty="0">
                <a:solidFill>
                  <a:schemeClr val="tx2">
                    <a:lumMod val="50000"/>
                  </a:schemeClr>
                </a:solidFill>
              </a:rPr>
              <a:t>. On observe que la variable </a:t>
            </a:r>
            <a:r>
              <a:rPr lang="fr-FR" sz="3600" b="1" dirty="0">
                <a:solidFill>
                  <a:schemeClr val="tx2">
                    <a:lumMod val="50000"/>
                  </a:schemeClr>
                </a:solidFill>
              </a:rPr>
              <a:t>Glucose</a:t>
            </a:r>
            <a:r>
              <a:rPr lang="fr-FR" sz="3600" dirty="0">
                <a:solidFill>
                  <a:schemeClr val="tx2">
                    <a:lumMod val="50000"/>
                  </a:schemeClr>
                </a:solidFill>
              </a:rPr>
              <a:t> est principalement concentrée entre 90 et 140, ce qui indique des niveaux de glucose variés parmi les patients. La variable </a:t>
            </a:r>
            <a:r>
              <a:rPr lang="fr-FR" sz="3600" b="1" dirty="0">
                <a:solidFill>
                  <a:schemeClr val="tx2">
                    <a:lumMod val="50000"/>
                  </a:schemeClr>
                </a:solidFill>
              </a:rPr>
              <a:t>BMI</a:t>
            </a:r>
            <a:r>
              <a:rPr lang="fr-FR" sz="3600" dirty="0">
                <a:solidFill>
                  <a:schemeClr val="tx2">
                    <a:lumMod val="50000"/>
                  </a:schemeClr>
                </a:solidFill>
              </a:rPr>
              <a:t> est majoritairement située entre 25 et 40, ce qui correspond à des valeurs proches du surpoids ou de l’obésité.</a:t>
            </a:r>
          </a:p>
          <a:p>
            <a:r>
              <a:rPr lang="fr-FR" sz="3600" dirty="0">
                <a:solidFill>
                  <a:schemeClr val="tx2">
                    <a:lumMod val="50000"/>
                  </a:schemeClr>
                </a:solidFill>
              </a:rPr>
              <a:t>La variable </a:t>
            </a:r>
            <a:r>
              <a:rPr lang="fr-FR" sz="3600" b="1" dirty="0">
                <a:solidFill>
                  <a:schemeClr val="tx2">
                    <a:lumMod val="50000"/>
                  </a:schemeClr>
                </a:solidFill>
              </a:rPr>
              <a:t>Age</a:t>
            </a:r>
            <a:r>
              <a:rPr lang="fr-FR" sz="3600" dirty="0">
                <a:solidFill>
                  <a:schemeClr val="tx2">
                    <a:lumMod val="50000"/>
                  </a:schemeClr>
                </a:solidFill>
              </a:rPr>
              <a:t> montre que la majorité des patients ont entre 20 et 40 ans. On remarque également que certaines variables comme </a:t>
            </a:r>
            <a:r>
              <a:rPr lang="fr-FR" sz="3600" b="1" dirty="0" err="1">
                <a:solidFill>
                  <a:schemeClr val="tx2">
                    <a:lumMod val="50000"/>
                  </a:schemeClr>
                </a:solidFill>
              </a:rPr>
              <a:t>Insulin</a:t>
            </a:r>
            <a:r>
              <a:rPr lang="fr-FR" sz="3600" dirty="0">
                <a:solidFill>
                  <a:schemeClr val="tx2">
                    <a:lumMod val="50000"/>
                  </a:schemeClr>
                </a:solidFill>
              </a:rPr>
              <a:t> et </a:t>
            </a:r>
            <a:r>
              <a:rPr lang="fr-FR" sz="3600" b="1" dirty="0" err="1">
                <a:solidFill>
                  <a:schemeClr val="tx2">
                    <a:lumMod val="50000"/>
                  </a:schemeClr>
                </a:solidFill>
              </a:rPr>
              <a:t>DiabetesPedigreeFunction</a:t>
            </a:r>
            <a:r>
              <a:rPr lang="fr-FR" sz="3600" dirty="0">
                <a:solidFill>
                  <a:schemeClr val="tx2">
                    <a:lumMod val="50000"/>
                  </a:schemeClr>
                </a:solidFill>
              </a:rPr>
              <a:t> présentent une distribution asymétrique avec quelques valeurs élevées.</a:t>
            </a:r>
          </a:p>
          <a:p>
            <a:r>
              <a:rPr lang="fr-FR" sz="3600" dirty="0">
                <a:solidFill>
                  <a:schemeClr val="tx2">
                    <a:lumMod val="50000"/>
                  </a:schemeClr>
                </a:solidFill>
              </a:rPr>
              <a:t>Enfin, la variable </a:t>
            </a:r>
            <a:r>
              <a:rPr lang="fr-FR" sz="3600" b="1" dirty="0" err="1">
                <a:solidFill>
                  <a:schemeClr val="tx2">
                    <a:lumMod val="50000"/>
                  </a:schemeClr>
                </a:solidFill>
              </a:rPr>
              <a:t>Outcome</a:t>
            </a:r>
            <a:r>
              <a:rPr lang="fr-FR" sz="3600" dirty="0">
                <a:solidFill>
                  <a:schemeClr val="tx2">
                    <a:lumMod val="50000"/>
                  </a:schemeClr>
                </a:solidFill>
              </a:rPr>
              <a:t> montre qu’il y a plus de patients </a:t>
            </a:r>
            <a:r>
              <a:rPr lang="fr-FR" sz="3600" b="1" dirty="0">
                <a:solidFill>
                  <a:schemeClr val="tx2">
                    <a:lumMod val="50000"/>
                  </a:schemeClr>
                </a:solidFill>
              </a:rPr>
              <a:t>non diabétiques (0)</a:t>
            </a:r>
            <a:r>
              <a:rPr lang="fr-FR" sz="3600" dirty="0">
                <a:solidFill>
                  <a:schemeClr val="tx2">
                    <a:lumMod val="50000"/>
                  </a:schemeClr>
                </a:solidFill>
              </a:rPr>
              <a:t> que </a:t>
            </a:r>
            <a:r>
              <a:rPr lang="fr-FR" sz="3600" b="1" dirty="0">
                <a:solidFill>
                  <a:schemeClr val="tx2">
                    <a:lumMod val="50000"/>
                  </a:schemeClr>
                </a:solidFill>
              </a:rPr>
              <a:t>diabétiques (1)</a:t>
            </a:r>
            <a:r>
              <a:rPr lang="fr-FR" sz="3600" dirty="0">
                <a:solidFill>
                  <a:schemeClr val="tx2">
                    <a:lumMod val="50000"/>
                  </a:schemeClr>
                </a:solidFill>
              </a:rPr>
              <a:t> dans le </a:t>
            </a:r>
            <a:r>
              <a:rPr lang="fr-FR" sz="3600" dirty="0" err="1">
                <a:solidFill>
                  <a:schemeClr val="tx2">
                    <a:lumMod val="50000"/>
                  </a:schemeClr>
                </a:solidFill>
              </a:rPr>
              <a:t>dataset</a:t>
            </a:r>
            <a:r>
              <a:rPr lang="fr-FR" sz="3600" dirty="0">
                <a:solidFill>
                  <a:schemeClr val="tx2">
                    <a:lumMod val="50000"/>
                  </a:schemeClr>
                </a:solidFill>
              </a:rPr>
              <a:t>.</a:t>
            </a:r>
          </a:p>
        </p:txBody>
      </p:sp>
      <p:pic>
        <p:nvPicPr>
          <p:cNvPr id="27" name="Image 26">
            <a:extLst>
              <a:ext uri="{FF2B5EF4-FFF2-40B4-BE49-F238E27FC236}">
                <a16:creationId xmlns:a16="http://schemas.microsoft.com/office/drawing/2014/main" id="{2A5B4CD8-A396-4702-B395-938143BB75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037884" y="2000844"/>
            <a:ext cx="5821380" cy="48801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anim calcmode="lin" valueType="num">
                                      <p:cBhvr>
                                        <p:cTn id="38" dur="1000" fill="hold"/>
                                        <p:tgtEl>
                                          <p:spTgt spid="24"/>
                                        </p:tgtEl>
                                        <p:attrNameLst>
                                          <p:attrName>ppt_x</p:attrName>
                                        </p:attrNameLst>
                                      </p:cBhvr>
                                      <p:tavLst>
                                        <p:tav tm="0">
                                          <p:val>
                                            <p:strVal val="#ppt_x"/>
                                          </p:val>
                                        </p:tav>
                                        <p:tav tm="100000">
                                          <p:val>
                                            <p:strVal val="#ppt_x"/>
                                          </p:val>
                                        </p:tav>
                                      </p:tavLst>
                                    </p:anim>
                                    <p:anim calcmode="lin" valueType="num">
                                      <p:cBhvr>
                                        <p:cTn id="39" dur="1000" fill="hold"/>
                                        <p:tgtEl>
                                          <p:spTgt spid="2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1000"/>
                                        <p:tgtEl>
                                          <p:spTgt spid="25"/>
                                        </p:tgtEl>
                                      </p:cBhvr>
                                    </p:animEffect>
                                    <p:anim calcmode="lin" valueType="num">
                                      <p:cBhvr>
                                        <p:cTn id="43" dur="1000" fill="hold"/>
                                        <p:tgtEl>
                                          <p:spTgt spid="25"/>
                                        </p:tgtEl>
                                        <p:attrNameLst>
                                          <p:attrName>ppt_x</p:attrName>
                                        </p:attrNameLst>
                                      </p:cBhvr>
                                      <p:tavLst>
                                        <p:tav tm="0">
                                          <p:val>
                                            <p:strVal val="#ppt_x"/>
                                          </p:val>
                                        </p:tav>
                                        <p:tav tm="100000">
                                          <p:val>
                                            <p:strVal val="#ppt_x"/>
                                          </p:val>
                                        </p:tav>
                                      </p:tavLst>
                                    </p:anim>
                                    <p:anim calcmode="lin" valueType="num">
                                      <p:cBhvr>
                                        <p:cTn id="44" dur="1000" fill="hold"/>
                                        <p:tgtEl>
                                          <p:spTgt spid="2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1000"/>
                                        <p:tgtEl>
                                          <p:spTgt spid="27"/>
                                        </p:tgtEl>
                                      </p:cBhvr>
                                    </p:animEffect>
                                    <p:anim calcmode="lin" valueType="num">
                                      <p:cBhvr>
                                        <p:cTn id="48" dur="1000" fill="hold"/>
                                        <p:tgtEl>
                                          <p:spTgt spid="27"/>
                                        </p:tgtEl>
                                        <p:attrNameLst>
                                          <p:attrName>ppt_x</p:attrName>
                                        </p:attrNameLst>
                                      </p:cBhvr>
                                      <p:tavLst>
                                        <p:tav tm="0">
                                          <p:val>
                                            <p:strVal val="#ppt_x"/>
                                          </p:val>
                                        </p:tav>
                                        <p:tav tm="100000">
                                          <p:val>
                                            <p:strVal val="#ppt_x"/>
                                          </p:val>
                                        </p:tav>
                                      </p:tavLst>
                                    </p:anim>
                                    <p:anim calcmode="lin" valueType="num">
                                      <p:cBhvr>
                                        <p:cTn id="4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grpSp>
        <p:nvGrpSpPr>
          <p:cNvPr id="2" name="Group 2"/>
          <p:cNvGrpSpPr/>
          <p:nvPr/>
        </p:nvGrpSpPr>
        <p:grpSpPr>
          <a:xfrm>
            <a:off x="16861550" y="-1306000"/>
            <a:ext cx="4063186" cy="4057410"/>
            <a:chOff x="0" y="0"/>
            <a:chExt cx="5417581" cy="5409880"/>
          </a:xfrm>
        </p:grpSpPr>
        <p:sp>
          <p:nvSpPr>
            <p:cNvPr id="3" name="Freeform 3"/>
            <p:cNvSpPr/>
            <p:nvPr/>
          </p:nvSpPr>
          <p:spPr>
            <a:xfrm>
              <a:off x="78359" y="23114"/>
              <a:ext cx="5417566" cy="5409946"/>
            </a:xfrm>
            <a:custGeom>
              <a:avLst/>
              <a:gdLst/>
              <a:ahLst/>
              <a:cxnLst/>
              <a:rect l="l" t="t" r="r" b="b"/>
              <a:pathLst>
                <a:path w="5417566" h="5409946">
                  <a:moveTo>
                    <a:pt x="5417566" y="2704719"/>
                  </a:moveTo>
                  <a:cubicBezTo>
                    <a:pt x="5417566" y="4198874"/>
                    <a:pt x="4204462" y="5409946"/>
                    <a:pt x="2708529" y="5409946"/>
                  </a:cubicBezTo>
                  <a:cubicBezTo>
                    <a:pt x="1212596" y="5409946"/>
                    <a:pt x="0" y="4198874"/>
                    <a:pt x="0" y="2704719"/>
                  </a:cubicBezTo>
                  <a:cubicBezTo>
                    <a:pt x="0" y="1210945"/>
                    <a:pt x="1212723" y="0"/>
                    <a:pt x="2708529" y="0"/>
                  </a:cubicBezTo>
                  <a:cubicBezTo>
                    <a:pt x="4204335" y="0"/>
                    <a:pt x="5417566" y="1210945"/>
                    <a:pt x="5417566" y="2704719"/>
                  </a:cubicBezTo>
                  <a:close/>
                </a:path>
              </a:pathLst>
            </a:custGeom>
            <a:solidFill>
              <a:srgbClr val="6BC1D1"/>
            </a:solidFill>
          </p:spPr>
        </p:sp>
      </p:grpSp>
      <p:sp>
        <p:nvSpPr>
          <p:cNvPr id="10" name="Freeform 10"/>
          <p:cNvSpPr/>
          <p:nvPr/>
        </p:nvSpPr>
        <p:spPr>
          <a:xfrm>
            <a:off x="842589" y="-770736"/>
            <a:ext cx="1454234" cy="1541472"/>
          </a:xfrm>
          <a:custGeom>
            <a:avLst/>
            <a:gdLst/>
            <a:ahLst/>
            <a:cxnLst/>
            <a:rect l="l" t="t" r="r" b="b"/>
            <a:pathLst>
              <a:path w="1454234" h="1541472">
                <a:moveTo>
                  <a:pt x="0" y="0"/>
                </a:moveTo>
                <a:lnTo>
                  <a:pt x="1454234" y="0"/>
                </a:lnTo>
                <a:lnTo>
                  <a:pt x="1454234" y="1541472"/>
                </a:lnTo>
                <a:lnTo>
                  <a:pt x="0" y="15414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426450" y="8130708"/>
            <a:ext cx="9910000" cy="9896384"/>
            <a:chOff x="0" y="0"/>
            <a:chExt cx="13213333" cy="13195179"/>
          </a:xfrm>
        </p:grpSpPr>
        <p:sp>
          <p:nvSpPr>
            <p:cNvPr id="12" name="Freeform 12"/>
            <p:cNvSpPr/>
            <p:nvPr/>
          </p:nvSpPr>
          <p:spPr>
            <a:xfrm>
              <a:off x="191008" y="56261"/>
              <a:ext cx="13213334" cy="13195428"/>
            </a:xfrm>
            <a:custGeom>
              <a:avLst/>
              <a:gdLst/>
              <a:ahLst/>
              <a:cxnLst/>
              <a:rect l="l" t="t" r="r" b="b"/>
              <a:pathLst>
                <a:path w="13213334" h="13195428">
                  <a:moveTo>
                    <a:pt x="13213334" y="6597142"/>
                  </a:moveTo>
                  <a:cubicBezTo>
                    <a:pt x="13213334" y="10241407"/>
                    <a:pt x="10254488" y="13195428"/>
                    <a:pt x="6606159" y="13195428"/>
                  </a:cubicBezTo>
                  <a:cubicBezTo>
                    <a:pt x="2957829" y="13195428"/>
                    <a:pt x="0" y="10241407"/>
                    <a:pt x="0" y="6597142"/>
                  </a:cubicBezTo>
                  <a:cubicBezTo>
                    <a:pt x="0" y="2953766"/>
                    <a:pt x="2957830" y="0"/>
                    <a:pt x="6606159" y="0"/>
                  </a:cubicBezTo>
                  <a:cubicBezTo>
                    <a:pt x="10254488" y="0"/>
                    <a:pt x="13213334" y="2953766"/>
                    <a:pt x="13213334" y="6597142"/>
                  </a:cubicBezTo>
                  <a:close/>
                </a:path>
              </a:pathLst>
            </a:custGeom>
            <a:solidFill>
              <a:srgbClr val="B6E3F1"/>
            </a:solidFill>
          </p:spPr>
        </p:sp>
      </p:grpSp>
      <p:sp>
        <p:nvSpPr>
          <p:cNvPr id="14" name="ZoneTexte 13">
            <a:extLst>
              <a:ext uri="{FF2B5EF4-FFF2-40B4-BE49-F238E27FC236}">
                <a16:creationId xmlns:a16="http://schemas.microsoft.com/office/drawing/2014/main" id="{5BF69B1A-9F56-4EA0-82A6-D63A745FA890}"/>
              </a:ext>
            </a:extLst>
          </p:cNvPr>
          <p:cNvSpPr txBox="1"/>
          <p:nvPr/>
        </p:nvSpPr>
        <p:spPr>
          <a:xfrm>
            <a:off x="2895600" y="495300"/>
            <a:ext cx="11963400" cy="646331"/>
          </a:xfrm>
          <a:prstGeom prst="rect">
            <a:avLst/>
          </a:prstGeom>
          <a:noFill/>
        </p:spPr>
        <p:txBody>
          <a:bodyPr wrap="square" rtlCol="0">
            <a:spAutoFit/>
          </a:bodyPr>
          <a:lstStyle/>
          <a:p>
            <a:r>
              <a:rPr lang="fr-FR" sz="3600" b="1" i="1" dirty="0">
                <a:solidFill>
                  <a:srgbClr val="AB6659"/>
                </a:solidFill>
                <a:effectLst>
                  <a:outerShdw blurRad="38100" dist="38100" dir="2700000" algn="tl">
                    <a:srgbClr val="000000">
                      <a:alpha val="43137"/>
                    </a:srgbClr>
                  </a:outerShdw>
                </a:effectLst>
              </a:rPr>
              <a:t>B. </a:t>
            </a:r>
            <a:r>
              <a:rPr lang="fr-FR" sz="3600" b="1" i="1" dirty="0">
                <a:solidFill>
                  <a:schemeClr val="tx2">
                    <a:lumMod val="50000"/>
                  </a:schemeClr>
                </a:solidFill>
                <a:effectLst>
                  <a:outerShdw blurRad="38100" dist="38100" dir="2700000" algn="tl">
                    <a:srgbClr val="000000">
                      <a:alpha val="43137"/>
                    </a:srgbClr>
                  </a:outerShdw>
                </a:effectLst>
              </a:rPr>
              <a:t>Comparaison entre les groupes</a:t>
            </a:r>
          </a:p>
        </p:txBody>
      </p:sp>
      <p:sp>
        <p:nvSpPr>
          <p:cNvPr id="15" name="ZoneTexte 14">
            <a:extLst>
              <a:ext uri="{FF2B5EF4-FFF2-40B4-BE49-F238E27FC236}">
                <a16:creationId xmlns:a16="http://schemas.microsoft.com/office/drawing/2014/main" id="{7BBB2B73-36D8-412A-B53A-C37BDBDC7663}"/>
              </a:ext>
            </a:extLst>
          </p:cNvPr>
          <p:cNvSpPr txBox="1"/>
          <p:nvPr/>
        </p:nvSpPr>
        <p:spPr>
          <a:xfrm>
            <a:off x="457200" y="1562100"/>
            <a:ext cx="11506200" cy="5632311"/>
          </a:xfrm>
          <a:prstGeom prst="rect">
            <a:avLst/>
          </a:prstGeom>
          <a:noFill/>
        </p:spPr>
        <p:txBody>
          <a:bodyPr wrap="square" rtlCol="0">
            <a:spAutoFit/>
          </a:bodyPr>
          <a:lstStyle/>
          <a:p>
            <a:r>
              <a:rPr lang="fr-FR" sz="4000" dirty="0">
                <a:solidFill>
                  <a:schemeClr val="tx2">
                    <a:lumMod val="50000"/>
                  </a:schemeClr>
                </a:solidFill>
              </a:rPr>
              <a:t>La comparaison entre les patients diabétiques et non diabétiques permet d’observer les différences dans certaines variables. On constate que les patients diabétiques présentent généralement des valeurs plus élevées de </a:t>
            </a:r>
            <a:r>
              <a:rPr lang="fr-FR" sz="4000" b="1" dirty="0">
                <a:solidFill>
                  <a:schemeClr val="tx2">
                    <a:lumMod val="50000"/>
                  </a:schemeClr>
                </a:solidFill>
              </a:rPr>
              <a:t>glucose</a:t>
            </a:r>
            <a:r>
              <a:rPr lang="fr-FR" sz="4000" dirty="0">
                <a:solidFill>
                  <a:schemeClr val="tx2">
                    <a:lumMod val="50000"/>
                  </a:schemeClr>
                </a:solidFill>
              </a:rPr>
              <a:t> et parfois de </a:t>
            </a:r>
            <a:r>
              <a:rPr lang="fr-FR" sz="4000" b="1" dirty="0">
                <a:solidFill>
                  <a:schemeClr val="tx2">
                    <a:lumMod val="50000"/>
                  </a:schemeClr>
                </a:solidFill>
              </a:rPr>
              <a:t>BMI</a:t>
            </a:r>
            <a:r>
              <a:rPr lang="fr-FR" sz="4000" dirty="0">
                <a:solidFill>
                  <a:schemeClr val="tx2">
                    <a:lumMod val="50000"/>
                  </a:schemeClr>
                </a:solidFill>
              </a:rPr>
              <a:t>. Ces différences suggèrent que certaines variables pourraient être fortement associées à la présence du diabète. Cette étape permet donc d’identifier les facteurs qui distinguent le plus les deux groupes.</a:t>
            </a:r>
          </a:p>
        </p:txBody>
      </p:sp>
      <p:pic>
        <p:nvPicPr>
          <p:cNvPr id="17" name="Image 16">
            <a:extLst>
              <a:ext uri="{FF2B5EF4-FFF2-40B4-BE49-F238E27FC236}">
                <a16:creationId xmlns:a16="http://schemas.microsoft.com/office/drawing/2014/main" id="{CB76B487-3822-478E-AF63-471737207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79707" y="4119448"/>
            <a:ext cx="6808293" cy="61675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pic>
        <p:nvPicPr>
          <p:cNvPr id="24" name="Image 23">
            <a:extLst>
              <a:ext uri="{FF2B5EF4-FFF2-40B4-BE49-F238E27FC236}">
                <a16:creationId xmlns:a16="http://schemas.microsoft.com/office/drawing/2014/main" id="{7BBD6F2A-23E9-492E-86E6-67A4354D0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1005" y="1634833"/>
            <a:ext cx="7686995" cy="6384387"/>
          </a:xfrm>
          <a:prstGeom prst="rect">
            <a:avLst/>
          </a:prstGeom>
          <a:effectLst/>
        </p:spPr>
      </p:pic>
      <p:grpSp>
        <p:nvGrpSpPr>
          <p:cNvPr id="10" name="Group 10"/>
          <p:cNvGrpSpPr/>
          <p:nvPr/>
        </p:nvGrpSpPr>
        <p:grpSpPr>
          <a:xfrm rot="-10800000">
            <a:off x="399258" y="8231682"/>
            <a:ext cx="687572" cy="687572"/>
            <a:chOff x="0" y="0"/>
            <a:chExt cx="916763" cy="916763"/>
          </a:xfrm>
        </p:grpSpPr>
        <p:sp>
          <p:nvSpPr>
            <p:cNvPr id="11" name="Freeform 11"/>
            <p:cNvSpPr/>
            <p:nvPr/>
          </p:nvSpPr>
          <p:spPr>
            <a:xfrm>
              <a:off x="0" y="0"/>
              <a:ext cx="916813" cy="916813"/>
            </a:xfrm>
            <a:custGeom>
              <a:avLst/>
              <a:gdLst/>
              <a:ahLst/>
              <a:cxnLst/>
              <a:rect l="l" t="t" r="r" b="b"/>
              <a:pathLst>
                <a:path w="916813" h="916813">
                  <a:moveTo>
                    <a:pt x="916813" y="309880"/>
                  </a:moveTo>
                  <a:lnTo>
                    <a:pt x="606933" y="309880"/>
                  </a:lnTo>
                  <a:lnTo>
                    <a:pt x="606933" y="0"/>
                  </a:lnTo>
                  <a:lnTo>
                    <a:pt x="309880" y="0"/>
                  </a:lnTo>
                  <a:lnTo>
                    <a:pt x="309880" y="309880"/>
                  </a:lnTo>
                  <a:lnTo>
                    <a:pt x="0" y="309880"/>
                  </a:lnTo>
                  <a:lnTo>
                    <a:pt x="0" y="606933"/>
                  </a:lnTo>
                  <a:lnTo>
                    <a:pt x="309880" y="606933"/>
                  </a:lnTo>
                  <a:lnTo>
                    <a:pt x="309880" y="916813"/>
                  </a:lnTo>
                  <a:lnTo>
                    <a:pt x="606933" y="916813"/>
                  </a:lnTo>
                  <a:lnTo>
                    <a:pt x="606933" y="606933"/>
                  </a:lnTo>
                  <a:lnTo>
                    <a:pt x="916813" y="606933"/>
                  </a:lnTo>
                  <a:close/>
                </a:path>
              </a:pathLst>
            </a:custGeom>
            <a:solidFill>
              <a:srgbClr val="6BC1D1"/>
            </a:solidFill>
          </p:spPr>
        </p:sp>
      </p:grpSp>
      <p:sp>
        <p:nvSpPr>
          <p:cNvPr id="22" name="ZoneTexte 21">
            <a:extLst>
              <a:ext uri="{FF2B5EF4-FFF2-40B4-BE49-F238E27FC236}">
                <a16:creationId xmlns:a16="http://schemas.microsoft.com/office/drawing/2014/main" id="{4FAF6609-77BE-4867-A2AE-5EB2F11CDD77}"/>
              </a:ext>
            </a:extLst>
          </p:cNvPr>
          <p:cNvSpPr txBox="1"/>
          <p:nvPr/>
        </p:nvSpPr>
        <p:spPr>
          <a:xfrm>
            <a:off x="225480" y="1802867"/>
            <a:ext cx="10969800" cy="6771084"/>
          </a:xfrm>
          <a:prstGeom prst="rect">
            <a:avLst/>
          </a:prstGeom>
          <a:noFill/>
        </p:spPr>
        <p:txBody>
          <a:bodyPr wrap="square" rtlCol="0">
            <a:spAutoFit/>
          </a:bodyPr>
          <a:lstStyle/>
          <a:p>
            <a:pPr algn="l"/>
            <a:r>
              <a:rPr lang="fr-FR" sz="3200" b="0" i="0" dirty="0">
                <a:solidFill>
                  <a:schemeClr val="tx2">
                    <a:lumMod val="50000"/>
                  </a:schemeClr>
                </a:solidFill>
                <a:effectLst/>
              </a:rPr>
              <a:t>La matrice de corrélation montre la relation entre les différentes variables du </a:t>
            </a:r>
            <a:r>
              <a:rPr lang="fr-FR" sz="3200" b="0" i="0" dirty="0" err="1">
                <a:solidFill>
                  <a:schemeClr val="tx2">
                    <a:lumMod val="50000"/>
                  </a:schemeClr>
                </a:solidFill>
                <a:effectLst/>
              </a:rPr>
              <a:t>dataset</a:t>
            </a:r>
            <a:r>
              <a:rPr lang="fr-FR" sz="3200" b="0" i="0" dirty="0">
                <a:solidFill>
                  <a:schemeClr val="tx2">
                    <a:lumMod val="50000"/>
                  </a:schemeClr>
                </a:solidFill>
                <a:effectLst/>
              </a:rPr>
              <a:t>.</a:t>
            </a:r>
          </a:p>
          <a:p>
            <a:pPr algn="l"/>
            <a:r>
              <a:rPr lang="fr-FR" sz="3200" b="0" i="0" dirty="0">
                <a:solidFill>
                  <a:schemeClr val="tx2">
                    <a:lumMod val="50000"/>
                  </a:schemeClr>
                </a:solidFill>
                <a:effectLst/>
              </a:rPr>
              <a:t>On observe que :</a:t>
            </a:r>
          </a:p>
          <a:p>
            <a:pPr algn="l"/>
            <a:r>
              <a:rPr lang="fr-FR" sz="3200" b="0" i="0" dirty="0">
                <a:solidFill>
                  <a:schemeClr val="tx2">
                    <a:lumMod val="50000"/>
                  </a:schemeClr>
                </a:solidFill>
                <a:effectLst/>
              </a:rPr>
              <a:t>Glucose et </a:t>
            </a:r>
            <a:r>
              <a:rPr lang="fr-FR" sz="3200" b="0" i="0" dirty="0" err="1">
                <a:solidFill>
                  <a:schemeClr val="tx2">
                    <a:lumMod val="50000"/>
                  </a:schemeClr>
                </a:solidFill>
                <a:effectLst/>
              </a:rPr>
              <a:t>Outcome</a:t>
            </a:r>
            <a:r>
              <a:rPr lang="fr-FR" sz="3200" b="0" i="0" dirty="0">
                <a:solidFill>
                  <a:schemeClr val="tx2">
                    <a:lumMod val="50000"/>
                  </a:schemeClr>
                </a:solidFill>
                <a:effectLst/>
              </a:rPr>
              <a:t> (0.49) ont la corrélation la plus élevée, ce qui signifie que le niveau de glucose est fortement lié au diabète. BMI et </a:t>
            </a:r>
            <a:r>
              <a:rPr lang="fr-FR" sz="3200" b="0" i="0" dirty="0" err="1">
                <a:solidFill>
                  <a:schemeClr val="tx2">
                    <a:lumMod val="50000"/>
                  </a:schemeClr>
                </a:solidFill>
                <a:effectLst/>
              </a:rPr>
              <a:t>Outcome</a:t>
            </a:r>
            <a:r>
              <a:rPr lang="fr-FR" sz="3200" b="0" i="0" dirty="0">
                <a:solidFill>
                  <a:schemeClr val="tx2">
                    <a:lumMod val="50000"/>
                  </a:schemeClr>
                </a:solidFill>
                <a:effectLst/>
              </a:rPr>
              <a:t> (0.31) montrent aussi une corrélation modérée, indiquant que un BMI élevé peut augmenter le risque de diabète. Age et </a:t>
            </a:r>
            <a:r>
              <a:rPr lang="fr-FR" sz="3200" b="0" i="0" dirty="0" err="1">
                <a:solidFill>
                  <a:schemeClr val="tx2">
                    <a:lumMod val="50000"/>
                  </a:schemeClr>
                </a:solidFill>
                <a:effectLst/>
              </a:rPr>
              <a:t>Outcome</a:t>
            </a:r>
            <a:r>
              <a:rPr lang="fr-FR" sz="3200" b="0" i="0" dirty="0">
                <a:solidFill>
                  <a:schemeClr val="tx2">
                    <a:lumMod val="50000"/>
                  </a:schemeClr>
                </a:solidFill>
                <a:effectLst/>
              </a:rPr>
              <a:t> (0.24) suggèrent que le risque de diabète peut augmenter avec l’âge. </a:t>
            </a:r>
            <a:r>
              <a:rPr lang="fr-FR" sz="3200" b="0" i="0" dirty="0" err="1">
                <a:solidFill>
                  <a:schemeClr val="tx2">
                    <a:lumMod val="50000"/>
                  </a:schemeClr>
                </a:solidFill>
                <a:effectLst/>
              </a:rPr>
              <a:t>Pregnancies</a:t>
            </a:r>
            <a:r>
              <a:rPr lang="fr-FR" sz="3200" b="0" i="0" dirty="0">
                <a:solidFill>
                  <a:schemeClr val="tx2">
                    <a:lumMod val="50000"/>
                  </a:schemeClr>
                </a:solidFill>
                <a:effectLst/>
              </a:rPr>
              <a:t> et </a:t>
            </a:r>
            <a:r>
              <a:rPr lang="fr-FR" sz="3200" b="0" i="0" dirty="0" err="1">
                <a:solidFill>
                  <a:schemeClr val="tx2">
                    <a:lumMod val="50000"/>
                  </a:schemeClr>
                </a:solidFill>
                <a:effectLst/>
              </a:rPr>
              <a:t>Outcome</a:t>
            </a:r>
            <a:r>
              <a:rPr lang="fr-FR" sz="3200" b="0" i="0" dirty="0">
                <a:solidFill>
                  <a:schemeClr val="tx2">
                    <a:lumMod val="50000"/>
                  </a:schemeClr>
                </a:solidFill>
                <a:effectLst/>
              </a:rPr>
              <a:t> (0.22) montrent une relation faible mais existante.</a:t>
            </a:r>
          </a:p>
          <a:p>
            <a:pPr algn="l"/>
            <a:r>
              <a:rPr lang="fr-FR" sz="3200" b="0" i="0" dirty="0">
                <a:solidFill>
                  <a:schemeClr val="tx2">
                    <a:lumMod val="50000"/>
                  </a:schemeClr>
                </a:solidFill>
                <a:effectLst/>
              </a:rPr>
              <a:t>On remarque aussi certaines relations entre variables :</a:t>
            </a:r>
          </a:p>
          <a:p>
            <a:pPr algn="l"/>
            <a:r>
              <a:rPr lang="fr-FR" sz="3200" b="0" i="0" dirty="0">
                <a:solidFill>
                  <a:schemeClr val="tx2">
                    <a:lumMod val="50000"/>
                  </a:schemeClr>
                </a:solidFill>
                <a:effectLst/>
              </a:rPr>
              <a:t>BMI et </a:t>
            </a:r>
            <a:r>
              <a:rPr lang="fr-FR" sz="3200" b="0" i="0" dirty="0" err="1">
                <a:solidFill>
                  <a:schemeClr val="tx2">
                    <a:lumMod val="50000"/>
                  </a:schemeClr>
                </a:solidFill>
                <a:effectLst/>
              </a:rPr>
              <a:t>SkinThickness</a:t>
            </a:r>
            <a:r>
              <a:rPr lang="fr-FR" sz="3200" b="0" i="0" dirty="0">
                <a:solidFill>
                  <a:schemeClr val="tx2">
                    <a:lumMod val="50000"/>
                  </a:schemeClr>
                </a:solidFill>
                <a:effectLst/>
              </a:rPr>
              <a:t> (0.54) ont une corrélation relativement forte. Age et </a:t>
            </a:r>
            <a:r>
              <a:rPr lang="fr-FR" sz="3200" b="0" i="0" dirty="0" err="1">
                <a:solidFill>
                  <a:schemeClr val="tx2">
                    <a:lumMod val="50000"/>
                  </a:schemeClr>
                </a:solidFill>
                <a:effectLst/>
              </a:rPr>
              <a:t>Pregnancies</a:t>
            </a:r>
            <a:r>
              <a:rPr lang="fr-FR" sz="3200" b="0" i="0" dirty="0">
                <a:solidFill>
                  <a:schemeClr val="tx2">
                    <a:lumMod val="50000"/>
                  </a:schemeClr>
                </a:solidFill>
                <a:effectLst/>
              </a:rPr>
              <a:t> (0.54) sont également corrélés.</a:t>
            </a:r>
          </a:p>
          <a:p>
            <a:endParaRPr lang="fr-FR" dirty="0"/>
          </a:p>
        </p:txBody>
      </p:sp>
      <p:sp>
        <p:nvSpPr>
          <p:cNvPr id="2" name="Freeform 2"/>
          <p:cNvSpPr/>
          <p:nvPr/>
        </p:nvSpPr>
        <p:spPr>
          <a:xfrm>
            <a:off x="15444498" y="7578956"/>
            <a:ext cx="2620480" cy="2603082"/>
          </a:xfrm>
          <a:custGeom>
            <a:avLst/>
            <a:gdLst/>
            <a:ahLst/>
            <a:cxnLst/>
            <a:rect l="l" t="t" r="r" b="b"/>
            <a:pathLst>
              <a:path w="2620480" h="2603082">
                <a:moveTo>
                  <a:pt x="0" y="0"/>
                </a:moveTo>
                <a:lnTo>
                  <a:pt x="2620480" y="0"/>
                </a:lnTo>
                <a:lnTo>
                  <a:pt x="2620480" y="2603082"/>
                </a:lnTo>
                <a:lnTo>
                  <a:pt x="0" y="26030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rot="-10800000">
            <a:off x="9122196" y="-9532812"/>
            <a:ext cx="10627080" cy="10611814"/>
            <a:chOff x="0" y="0"/>
            <a:chExt cx="14169440" cy="14149085"/>
          </a:xfrm>
        </p:grpSpPr>
        <p:sp>
          <p:nvSpPr>
            <p:cNvPr id="4" name="Freeform 4"/>
            <p:cNvSpPr/>
            <p:nvPr/>
          </p:nvSpPr>
          <p:spPr>
            <a:xfrm>
              <a:off x="204851" y="60325"/>
              <a:ext cx="14169391" cy="14149197"/>
            </a:xfrm>
            <a:custGeom>
              <a:avLst/>
              <a:gdLst/>
              <a:ahLst/>
              <a:cxnLst/>
              <a:rect l="l" t="t" r="r" b="b"/>
              <a:pathLst>
                <a:path w="14169391" h="14149197">
                  <a:moveTo>
                    <a:pt x="14169389" y="7074027"/>
                  </a:moveTo>
                  <a:cubicBezTo>
                    <a:pt x="14169389" y="10981690"/>
                    <a:pt x="10996422" y="14149197"/>
                    <a:pt x="7084186" y="14149197"/>
                  </a:cubicBezTo>
                  <a:cubicBezTo>
                    <a:pt x="3171951" y="14149197"/>
                    <a:pt x="0" y="10981817"/>
                    <a:pt x="0" y="7074027"/>
                  </a:cubicBezTo>
                  <a:cubicBezTo>
                    <a:pt x="0" y="3167380"/>
                    <a:pt x="3171952" y="0"/>
                    <a:pt x="7084187" y="0"/>
                  </a:cubicBezTo>
                  <a:cubicBezTo>
                    <a:pt x="10996422" y="0"/>
                    <a:pt x="14169391" y="3167380"/>
                    <a:pt x="14169391" y="7074027"/>
                  </a:cubicBezTo>
                  <a:close/>
                </a:path>
              </a:pathLst>
            </a:custGeom>
            <a:solidFill>
              <a:srgbClr val="6BC1D1"/>
            </a:solidFill>
          </p:spPr>
        </p:sp>
      </p:grpSp>
      <p:grpSp>
        <p:nvGrpSpPr>
          <p:cNvPr id="5" name="Group 5"/>
          <p:cNvGrpSpPr/>
          <p:nvPr/>
        </p:nvGrpSpPr>
        <p:grpSpPr>
          <a:xfrm rot="-10800000">
            <a:off x="-1573192" y="8188726"/>
            <a:ext cx="3706708" cy="3701344"/>
            <a:chOff x="0" y="0"/>
            <a:chExt cx="4942277" cy="4935125"/>
          </a:xfrm>
        </p:grpSpPr>
        <p:sp>
          <p:nvSpPr>
            <p:cNvPr id="6" name="Freeform 6"/>
            <p:cNvSpPr/>
            <p:nvPr/>
          </p:nvSpPr>
          <p:spPr>
            <a:xfrm>
              <a:off x="71501" y="21082"/>
              <a:ext cx="4942205" cy="4935220"/>
            </a:xfrm>
            <a:custGeom>
              <a:avLst/>
              <a:gdLst/>
              <a:ahLst/>
              <a:cxnLst/>
              <a:rect l="l" t="t" r="r" b="b"/>
              <a:pathLst>
                <a:path w="4942205" h="4935220">
                  <a:moveTo>
                    <a:pt x="4942205" y="2467356"/>
                  </a:moveTo>
                  <a:cubicBezTo>
                    <a:pt x="4942205" y="3830320"/>
                    <a:pt x="3835527" y="4935220"/>
                    <a:pt x="2470912" y="4935220"/>
                  </a:cubicBezTo>
                  <a:cubicBezTo>
                    <a:pt x="1106297" y="4935220"/>
                    <a:pt x="0" y="3830320"/>
                    <a:pt x="0" y="2467356"/>
                  </a:cubicBezTo>
                  <a:cubicBezTo>
                    <a:pt x="0" y="1104773"/>
                    <a:pt x="1106297" y="0"/>
                    <a:pt x="2470912" y="0"/>
                  </a:cubicBezTo>
                  <a:cubicBezTo>
                    <a:pt x="3835527" y="0"/>
                    <a:pt x="4942205" y="1104773"/>
                    <a:pt x="4942205" y="2467356"/>
                  </a:cubicBezTo>
                  <a:close/>
                </a:path>
              </a:pathLst>
            </a:custGeom>
            <a:solidFill>
              <a:srgbClr val="B6E3F1"/>
            </a:solidFill>
          </p:spPr>
        </p:sp>
      </p:grpSp>
      <p:sp>
        <p:nvSpPr>
          <p:cNvPr id="7" name="Freeform 7"/>
          <p:cNvSpPr/>
          <p:nvPr/>
        </p:nvSpPr>
        <p:spPr>
          <a:xfrm>
            <a:off x="16117860" y="250198"/>
            <a:ext cx="1890441" cy="639834"/>
          </a:xfrm>
          <a:custGeom>
            <a:avLst/>
            <a:gdLst/>
            <a:ahLst/>
            <a:cxnLst/>
            <a:rect l="l" t="t" r="r" b="b"/>
            <a:pathLst>
              <a:path w="1890441" h="639834">
                <a:moveTo>
                  <a:pt x="0" y="0"/>
                </a:moveTo>
                <a:lnTo>
                  <a:pt x="1890441" y="0"/>
                </a:lnTo>
                <a:lnTo>
                  <a:pt x="1890441" y="639834"/>
                </a:lnTo>
                <a:lnTo>
                  <a:pt x="0" y="6398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rot="-10800000">
            <a:off x="2592876" y="9263530"/>
            <a:ext cx="391786" cy="391786"/>
            <a:chOff x="0" y="0"/>
            <a:chExt cx="522381" cy="522381"/>
          </a:xfrm>
        </p:grpSpPr>
        <p:sp>
          <p:nvSpPr>
            <p:cNvPr id="9" name="Freeform 9"/>
            <p:cNvSpPr/>
            <p:nvPr/>
          </p:nvSpPr>
          <p:spPr>
            <a:xfrm>
              <a:off x="0" y="0"/>
              <a:ext cx="522351" cy="522351"/>
            </a:xfrm>
            <a:custGeom>
              <a:avLst/>
              <a:gdLst/>
              <a:ahLst/>
              <a:cxnLst/>
              <a:rect l="l" t="t" r="r" b="b"/>
              <a:pathLst>
                <a:path w="522351" h="522351">
                  <a:moveTo>
                    <a:pt x="522351" y="176530"/>
                  </a:moveTo>
                  <a:lnTo>
                    <a:pt x="345821" y="176530"/>
                  </a:lnTo>
                  <a:lnTo>
                    <a:pt x="345821" y="0"/>
                  </a:lnTo>
                  <a:lnTo>
                    <a:pt x="176530" y="0"/>
                  </a:lnTo>
                  <a:lnTo>
                    <a:pt x="176530" y="176530"/>
                  </a:lnTo>
                  <a:lnTo>
                    <a:pt x="0" y="176530"/>
                  </a:lnTo>
                  <a:lnTo>
                    <a:pt x="0" y="345821"/>
                  </a:lnTo>
                  <a:lnTo>
                    <a:pt x="176530" y="345821"/>
                  </a:lnTo>
                  <a:lnTo>
                    <a:pt x="176530" y="522351"/>
                  </a:lnTo>
                  <a:lnTo>
                    <a:pt x="345821" y="522351"/>
                  </a:lnTo>
                  <a:lnTo>
                    <a:pt x="345821" y="345821"/>
                  </a:lnTo>
                  <a:lnTo>
                    <a:pt x="522351" y="345821"/>
                  </a:lnTo>
                  <a:close/>
                </a:path>
              </a:pathLst>
            </a:custGeom>
            <a:solidFill>
              <a:srgbClr val="B6E3F1"/>
            </a:solidFill>
          </p:spPr>
        </p:sp>
      </p:grpSp>
      <p:grpSp>
        <p:nvGrpSpPr>
          <p:cNvPr id="12" name="Group 12"/>
          <p:cNvGrpSpPr/>
          <p:nvPr/>
        </p:nvGrpSpPr>
        <p:grpSpPr>
          <a:xfrm rot="-10800000">
            <a:off x="1559630" y="9307878"/>
            <a:ext cx="373624" cy="373624"/>
            <a:chOff x="0" y="0"/>
            <a:chExt cx="498165" cy="498165"/>
          </a:xfrm>
        </p:grpSpPr>
        <p:sp>
          <p:nvSpPr>
            <p:cNvPr id="13" name="Freeform 13"/>
            <p:cNvSpPr/>
            <p:nvPr/>
          </p:nvSpPr>
          <p:spPr>
            <a:xfrm>
              <a:off x="0" y="0"/>
              <a:ext cx="498221" cy="498221"/>
            </a:xfrm>
            <a:custGeom>
              <a:avLst/>
              <a:gdLst/>
              <a:ahLst/>
              <a:cxnLst/>
              <a:rect l="l" t="t" r="r" b="b"/>
              <a:pathLst>
                <a:path w="498221" h="498221">
                  <a:moveTo>
                    <a:pt x="498221" y="168402"/>
                  </a:moveTo>
                  <a:lnTo>
                    <a:pt x="329819" y="168402"/>
                  </a:lnTo>
                  <a:lnTo>
                    <a:pt x="329819" y="0"/>
                  </a:lnTo>
                  <a:lnTo>
                    <a:pt x="168402" y="0"/>
                  </a:lnTo>
                  <a:lnTo>
                    <a:pt x="168402" y="168402"/>
                  </a:lnTo>
                  <a:lnTo>
                    <a:pt x="0" y="168402"/>
                  </a:lnTo>
                  <a:lnTo>
                    <a:pt x="0" y="329819"/>
                  </a:lnTo>
                  <a:lnTo>
                    <a:pt x="168402" y="329819"/>
                  </a:lnTo>
                  <a:lnTo>
                    <a:pt x="168402" y="498221"/>
                  </a:lnTo>
                  <a:lnTo>
                    <a:pt x="329819" y="498221"/>
                  </a:lnTo>
                  <a:lnTo>
                    <a:pt x="329819" y="329819"/>
                  </a:lnTo>
                  <a:lnTo>
                    <a:pt x="498221" y="329819"/>
                  </a:lnTo>
                  <a:close/>
                </a:path>
              </a:pathLst>
            </a:custGeom>
            <a:solidFill>
              <a:srgbClr val="6BC1D1"/>
            </a:solidFill>
          </p:spPr>
        </p:sp>
      </p:grpSp>
      <p:sp>
        <p:nvSpPr>
          <p:cNvPr id="15" name="Freeform 15"/>
          <p:cNvSpPr/>
          <p:nvPr/>
        </p:nvSpPr>
        <p:spPr>
          <a:xfrm>
            <a:off x="-574423" y="0"/>
            <a:ext cx="10969800" cy="1802867"/>
          </a:xfrm>
          <a:custGeom>
            <a:avLst/>
            <a:gdLst/>
            <a:ahLst/>
            <a:cxnLst/>
            <a:rect l="l" t="t" r="r" b="b"/>
            <a:pathLst>
              <a:path w="14626400" h="2403822">
                <a:moveTo>
                  <a:pt x="0" y="0"/>
                </a:moveTo>
                <a:lnTo>
                  <a:pt x="14626400" y="0"/>
                </a:lnTo>
                <a:lnTo>
                  <a:pt x="14626400" y="2403822"/>
                </a:lnTo>
                <a:lnTo>
                  <a:pt x="0" y="2403822"/>
                </a:lnTo>
                <a:close/>
              </a:path>
            </a:pathLst>
          </a:custGeom>
        </p:spPr>
      </p:sp>
      <p:sp>
        <p:nvSpPr>
          <p:cNvPr id="21" name="ZoneTexte 20">
            <a:extLst>
              <a:ext uri="{FF2B5EF4-FFF2-40B4-BE49-F238E27FC236}">
                <a16:creationId xmlns:a16="http://schemas.microsoft.com/office/drawing/2014/main" id="{B2D07953-4728-4992-9B7C-A58505233952}"/>
              </a:ext>
            </a:extLst>
          </p:cNvPr>
          <p:cNvSpPr txBox="1"/>
          <p:nvPr/>
        </p:nvSpPr>
        <p:spPr>
          <a:xfrm>
            <a:off x="737340" y="570115"/>
            <a:ext cx="9658037" cy="646331"/>
          </a:xfrm>
          <a:prstGeom prst="rect">
            <a:avLst/>
          </a:prstGeom>
          <a:noFill/>
        </p:spPr>
        <p:txBody>
          <a:bodyPr wrap="square" rtlCol="0">
            <a:spAutoFit/>
          </a:bodyPr>
          <a:lstStyle/>
          <a:p>
            <a:r>
              <a:rPr lang="fr-FR" sz="3600" b="1" i="1" dirty="0">
                <a:solidFill>
                  <a:srgbClr val="AB6659"/>
                </a:solidFill>
                <a:effectLst>
                  <a:outerShdw blurRad="38100" dist="38100" dir="2700000" algn="tl">
                    <a:srgbClr val="000000">
                      <a:alpha val="43137"/>
                    </a:srgbClr>
                  </a:outerShdw>
                </a:effectLst>
              </a:rPr>
              <a:t>C. </a:t>
            </a:r>
            <a:r>
              <a:rPr lang="fr-FR" sz="3600" b="1" i="1" dirty="0">
                <a:solidFill>
                  <a:schemeClr val="tx2">
                    <a:lumMod val="50000"/>
                  </a:schemeClr>
                </a:solidFill>
                <a:effectLst>
                  <a:outerShdw blurRad="38100" dist="38100" dir="2700000" algn="tl">
                    <a:srgbClr val="000000">
                      <a:alpha val="43137"/>
                    </a:srgbClr>
                  </a:outerShdw>
                </a:effectLst>
              </a:rPr>
              <a:t>Analyse des relations entre les variables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1000" fill="hold"/>
                                        <p:tgtEl>
                                          <p:spTgt spid="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ppt_x</p:attrName>
                                        </p:attrNameLst>
                                      </p:cBhvr>
                                      <p:tavLst>
                                        <p:tav tm="0">
                                          <p:val>
                                            <p:strVal val="#ppt_x"/>
                                          </p:val>
                                        </p:tav>
                                        <p:tav tm="100000">
                                          <p:val>
                                            <p:strVal val="#ppt_x"/>
                                          </p:val>
                                        </p:tav>
                                      </p:tavLst>
                                    </p:anim>
                                    <p:anim calcmode="lin" valueType="num">
                                      <p:cBhvr>
                                        <p:cTn id="5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grpSp>
        <p:nvGrpSpPr>
          <p:cNvPr id="3" name="Group 3"/>
          <p:cNvGrpSpPr/>
          <p:nvPr/>
        </p:nvGrpSpPr>
        <p:grpSpPr>
          <a:xfrm rot="-10800000">
            <a:off x="-3567570" y="-8111028"/>
            <a:ext cx="9203646" cy="9190030"/>
            <a:chOff x="0" y="0"/>
            <a:chExt cx="12271528" cy="12253373"/>
          </a:xfrm>
        </p:grpSpPr>
        <p:sp>
          <p:nvSpPr>
            <p:cNvPr id="4" name="Freeform 4"/>
            <p:cNvSpPr/>
            <p:nvPr/>
          </p:nvSpPr>
          <p:spPr>
            <a:xfrm>
              <a:off x="177419" y="52324"/>
              <a:ext cx="12271502" cy="12253468"/>
            </a:xfrm>
            <a:custGeom>
              <a:avLst/>
              <a:gdLst/>
              <a:ahLst/>
              <a:cxnLst/>
              <a:rect l="l" t="t" r="r" b="b"/>
              <a:pathLst>
                <a:path w="12271502" h="12253468">
                  <a:moveTo>
                    <a:pt x="12271502" y="6126226"/>
                  </a:moveTo>
                  <a:cubicBezTo>
                    <a:pt x="12271502" y="9510395"/>
                    <a:pt x="9523603" y="12253468"/>
                    <a:pt x="6135243" y="12253468"/>
                  </a:cubicBezTo>
                  <a:cubicBezTo>
                    <a:pt x="2746882" y="12253468"/>
                    <a:pt x="0" y="9510395"/>
                    <a:pt x="0" y="6126226"/>
                  </a:cubicBezTo>
                  <a:cubicBezTo>
                    <a:pt x="0" y="2742946"/>
                    <a:pt x="2747010" y="0"/>
                    <a:pt x="6135370" y="0"/>
                  </a:cubicBezTo>
                  <a:cubicBezTo>
                    <a:pt x="9523730" y="0"/>
                    <a:pt x="12271502" y="2742946"/>
                    <a:pt x="12271502" y="6126226"/>
                  </a:cubicBezTo>
                  <a:close/>
                </a:path>
              </a:pathLst>
            </a:custGeom>
            <a:solidFill>
              <a:srgbClr val="B6E3F1"/>
            </a:solidFill>
          </p:spPr>
        </p:sp>
      </p:grpSp>
      <p:sp>
        <p:nvSpPr>
          <p:cNvPr id="5" name="Freeform 5"/>
          <p:cNvSpPr/>
          <p:nvPr/>
        </p:nvSpPr>
        <p:spPr>
          <a:xfrm>
            <a:off x="15087600" y="5143500"/>
            <a:ext cx="3760922" cy="5175738"/>
          </a:xfrm>
          <a:custGeom>
            <a:avLst/>
            <a:gdLst/>
            <a:ahLst/>
            <a:cxnLst/>
            <a:rect l="l" t="t" r="r" b="b"/>
            <a:pathLst>
              <a:path w="6112442" h="8110936">
                <a:moveTo>
                  <a:pt x="0" y="0"/>
                </a:moveTo>
                <a:lnTo>
                  <a:pt x="6112442" y="0"/>
                </a:lnTo>
                <a:lnTo>
                  <a:pt x="6112442" y="8110936"/>
                </a:lnTo>
                <a:lnTo>
                  <a:pt x="0" y="81109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766280" y="5122563"/>
            <a:ext cx="10969800" cy="1109091"/>
          </a:xfrm>
          <a:custGeom>
            <a:avLst/>
            <a:gdLst/>
            <a:ahLst/>
            <a:cxnLst/>
            <a:rect l="l" t="t" r="r" b="b"/>
            <a:pathLst>
              <a:path w="14626400" h="1478788">
                <a:moveTo>
                  <a:pt x="0" y="0"/>
                </a:moveTo>
                <a:lnTo>
                  <a:pt x="14626400" y="0"/>
                </a:lnTo>
                <a:lnTo>
                  <a:pt x="14626400" y="1478788"/>
                </a:lnTo>
                <a:lnTo>
                  <a:pt x="0" y="1478788"/>
                </a:lnTo>
                <a:close/>
              </a:path>
            </a:pathLst>
          </a:custGeom>
        </p:spPr>
      </p:sp>
      <p:sp>
        <p:nvSpPr>
          <p:cNvPr id="21" name="ZoneTexte 20">
            <a:extLst>
              <a:ext uri="{FF2B5EF4-FFF2-40B4-BE49-F238E27FC236}">
                <a16:creationId xmlns:a16="http://schemas.microsoft.com/office/drawing/2014/main" id="{CF623735-04AD-441F-A0AC-7DFA79936F51}"/>
              </a:ext>
            </a:extLst>
          </p:cNvPr>
          <p:cNvSpPr txBox="1"/>
          <p:nvPr/>
        </p:nvSpPr>
        <p:spPr>
          <a:xfrm>
            <a:off x="3657600" y="571500"/>
            <a:ext cx="10969800" cy="646331"/>
          </a:xfrm>
          <a:prstGeom prst="rect">
            <a:avLst/>
          </a:prstGeom>
          <a:noFill/>
        </p:spPr>
        <p:txBody>
          <a:bodyPr wrap="square" rtlCol="0">
            <a:spAutoFit/>
          </a:bodyPr>
          <a:lstStyle/>
          <a:p>
            <a:r>
              <a:rPr lang="fr-FR" sz="3600" b="1" i="1" dirty="0">
                <a:solidFill>
                  <a:srgbClr val="AB6659"/>
                </a:solidFill>
                <a:effectLst>
                  <a:outerShdw blurRad="38100" dist="38100" dir="2700000" algn="tl">
                    <a:srgbClr val="000000">
                      <a:alpha val="43137"/>
                    </a:srgbClr>
                  </a:outerShdw>
                </a:effectLst>
              </a:rPr>
              <a:t>D. </a:t>
            </a:r>
            <a:r>
              <a:rPr lang="fr-FR" sz="3600" b="1" i="1" dirty="0">
                <a:solidFill>
                  <a:schemeClr val="tx2">
                    <a:lumMod val="50000"/>
                  </a:schemeClr>
                </a:solidFill>
                <a:effectLst>
                  <a:outerShdw blurRad="38100" dist="38100" dir="2700000" algn="tl">
                    <a:srgbClr val="000000">
                      <a:alpha val="43137"/>
                    </a:srgbClr>
                  </a:outerShdw>
                </a:effectLst>
              </a:rPr>
              <a:t>Visualisation</a:t>
            </a:r>
          </a:p>
        </p:txBody>
      </p:sp>
      <p:sp>
        <p:nvSpPr>
          <p:cNvPr id="22" name="ZoneTexte 21">
            <a:extLst>
              <a:ext uri="{FF2B5EF4-FFF2-40B4-BE49-F238E27FC236}">
                <a16:creationId xmlns:a16="http://schemas.microsoft.com/office/drawing/2014/main" id="{4894AA57-AF97-4121-BD6E-98F0B44AA9F5}"/>
              </a:ext>
            </a:extLst>
          </p:cNvPr>
          <p:cNvSpPr txBox="1"/>
          <p:nvPr/>
        </p:nvSpPr>
        <p:spPr>
          <a:xfrm>
            <a:off x="533400" y="1943100"/>
            <a:ext cx="10668000" cy="3970318"/>
          </a:xfrm>
          <a:prstGeom prst="rect">
            <a:avLst/>
          </a:prstGeom>
          <a:noFill/>
        </p:spPr>
        <p:txBody>
          <a:bodyPr wrap="square" rtlCol="0">
            <a:spAutoFit/>
          </a:bodyPr>
          <a:lstStyle/>
          <a:p>
            <a:r>
              <a:rPr lang="fr-FR" sz="3600" dirty="0">
                <a:solidFill>
                  <a:schemeClr val="tx2">
                    <a:lumMod val="50000"/>
                  </a:schemeClr>
                </a:solidFill>
              </a:rPr>
              <a:t>Les </a:t>
            </a:r>
            <a:r>
              <a:rPr lang="fr-FR" sz="3600" dirty="0" err="1">
                <a:solidFill>
                  <a:schemeClr val="tx2">
                    <a:lumMod val="50000"/>
                  </a:schemeClr>
                </a:solidFill>
              </a:rPr>
              <a:t>boxplots</a:t>
            </a:r>
            <a:r>
              <a:rPr lang="fr-FR" sz="3600" dirty="0">
                <a:solidFill>
                  <a:schemeClr val="tx2">
                    <a:lumMod val="50000"/>
                  </a:schemeClr>
                </a:solidFill>
              </a:rPr>
              <a:t> montrent des distributions plus hautes chez les diabétiques, la </a:t>
            </a:r>
            <a:r>
              <a:rPr lang="fr-FR" sz="3600" dirty="0" err="1">
                <a:solidFill>
                  <a:schemeClr val="tx2">
                    <a:lumMod val="50000"/>
                  </a:schemeClr>
                </a:solidFill>
              </a:rPr>
              <a:t>heatmap</a:t>
            </a:r>
            <a:r>
              <a:rPr lang="fr-FR" sz="3600" dirty="0">
                <a:solidFill>
                  <a:schemeClr val="tx2">
                    <a:lumMod val="50000"/>
                  </a:schemeClr>
                </a:solidFill>
              </a:rPr>
              <a:t> révèle une forte corrélation entre le glucose et le diabète, et la courbe ROC affiche une AUC autour de 0.75–0.80. Les graphiques confirment visuellement que le glucose et le BMI sont des variables importantes pour distinguer les diabétiques des non diabétiques.</a:t>
            </a:r>
          </a:p>
        </p:txBody>
      </p:sp>
      <p:pic>
        <p:nvPicPr>
          <p:cNvPr id="24" name="Image 23">
            <a:extLst>
              <a:ext uri="{FF2B5EF4-FFF2-40B4-BE49-F238E27FC236}">
                <a16:creationId xmlns:a16="http://schemas.microsoft.com/office/drawing/2014/main" id="{6BCFBD0D-6EF2-43B6-8B6B-3E2530D699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279" y="408825"/>
            <a:ext cx="5248666" cy="4151384"/>
          </a:xfrm>
          <a:prstGeom prst="rect">
            <a:avLst/>
          </a:prstGeom>
        </p:spPr>
      </p:pic>
      <p:pic>
        <p:nvPicPr>
          <p:cNvPr id="26" name="Image 25">
            <a:extLst>
              <a:ext uri="{FF2B5EF4-FFF2-40B4-BE49-F238E27FC236}">
                <a16:creationId xmlns:a16="http://schemas.microsoft.com/office/drawing/2014/main" id="{E884C1DE-E69C-45B8-A9B3-C3818DE1B6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56386" y="5347034"/>
            <a:ext cx="5157226" cy="4151384"/>
          </a:xfrm>
          <a:prstGeom prst="rect">
            <a:avLst/>
          </a:prstGeom>
        </p:spPr>
      </p:pic>
      <p:sp>
        <p:nvSpPr>
          <p:cNvPr id="27" name="ZoneTexte 26">
            <a:extLst>
              <a:ext uri="{FF2B5EF4-FFF2-40B4-BE49-F238E27FC236}">
                <a16:creationId xmlns:a16="http://schemas.microsoft.com/office/drawing/2014/main" id="{F50D564A-D12A-4191-825E-DD470AA58EFA}"/>
              </a:ext>
            </a:extLst>
          </p:cNvPr>
          <p:cNvSpPr txBox="1"/>
          <p:nvPr/>
        </p:nvSpPr>
        <p:spPr>
          <a:xfrm>
            <a:off x="533400" y="6700243"/>
            <a:ext cx="6629400" cy="2862322"/>
          </a:xfrm>
          <a:prstGeom prst="rect">
            <a:avLst/>
          </a:prstGeom>
          <a:noFill/>
        </p:spPr>
        <p:txBody>
          <a:bodyPr wrap="square" rtlCol="0">
            <a:spAutoFit/>
          </a:bodyPr>
          <a:lstStyle/>
          <a:p>
            <a:r>
              <a:rPr lang="fr-FR" sz="3600" b="1" i="1" dirty="0">
                <a:solidFill>
                  <a:schemeClr val="tx2">
                    <a:lumMod val="50000"/>
                  </a:schemeClr>
                </a:solidFill>
              </a:rPr>
              <a:t>Des </a:t>
            </a:r>
            <a:r>
              <a:rPr lang="fr-FR" sz="3600" b="1" i="1" dirty="0" err="1">
                <a:solidFill>
                  <a:schemeClr val="tx2">
                    <a:lumMod val="50000"/>
                  </a:schemeClr>
                </a:solidFill>
              </a:rPr>
              <a:t>outliers</a:t>
            </a:r>
            <a:r>
              <a:rPr lang="fr-FR" sz="3600" b="1" i="1" dirty="0">
                <a:solidFill>
                  <a:schemeClr val="tx2">
                    <a:lumMod val="50000"/>
                  </a:schemeClr>
                </a:solidFill>
              </a:rPr>
              <a:t> sont présents dans les deux variables, mais les patients diabétiques présentent globalement des valeurs plus élevées de glucose et de BMI.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1000"/>
                                        <p:tgtEl>
                                          <p:spTgt spid="24"/>
                                        </p:tgtEl>
                                      </p:cBhvr>
                                    </p:animEffect>
                                    <p:anim calcmode="lin" valueType="num">
                                      <p:cBhvr>
                                        <p:cTn id="33" dur="1000" fill="hold"/>
                                        <p:tgtEl>
                                          <p:spTgt spid="24"/>
                                        </p:tgtEl>
                                        <p:attrNameLst>
                                          <p:attrName>ppt_x</p:attrName>
                                        </p:attrNameLst>
                                      </p:cBhvr>
                                      <p:tavLst>
                                        <p:tav tm="0">
                                          <p:val>
                                            <p:strVal val="#ppt_x"/>
                                          </p:val>
                                        </p:tav>
                                        <p:tav tm="100000">
                                          <p:val>
                                            <p:strVal val="#ppt_x"/>
                                          </p:val>
                                        </p:tav>
                                      </p:tavLst>
                                    </p:anim>
                                    <p:anim calcmode="lin" valueType="num">
                                      <p:cBhvr>
                                        <p:cTn id="34" dur="1000" fill="hold"/>
                                        <p:tgtEl>
                                          <p:spTgt spid="2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1000"/>
                                        <p:tgtEl>
                                          <p:spTgt spid="26"/>
                                        </p:tgtEl>
                                      </p:cBhvr>
                                    </p:animEffect>
                                    <p:anim calcmode="lin" valueType="num">
                                      <p:cBhvr>
                                        <p:cTn id="38" dur="1000" fill="hold"/>
                                        <p:tgtEl>
                                          <p:spTgt spid="26"/>
                                        </p:tgtEl>
                                        <p:attrNameLst>
                                          <p:attrName>ppt_x</p:attrName>
                                        </p:attrNameLst>
                                      </p:cBhvr>
                                      <p:tavLst>
                                        <p:tav tm="0">
                                          <p:val>
                                            <p:strVal val="#ppt_x"/>
                                          </p:val>
                                        </p:tav>
                                        <p:tav tm="100000">
                                          <p:val>
                                            <p:strVal val="#ppt_x"/>
                                          </p:val>
                                        </p:tav>
                                      </p:tavLst>
                                    </p:anim>
                                    <p:anim calcmode="lin" valueType="num">
                                      <p:cBhvr>
                                        <p:cTn id="39" dur="1000" fill="hold"/>
                                        <p:tgtEl>
                                          <p:spTgt spid="2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1000"/>
                                        <p:tgtEl>
                                          <p:spTgt spid="27"/>
                                        </p:tgtEl>
                                      </p:cBhvr>
                                    </p:animEffect>
                                    <p:anim calcmode="lin" valueType="num">
                                      <p:cBhvr>
                                        <p:cTn id="43" dur="1000" fill="hold"/>
                                        <p:tgtEl>
                                          <p:spTgt spid="27"/>
                                        </p:tgtEl>
                                        <p:attrNameLst>
                                          <p:attrName>ppt_x</p:attrName>
                                        </p:attrNameLst>
                                      </p:cBhvr>
                                      <p:tavLst>
                                        <p:tav tm="0">
                                          <p:val>
                                            <p:strVal val="#ppt_x"/>
                                          </p:val>
                                        </p:tav>
                                        <p:tav tm="100000">
                                          <p:val>
                                            <p:strVal val="#ppt_x"/>
                                          </p:val>
                                        </p:tav>
                                      </p:tavLst>
                                    </p:anim>
                                    <p:anim calcmode="lin" valueType="num">
                                      <p:cBhvr>
                                        <p:cTn id="4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3" name="Freeform 3"/>
          <p:cNvSpPr/>
          <p:nvPr/>
        </p:nvSpPr>
        <p:spPr>
          <a:xfrm>
            <a:off x="13460134" y="8115300"/>
            <a:ext cx="9655732" cy="9190030"/>
          </a:xfrm>
          <a:custGeom>
            <a:avLst/>
            <a:gdLst/>
            <a:ahLst/>
            <a:cxnLst/>
            <a:rect l="l" t="t" r="r" b="b"/>
            <a:pathLst>
              <a:path w="9655732" h="9190030">
                <a:moveTo>
                  <a:pt x="0" y="0"/>
                </a:moveTo>
                <a:lnTo>
                  <a:pt x="9655732" y="0"/>
                </a:lnTo>
                <a:lnTo>
                  <a:pt x="9655732" y="9190030"/>
                </a:lnTo>
                <a:lnTo>
                  <a:pt x="0" y="9190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0185786" y="-3816118"/>
            <a:ext cx="1890441" cy="639834"/>
          </a:xfrm>
          <a:custGeom>
            <a:avLst/>
            <a:gdLst/>
            <a:ahLst/>
            <a:cxnLst/>
            <a:rect l="l" t="t" r="r" b="b"/>
            <a:pathLst>
              <a:path w="1890441" h="639834">
                <a:moveTo>
                  <a:pt x="0" y="0"/>
                </a:moveTo>
                <a:lnTo>
                  <a:pt x="1890441" y="0"/>
                </a:lnTo>
                <a:lnTo>
                  <a:pt x="1890441" y="639834"/>
                </a:lnTo>
                <a:lnTo>
                  <a:pt x="0" y="6398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800600" y="-8088530"/>
            <a:ext cx="9203646" cy="9190030"/>
          </a:xfrm>
          <a:custGeom>
            <a:avLst/>
            <a:gdLst/>
            <a:ahLst/>
            <a:cxnLst/>
            <a:rect l="l" t="t" r="r" b="b"/>
            <a:pathLst>
              <a:path w="9203646" h="9190030">
                <a:moveTo>
                  <a:pt x="0" y="0"/>
                </a:moveTo>
                <a:lnTo>
                  <a:pt x="9203646" y="0"/>
                </a:lnTo>
                <a:lnTo>
                  <a:pt x="9203646" y="9190030"/>
                </a:lnTo>
                <a:lnTo>
                  <a:pt x="0" y="9190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088242" y="-308550"/>
            <a:ext cx="3403762" cy="3175020"/>
          </a:xfrm>
          <a:custGeom>
            <a:avLst/>
            <a:gdLst/>
            <a:ahLst/>
            <a:cxnLst/>
            <a:rect l="l" t="t" r="r" b="b"/>
            <a:pathLst>
              <a:path w="3403762" h="3175020">
                <a:moveTo>
                  <a:pt x="0" y="0"/>
                </a:moveTo>
                <a:lnTo>
                  <a:pt x="3403762" y="0"/>
                </a:lnTo>
                <a:lnTo>
                  <a:pt x="3403762" y="3175020"/>
                </a:lnTo>
                <a:lnTo>
                  <a:pt x="0" y="317502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7" name="Group 7"/>
          <p:cNvGrpSpPr/>
          <p:nvPr/>
        </p:nvGrpSpPr>
        <p:grpSpPr>
          <a:xfrm rot="-10800000">
            <a:off x="17009312" y="1999374"/>
            <a:ext cx="1009304" cy="1009304"/>
            <a:chOff x="0" y="0"/>
            <a:chExt cx="1345739" cy="1345739"/>
          </a:xfrm>
        </p:grpSpPr>
        <p:sp>
          <p:nvSpPr>
            <p:cNvPr id="8" name="Freeform 8"/>
            <p:cNvSpPr/>
            <p:nvPr/>
          </p:nvSpPr>
          <p:spPr>
            <a:xfrm>
              <a:off x="0" y="0"/>
              <a:ext cx="1345692" cy="1345692"/>
            </a:xfrm>
            <a:custGeom>
              <a:avLst/>
              <a:gdLst/>
              <a:ahLst/>
              <a:cxnLst/>
              <a:rect l="l" t="t" r="r" b="b"/>
              <a:pathLst>
                <a:path w="1345692" h="1345692">
                  <a:moveTo>
                    <a:pt x="0" y="454787"/>
                  </a:moveTo>
                  <a:lnTo>
                    <a:pt x="454787" y="454787"/>
                  </a:lnTo>
                  <a:lnTo>
                    <a:pt x="454787" y="0"/>
                  </a:lnTo>
                  <a:lnTo>
                    <a:pt x="890905" y="0"/>
                  </a:lnTo>
                  <a:lnTo>
                    <a:pt x="890905" y="454787"/>
                  </a:lnTo>
                  <a:lnTo>
                    <a:pt x="1345692" y="454787"/>
                  </a:lnTo>
                  <a:lnTo>
                    <a:pt x="1345692" y="890905"/>
                  </a:lnTo>
                  <a:lnTo>
                    <a:pt x="890905" y="890905"/>
                  </a:lnTo>
                  <a:lnTo>
                    <a:pt x="890905" y="1345692"/>
                  </a:lnTo>
                  <a:lnTo>
                    <a:pt x="454787" y="1345692"/>
                  </a:lnTo>
                  <a:lnTo>
                    <a:pt x="454787" y="890905"/>
                  </a:lnTo>
                  <a:lnTo>
                    <a:pt x="0" y="890905"/>
                  </a:lnTo>
                  <a:close/>
                </a:path>
              </a:pathLst>
            </a:custGeom>
            <a:solidFill>
              <a:srgbClr val="6BC1D1"/>
            </a:solidFill>
          </p:spPr>
        </p:sp>
      </p:grpSp>
      <p:grpSp>
        <p:nvGrpSpPr>
          <p:cNvPr id="9" name="Group 9"/>
          <p:cNvGrpSpPr/>
          <p:nvPr/>
        </p:nvGrpSpPr>
        <p:grpSpPr>
          <a:xfrm rot="-10800000">
            <a:off x="16519774" y="1079808"/>
            <a:ext cx="398272" cy="398272"/>
            <a:chOff x="0" y="0"/>
            <a:chExt cx="531029" cy="531029"/>
          </a:xfrm>
        </p:grpSpPr>
        <p:sp>
          <p:nvSpPr>
            <p:cNvPr id="10" name="Freeform 10"/>
            <p:cNvSpPr/>
            <p:nvPr/>
          </p:nvSpPr>
          <p:spPr>
            <a:xfrm>
              <a:off x="0" y="0"/>
              <a:ext cx="530987" cy="530987"/>
            </a:xfrm>
            <a:custGeom>
              <a:avLst/>
              <a:gdLst/>
              <a:ahLst/>
              <a:cxnLst/>
              <a:rect l="l" t="t" r="r" b="b"/>
              <a:pathLst>
                <a:path w="530987" h="530987">
                  <a:moveTo>
                    <a:pt x="0" y="179451"/>
                  </a:moveTo>
                  <a:lnTo>
                    <a:pt x="179451" y="179451"/>
                  </a:lnTo>
                  <a:lnTo>
                    <a:pt x="179451" y="0"/>
                  </a:lnTo>
                  <a:lnTo>
                    <a:pt x="351536" y="0"/>
                  </a:lnTo>
                  <a:lnTo>
                    <a:pt x="351536" y="179451"/>
                  </a:lnTo>
                  <a:lnTo>
                    <a:pt x="530987" y="179451"/>
                  </a:lnTo>
                  <a:lnTo>
                    <a:pt x="530987" y="351536"/>
                  </a:lnTo>
                  <a:lnTo>
                    <a:pt x="351536" y="351536"/>
                  </a:lnTo>
                  <a:lnTo>
                    <a:pt x="351536" y="530987"/>
                  </a:lnTo>
                  <a:lnTo>
                    <a:pt x="179451" y="530987"/>
                  </a:lnTo>
                  <a:lnTo>
                    <a:pt x="179451" y="351536"/>
                  </a:lnTo>
                  <a:lnTo>
                    <a:pt x="0" y="351536"/>
                  </a:lnTo>
                  <a:close/>
                </a:path>
              </a:pathLst>
            </a:custGeom>
            <a:solidFill>
              <a:srgbClr val="B6E3F1"/>
            </a:solidFill>
          </p:spPr>
        </p:sp>
      </p:grpSp>
      <p:grpSp>
        <p:nvGrpSpPr>
          <p:cNvPr id="11" name="Group 11"/>
          <p:cNvGrpSpPr/>
          <p:nvPr/>
        </p:nvGrpSpPr>
        <p:grpSpPr>
          <a:xfrm rot="-10800000">
            <a:off x="17379044" y="0"/>
            <a:ext cx="639572" cy="639572"/>
            <a:chOff x="0" y="0"/>
            <a:chExt cx="852763" cy="852763"/>
          </a:xfrm>
        </p:grpSpPr>
        <p:sp>
          <p:nvSpPr>
            <p:cNvPr id="12" name="Freeform 12"/>
            <p:cNvSpPr/>
            <p:nvPr/>
          </p:nvSpPr>
          <p:spPr>
            <a:xfrm>
              <a:off x="0" y="0"/>
              <a:ext cx="852805" cy="852805"/>
            </a:xfrm>
            <a:custGeom>
              <a:avLst/>
              <a:gdLst/>
              <a:ahLst/>
              <a:cxnLst/>
              <a:rect l="l" t="t" r="r" b="b"/>
              <a:pathLst>
                <a:path w="852805" h="852805">
                  <a:moveTo>
                    <a:pt x="0" y="288163"/>
                  </a:moveTo>
                  <a:lnTo>
                    <a:pt x="288163" y="288163"/>
                  </a:lnTo>
                  <a:lnTo>
                    <a:pt x="288163" y="0"/>
                  </a:lnTo>
                  <a:lnTo>
                    <a:pt x="564515" y="0"/>
                  </a:lnTo>
                  <a:lnTo>
                    <a:pt x="564515" y="288163"/>
                  </a:lnTo>
                  <a:lnTo>
                    <a:pt x="852805" y="288163"/>
                  </a:lnTo>
                  <a:lnTo>
                    <a:pt x="852805" y="564515"/>
                  </a:lnTo>
                  <a:lnTo>
                    <a:pt x="564515" y="564515"/>
                  </a:lnTo>
                  <a:lnTo>
                    <a:pt x="564515" y="852805"/>
                  </a:lnTo>
                  <a:lnTo>
                    <a:pt x="288163" y="852805"/>
                  </a:lnTo>
                  <a:lnTo>
                    <a:pt x="288163" y="564515"/>
                  </a:lnTo>
                  <a:lnTo>
                    <a:pt x="0" y="564515"/>
                  </a:lnTo>
                  <a:close/>
                </a:path>
              </a:pathLst>
            </a:custGeom>
            <a:solidFill>
              <a:srgbClr val="B6E3F1"/>
            </a:solidFill>
          </p:spPr>
        </p:sp>
      </p:grpSp>
      <p:sp>
        <p:nvSpPr>
          <p:cNvPr id="14" name="Freeform 14"/>
          <p:cNvSpPr/>
          <p:nvPr/>
        </p:nvSpPr>
        <p:spPr>
          <a:xfrm>
            <a:off x="3222791" y="3292356"/>
            <a:ext cx="2110562" cy="1851144"/>
          </a:xfrm>
          <a:custGeom>
            <a:avLst/>
            <a:gdLst/>
            <a:ahLst/>
            <a:cxnLst/>
            <a:rect l="l" t="t" r="r" b="b"/>
            <a:pathLst>
              <a:path w="2814083" h="2468192">
                <a:moveTo>
                  <a:pt x="0" y="0"/>
                </a:moveTo>
                <a:lnTo>
                  <a:pt x="2814083" y="0"/>
                </a:lnTo>
                <a:lnTo>
                  <a:pt x="2814083" y="2468192"/>
                </a:lnTo>
                <a:lnTo>
                  <a:pt x="0" y="2468192"/>
                </a:lnTo>
                <a:close/>
              </a:path>
            </a:pathLst>
          </a:custGeom>
        </p:spPr>
      </p:sp>
      <p:sp>
        <p:nvSpPr>
          <p:cNvPr id="20" name="ZoneTexte 19">
            <a:extLst>
              <a:ext uri="{FF2B5EF4-FFF2-40B4-BE49-F238E27FC236}">
                <a16:creationId xmlns:a16="http://schemas.microsoft.com/office/drawing/2014/main" id="{4A3C3D3C-55E7-498B-A3DE-3D7CF912302F}"/>
              </a:ext>
            </a:extLst>
          </p:cNvPr>
          <p:cNvSpPr txBox="1"/>
          <p:nvPr/>
        </p:nvSpPr>
        <p:spPr>
          <a:xfrm>
            <a:off x="838200" y="946808"/>
            <a:ext cx="13792200" cy="923330"/>
          </a:xfrm>
          <a:prstGeom prst="rect">
            <a:avLst/>
          </a:prstGeom>
          <a:noFill/>
        </p:spPr>
        <p:txBody>
          <a:bodyPr wrap="square" rtlCol="0">
            <a:spAutoFit/>
          </a:bodyPr>
          <a:lstStyle/>
          <a:p>
            <a:r>
              <a:rPr lang="fr-FR" sz="5400" b="1" i="1" dirty="0">
                <a:solidFill>
                  <a:srgbClr val="AB6659"/>
                </a:solidFill>
                <a:effectLst>
                  <a:outerShdw blurRad="38100" dist="38100" dir="2700000" algn="tl">
                    <a:srgbClr val="000000">
                      <a:alpha val="43137"/>
                    </a:srgbClr>
                  </a:outerShdw>
                </a:effectLst>
              </a:rPr>
              <a:t>04. </a:t>
            </a:r>
            <a:r>
              <a:rPr lang="fr-FR" sz="5400" b="1" i="1" dirty="0">
                <a:solidFill>
                  <a:schemeClr val="tx2">
                    <a:lumMod val="50000"/>
                  </a:schemeClr>
                </a:solidFill>
                <a:effectLst>
                  <a:outerShdw blurRad="38100" dist="38100" dir="2700000" algn="tl">
                    <a:srgbClr val="000000">
                      <a:alpha val="43137"/>
                    </a:srgbClr>
                  </a:outerShdw>
                </a:effectLst>
              </a:rPr>
              <a:t>Analyse statistique</a:t>
            </a:r>
          </a:p>
        </p:txBody>
      </p:sp>
      <p:sp>
        <p:nvSpPr>
          <p:cNvPr id="21" name="ZoneTexte 20">
            <a:extLst>
              <a:ext uri="{FF2B5EF4-FFF2-40B4-BE49-F238E27FC236}">
                <a16:creationId xmlns:a16="http://schemas.microsoft.com/office/drawing/2014/main" id="{6AD88F34-301B-48E2-98F7-B0D6324714CF}"/>
              </a:ext>
            </a:extLst>
          </p:cNvPr>
          <p:cNvSpPr txBox="1"/>
          <p:nvPr/>
        </p:nvSpPr>
        <p:spPr>
          <a:xfrm>
            <a:off x="269384" y="1999409"/>
            <a:ext cx="11160616" cy="646331"/>
          </a:xfrm>
          <a:prstGeom prst="rect">
            <a:avLst/>
          </a:prstGeom>
          <a:noFill/>
        </p:spPr>
        <p:txBody>
          <a:bodyPr wrap="square" rtlCol="0">
            <a:spAutoFit/>
          </a:bodyPr>
          <a:lstStyle/>
          <a:p>
            <a:r>
              <a:rPr lang="fr-FR" sz="3600" b="1" i="1" u="sng" dirty="0">
                <a:solidFill>
                  <a:schemeClr val="tx2">
                    <a:lumMod val="75000"/>
                  </a:schemeClr>
                </a:solidFill>
                <a:effectLst>
                  <a:outerShdw blurRad="38100" dist="38100" dir="2700000" algn="tl">
                    <a:srgbClr val="000000">
                      <a:alpha val="43137"/>
                    </a:srgbClr>
                  </a:outerShdw>
                </a:effectLst>
              </a:rPr>
              <a:t>T-test et comparaison des valeurs:</a:t>
            </a:r>
          </a:p>
        </p:txBody>
      </p:sp>
      <p:sp>
        <p:nvSpPr>
          <p:cNvPr id="22" name="ZoneTexte 21">
            <a:extLst>
              <a:ext uri="{FF2B5EF4-FFF2-40B4-BE49-F238E27FC236}">
                <a16:creationId xmlns:a16="http://schemas.microsoft.com/office/drawing/2014/main" id="{091D8C92-BFC2-4182-9696-6274ABED19EC}"/>
              </a:ext>
            </a:extLst>
          </p:cNvPr>
          <p:cNvSpPr txBox="1"/>
          <p:nvPr/>
        </p:nvSpPr>
        <p:spPr>
          <a:xfrm>
            <a:off x="269384" y="3292356"/>
            <a:ext cx="9408016" cy="4524315"/>
          </a:xfrm>
          <a:prstGeom prst="rect">
            <a:avLst/>
          </a:prstGeom>
          <a:noFill/>
        </p:spPr>
        <p:txBody>
          <a:bodyPr wrap="square" rtlCol="0">
            <a:spAutoFit/>
          </a:bodyPr>
          <a:lstStyle/>
          <a:p>
            <a:r>
              <a:rPr lang="fr-FR" sz="3200" b="0" i="0" dirty="0">
                <a:solidFill>
                  <a:schemeClr val="tx2">
                    <a:lumMod val="75000"/>
                  </a:schemeClr>
                </a:solidFill>
                <a:effectLst/>
              </a:rPr>
              <a:t> Le test t montre que les p-values pour le glucose et le BMI sont inférieures à 0.05. On rejette l’hypothèse nulle et on conclut que le glucose et le BMI influencent significativement le diabète.</a:t>
            </a:r>
          </a:p>
          <a:p>
            <a:endParaRPr lang="fr-FR" sz="3200" dirty="0">
              <a:solidFill>
                <a:schemeClr val="tx2">
                  <a:lumMod val="75000"/>
                </a:schemeClr>
              </a:solidFill>
            </a:endParaRPr>
          </a:p>
          <a:p>
            <a:r>
              <a:rPr lang="fr-FR" sz="3200" b="0" i="0" dirty="0">
                <a:solidFill>
                  <a:schemeClr val="tx2">
                    <a:lumMod val="75000"/>
                  </a:schemeClr>
                </a:solidFill>
                <a:effectLst/>
              </a:rPr>
              <a:t>Les diabétiques présentent un glucose moyen et un BMI moyen plus élevés que les non diabétiques. Cela confirme que l’hyperglycémie et le surpoids sont des facteurs de risque majeurs.</a:t>
            </a:r>
            <a:endParaRPr lang="fr-FR" sz="3200" dirty="0">
              <a:solidFill>
                <a:schemeClr val="tx2">
                  <a:lumMod val="75000"/>
                </a:schemeClr>
              </a:solidFill>
            </a:endParaRPr>
          </a:p>
        </p:txBody>
      </p:sp>
      <p:pic>
        <p:nvPicPr>
          <p:cNvPr id="24" name="Image 23">
            <a:extLst>
              <a:ext uri="{FF2B5EF4-FFF2-40B4-BE49-F238E27FC236}">
                <a16:creationId xmlns:a16="http://schemas.microsoft.com/office/drawing/2014/main" id="{85F5E38D-F871-429F-AAB7-4554A2EE4DC5}"/>
              </a:ext>
            </a:extLst>
          </p:cNvPr>
          <p:cNvPicPr>
            <a:picLocks noChangeAspect="1"/>
          </p:cNvPicPr>
          <p:nvPr/>
        </p:nvPicPr>
        <p:blipFill>
          <a:blip r:embed="rId11"/>
          <a:stretch>
            <a:fillRect/>
          </a:stretch>
        </p:blipFill>
        <p:spPr>
          <a:xfrm>
            <a:off x="10466954" y="4057762"/>
            <a:ext cx="6912059" cy="12511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1000"/>
                                        <p:tgtEl>
                                          <p:spTgt spid="21"/>
                                        </p:tgtEl>
                                      </p:cBhvr>
                                    </p:animEffect>
                                    <p:anim calcmode="lin" valueType="num">
                                      <p:cBhvr>
                                        <p:cTn id="53" dur="1000" fill="hold"/>
                                        <p:tgtEl>
                                          <p:spTgt spid="21"/>
                                        </p:tgtEl>
                                        <p:attrNameLst>
                                          <p:attrName>ppt_x</p:attrName>
                                        </p:attrNameLst>
                                      </p:cBhvr>
                                      <p:tavLst>
                                        <p:tav tm="0">
                                          <p:val>
                                            <p:strVal val="#ppt_x"/>
                                          </p:val>
                                        </p:tav>
                                        <p:tav tm="100000">
                                          <p:val>
                                            <p:strVal val="#ppt_x"/>
                                          </p:val>
                                        </p:tav>
                                      </p:tavLst>
                                    </p:anim>
                                    <p:anim calcmode="lin" valueType="num">
                                      <p:cBhvr>
                                        <p:cTn id="54" dur="1000" fill="hold"/>
                                        <p:tgtEl>
                                          <p:spTgt spid="2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1000"/>
                                        <p:tgtEl>
                                          <p:spTgt spid="24"/>
                                        </p:tgtEl>
                                      </p:cBhvr>
                                    </p:animEffect>
                                    <p:anim calcmode="lin" valueType="num">
                                      <p:cBhvr>
                                        <p:cTn id="63" dur="1000" fill="hold"/>
                                        <p:tgtEl>
                                          <p:spTgt spid="24"/>
                                        </p:tgtEl>
                                        <p:attrNameLst>
                                          <p:attrName>ppt_x</p:attrName>
                                        </p:attrNameLst>
                                      </p:cBhvr>
                                      <p:tavLst>
                                        <p:tav tm="0">
                                          <p:val>
                                            <p:strVal val="#ppt_x"/>
                                          </p:val>
                                        </p:tav>
                                        <p:tav tm="100000">
                                          <p:val>
                                            <p:strVal val="#ppt_x"/>
                                          </p:val>
                                        </p:tav>
                                      </p:tavLst>
                                    </p:anim>
                                    <p:anim calcmode="lin" valueType="num">
                                      <p:cBhvr>
                                        <p:cTn id="6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10185786" y="-3816118"/>
            <a:ext cx="1890441" cy="639834"/>
          </a:xfrm>
          <a:custGeom>
            <a:avLst/>
            <a:gdLst/>
            <a:ahLst/>
            <a:cxnLst/>
            <a:rect l="l" t="t" r="r" b="b"/>
            <a:pathLst>
              <a:path w="1890441" h="639834">
                <a:moveTo>
                  <a:pt x="0" y="0"/>
                </a:moveTo>
                <a:lnTo>
                  <a:pt x="1890441" y="0"/>
                </a:lnTo>
                <a:lnTo>
                  <a:pt x="1890441" y="639834"/>
                </a:lnTo>
                <a:lnTo>
                  <a:pt x="0" y="6398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215273" y="-507702"/>
            <a:ext cx="2737208" cy="2553260"/>
          </a:xfrm>
          <a:custGeom>
            <a:avLst/>
            <a:gdLst/>
            <a:ahLst/>
            <a:cxnLst/>
            <a:rect l="l" t="t" r="r" b="b"/>
            <a:pathLst>
              <a:path w="2737208" h="2553260">
                <a:moveTo>
                  <a:pt x="0" y="0"/>
                </a:moveTo>
                <a:lnTo>
                  <a:pt x="2737208" y="0"/>
                </a:lnTo>
                <a:lnTo>
                  <a:pt x="2737208" y="2553260"/>
                </a:lnTo>
                <a:lnTo>
                  <a:pt x="0" y="25532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rot="-10800000">
            <a:off x="16797748" y="2283050"/>
            <a:ext cx="1009304" cy="1009304"/>
            <a:chOff x="0" y="0"/>
            <a:chExt cx="1345739" cy="1345739"/>
          </a:xfrm>
        </p:grpSpPr>
        <p:sp>
          <p:nvSpPr>
            <p:cNvPr id="5" name="Freeform 5"/>
            <p:cNvSpPr/>
            <p:nvPr/>
          </p:nvSpPr>
          <p:spPr>
            <a:xfrm>
              <a:off x="0" y="0"/>
              <a:ext cx="1345692" cy="1345692"/>
            </a:xfrm>
            <a:custGeom>
              <a:avLst/>
              <a:gdLst/>
              <a:ahLst/>
              <a:cxnLst/>
              <a:rect l="l" t="t" r="r" b="b"/>
              <a:pathLst>
                <a:path w="1345692" h="1345692">
                  <a:moveTo>
                    <a:pt x="0" y="454787"/>
                  </a:moveTo>
                  <a:lnTo>
                    <a:pt x="454787" y="454787"/>
                  </a:lnTo>
                  <a:lnTo>
                    <a:pt x="454787" y="0"/>
                  </a:lnTo>
                  <a:lnTo>
                    <a:pt x="890905" y="0"/>
                  </a:lnTo>
                  <a:lnTo>
                    <a:pt x="890905" y="454787"/>
                  </a:lnTo>
                  <a:lnTo>
                    <a:pt x="1345692" y="454787"/>
                  </a:lnTo>
                  <a:lnTo>
                    <a:pt x="1345692" y="890905"/>
                  </a:lnTo>
                  <a:lnTo>
                    <a:pt x="890905" y="890905"/>
                  </a:lnTo>
                  <a:lnTo>
                    <a:pt x="890905" y="1345692"/>
                  </a:lnTo>
                  <a:lnTo>
                    <a:pt x="454787" y="1345692"/>
                  </a:lnTo>
                  <a:lnTo>
                    <a:pt x="454787" y="890905"/>
                  </a:lnTo>
                  <a:lnTo>
                    <a:pt x="0" y="890905"/>
                  </a:lnTo>
                  <a:close/>
                </a:path>
              </a:pathLst>
            </a:custGeom>
            <a:solidFill>
              <a:srgbClr val="6BC1D1"/>
            </a:solidFill>
          </p:spPr>
        </p:sp>
      </p:grpSp>
      <p:grpSp>
        <p:nvGrpSpPr>
          <p:cNvPr id="6" name="Group 6"/>
          <p:cNvGrpSpPr/>
          <p:nvPr/>
        </p:nvGrpSpPr>
        <p:grpSpPr>
          <a:xfrm rot="-10800000">
            <a:off x="16140300" y="1398878"/>
            <a:ext cx="398272" cy="398272"/>
            <a:chOff x="0" y="0"/>
            <a:chExt cx="531029" cy="531029"/>
          </a:xfrm>
        </p:grpSpPr>
        <p:sp>
          <p:nvSpPr>
            <p:cNvPr id="7" name="Freeform 7"/>
            <p:cNvSpPr/>
            <p:nvPr/>
          </p:nvSpPr>
          <p:spPr>
            <a:xfrm>
              <a:off x="0" y="0"/>
              <a:ext cx="530987" cy="530987"/>
            </a:xfrm>
            <a:custGeom>
              <a:avLst/>
              <a:gdLst/>
              <a:ahLst/>
              <a:cxnLst/>
              <a:rect l="l" t="t" r="r" b="b"/>
              <a:pathLst>
                <a:path w="530987" h="530987">
                  <a:moveTo>
                    <a:pt x="0" y="179451"/>
                  </a:moveTo>
                  <a:lnTo>
                    <a:pt x="179451" y="179451"/>
                  </a:lnTo>
                  <a:lnTo>
                    <a:pt x="179451" y="0"/>
                  </a:lnTo>
                  <a:lnTo>
                    <a:pt x="351536" y="0"/>
                  </a:lnTo>
                  <a:lnTo>
                    <a:pt x="351536" y="179451"/>
                  </a:lnTo>
                  <a:lnTo>
                    <a:pt x="530987" y="179451"/>
                  </a:lnTo>
                  <a:lnTo>
                    <a:pt x="530987" y="351536"/>
                  </a:lnTo>
                  <a:lnTo>
                    <a:pt x="351536" y="351536"/>
                  </a:lnTo>
                  <a:lnTo>
                    <a:pt x="351536" y="530987"/>
                  </a:lnTo>
                  <a:lnTo>
                    <a:pt x="179451" y="530987"/>
                  </a:lnTo>
                  <a:lnTo>
                    <a:pt x="179451" y="351536"/>
                  </a:lnTo>
                  <a:lnTo>
                    <a:pt x="0" y="351536"/>
                  </a:lnTo>
                  <a:close/>
                </a:path>
              </a:pathLst>
            </a:custGeom>
            <a:solidFill>
              <a:srgbClr val="B6E3F1"/>
            </a:solidFill>
          </p:spPr>
        </p:sp>
      </p:grpSp>
      <p:grpSp>
        <p:nvGrpSpPr>
          <p:cNvPr id="8" name="Group 8"/>
          <p:cNvGrpSpPr/>
          <p:nvPr/>
        </p:nvGrpSpPr>
        <p:grpSpPr>
          <a:xfrm rot="-10800000">
            <a:off x="17194194" y="440236"/>
            <a:ext cx="639572" cy="639572"/>
            <a:chOff x="0" y="0"/>
            <a:chExt cx="852763" cy="852763"/>
          </a:xfrm>
        </p:grpSpPr>
        <p:sp>
          <p:nvSpPr>
            <p:cNvPr id="9" name="Freeform 9"/>
            <p:cNvSpPr/>
            <p:nvPr/>
          </p:nvSpPr>
          <p:spPr>
            <a:xfrm>
              <a:off x="0" y="0"/>
              <a:ext cx="852805" cy="852805"/>
            </a:xfrm>
            <a:custGeom>
              <a:avLst/>
              <a:gdLst/>
              <a:ahLst/>
              <a:cxnLst/>
              <a:rect l="l" t="t" r="r" b="b"/>
              <a:pathLst>
                <a:path w="852805" h="852805">
                  <a:moveTo>
                    <a:pt x="0" y="288163"/>
                  </a:moveTo>
                  <a:lnTo>
                    <a:pt x="288163" y="288163"/>
                  </a:lnTo>
                  <a:lnTo>
                    <a:pt x="288163" y="0"/>
                  </a:lnTo>
                  <a:lnTo>
                    <a:pt x="564515" y="0"/>
                  </a:lnTo>
                  <a:lnTo>
                    <a:pt x="564515" y="288163"/>
                  </a:lnTo>
                  <a:lnTo>
                    <a:pt x="852805" y="288163"/>
                  </a:lnTo>
                  <a:lnTo>
                    <a:pt x="852805" y="564515"/>
                  </a:lnTo>
                  <a:lnTo>
                    <a:pt x="564515" y="564515"/>
                  </a:lnTo>
                  <a:lnTo>
                    <a:pt x="564515" y="852805"/>
                  </a:lnTo>
                  <a:lnTo>
                    <a:pt x="288163" y="852805"/>
                  </a:lnTo>
                  <a:lnTo>
                    <a:pt x="288163" y="564515"/>
                  </a:lnTo>
                  <a:lnTo>
                    <a:pt x="0" y="564515"/>
                  </a:lnTo>
                  <a:close/>
                </a:path>
              </a:pathLst>
            </a:custGeom>
            <a:solidFill>
              <a:srgbClr val="B6E3F1"/>
            </a:solidFill>
          </p:spPr>
        </p:sp>
      </p:grpSp>
      <p:sp>
        <p:nvSpPr>
          <p:cNvPr id="11" name="Freeform 11"/>
          <p:cNvSpPr/>
          <p:nvPr/>
        </p:nvSpPr>
        <p:spPr>
          <a:xfrm>
            <a:off x="2461440" y="241100"/>
            <a:ext cx="7909116" cy="1157778"/>
          </a:xfrm>
          <a:custGeom>
            <a:avLst/>
            <a:gdLst/>
            <a:ahLst/>
            <a:cxnLst/>
            <a:rect l="l" t="t" r="r" b="b"/>
            <a:pathLst>
              <a:path w="10545488" h="1543704">
                <a:moveTo>
                  <a:pt x="0" y="0"/>
                </a:moveTo>
                <a:lnTo>
                  <a:pt x="10545488" y="0"/>
                </a:lnTo>
                <a:lnTo>
                  <a:pt x="10545488" y="1543704"/>
                </a:lnTo>
                <a:lnTo>
                  <a:pt x="0" y="1543704"/>
                </a:lnTo>
                <a:close/>
              </a:path>
            </a:pathLst>
          </a:custGeom>
        </p:spPr>
      </p:sp>
      <p:sp>
        <p:nvSpPr>
          <p:cNvPr id="14" name="ZoneTexte 13">
            <a:extLst>
              <a:ext uri="{FF2B5EF4-FFF2-40B4-BE49-F238E27FC236}">
                <a16:creationId xmlns:a16="http://schemas.microsoft.com/office/drawing/2014/main" id="{FFCC2D35-99D8-4E45-B474-200473F17847}"/>
              </a:ext>
            </a:extLst>
          </p:cNvPr>
          <p:cNvSpPr txBox="1"/>
          <p:nvPr/>
        </p:nvSpPr>
        <p:spPr>
          <a:xfrm>
            <a:off x="3251453" y="173943"/>
            <a:ext cx="12702360" cy="646331"/>
          </a:xfrm>
          <a:prstGeom prst="rect">
            <a:avLst/>
          </a:prstGeom>
          <a:noFill/>
        </p:spPr>
        <p:txBody>
          <a:bodyPr wrap="square" rtlCol="0">
            <a:spAutoFit/>
          </a:bodyPr>
          <a:lstStyle/>
          <a:p>
            <a:r>
              <a:rPr lang="fr-FR" sz="3600" b="1" i="1" u="sng" dirty="0">
                <a:solidFill>
                  <a:schemeClr val="tx2">
                    <a:lumMod val="75000"/>
                  </a:schemeClr>
                </a:solidFill>
                <a:effectLst>
                  <a:outerShdw blurRad="38100" dist="38100" dir="2700000" algn="tl">
                    <a:srgbClr val="000000">
                      <a:alpha val="43137"/>
                    </a:srgbClr>
                  </a:outerShdw>
                </a:effectLst>
              </a:rPr>
              <a:t>Grosses et l’Âge:</a:t>
            </a:r>
          </a:p>
        </p:txBody>
      </p:sp>
      <p:sp>
        <p:nvSpPr>
          <p:cNvPr id="15" name="ZoneTexte 14">
            <a:extLst>
              <a:ext uri="{FF2B5EF4-FFF2-40B4-BE49-F238E27FC236}">
                <a16:creationId xmlns:a16="http://schemas.microsoft.com/office/drawing/2014/main" id="{1030A6CA-0745-44A6-B305-2A3684770728}"/>
              </a:ext>
            </a:extLst>
          </p:cNvPr>
          <p:cNvSpPr txBox="1"/>
          <p:nvPr/>
        </p:nvSpPr>
        <p:spPr>
          <a:xfrm>
            <a:off x="1392808" y="909007"/>
            <a:ext cx="15502383" cy="5293757"/>
          </a:xfrm>
          <a:prstGeom prst="rect">
            <a:avLst/>
          </a:prstGeom>
          <a:noFill/>
        </p:spPr>
        <p:txBody>
          <a:bodyPr wrap="square" rtlCol="0">
            <a:spAutoFit/>
          </a:bodyPr>
          <a:lstStyle/>
          <a:p>
            <a:r>
              <a:rPr lang="fr-FR" sz="3200" b="1" dirty="0">
                <a:solidFill>
                  <a:schemeClr val="tx2">
                    <a:lumMod val="75000"/>
                  </a:schemeClr>
                </a:solidFill>
              </a:rPr>
              <a:t>Grossesses (</a:t>
            </a:r>
            <a:r>
              <a:rPr lang="fr-FR" sz="3200" b="1" dirty="0" err="1">
                <a:solidFill>
                  <a:schemeClr val="tx2">
                    <a:lumMod val="75000"/>
                  </a:schemeClr>
                </a:solidFill>
              </a:rPr>
              <a:t>Pregnancies</a:t>
            </a:r>
            <a:r>
              <a:rPr lang="fr-FR" sz="3200" b="1" dirty="0">
                <a:solidFill>
                  <a:schemeClr val="tx2">
                    <a:lumMod val="75000"/>
                  </a:schemeClr>
                </a:solidFill>
              </a:rPr>
              <a:t>)</a:t>
            </a:r>
          </a:p>
          <a:p>
            <a:r>
              <a:rPr lang="fr-FR" sz="3200" dirty="0">
                <a:solidFill>
                  <a:schemeClr val="tx2">
                    <a:lumMod val="75000"/>
                  </a:schemeClr>
                </a:solidFill>
              </a:rPr>
              <a:t>Le graphique montre que </a:t>
            </a:r>
            <a:r>
              <a:rPr lang="fr-FR" sz="3200" b="1" dirty="0">
                <a:solidFill>
                  <a:schemeClr val="tx2">
                    <a:lumMod val="75000"/>
                  </a:schemeClr>
                </a:solidFill>
              </a:rPr>
              <a:t>le taux de diabète tend à augmenter avec le nombre de grossesses</a:t>
            </a:r>
            <a:r>
              <a:rPr lang="fr-FR" sz="3200" dirty="0">
                <a:solidFill>
                  <a:schemeClr val="tx2">
                    <a:lumMod val="75000"/>
                  </a:schemeClr>
                </a:solidFill>
              </a:rPr>
              <a:t>. Les femmes ayant un nombre plus élevé de grossesses présentent généralement une </a:t>
            </a:r>
            <a:r>
              <a:rPr lang="fr-FR" sz="3200" b="1" dirty="0">
                <a:solidFill>
                  <a:schemeClr val="tx2">
                    <a:lumMod val="75000"/>
                  </a:schemeClr>
                </a:solidFill>
              </a:rPr>
              <a:t>proportion plus importante de diabète</a:t>
            </a:r>
            <a:r>
              <a:rPr lang="fr-FR" sz="3200" dirty="0">
                <a:solidFill>
                  <a:schemeClr val="tx2">
                    <a:lumMod val="75000"/>
                  </a:schemeClr>
                </a:solidFill>
              </a:rPr>
              <a:t>. Cela suggère que le nombre de grossesses pourrait être un facteur associé au risque de diabète.</a:t>
            </a:r>
          </a:p>
          <a:p>
            <a:r>
              <a:rPr lang="fr-FR" sz="3200" b="1" dirty="0">
                <a:solidFill>
                  <a:schemeClr val="tx2">
                    <a:lumMod val="75000"/>
                  </a:schemeClr>
                </a:solidFill>
              </a:rPr>
              <a:t>Âge (Age)</a:t>
            </a:r>
          </a:p>
          <a:p>
            <a:r>
              <a:rPr lang="fr-FR" sz="3200" dirty="0">
                <a:solidFill>
                  <a:schemeClr val="tx2">
                    <a:lumMod val="75000"/>
                  </a:schemeClr>
                </a:solidFill>
              </a:rPr>
              <a:t>Le graphique indique que la </a:t>
            </a:r>
            <a:r>
              <a:rPr lang="fr-FR" sz="3200" b="1" dirty="0">
                <a:solidFill>
                  <a:schemeClr val="tx2">
                    <a:lumMod val="75000"/>
                  </a:schemeClr>
                </a:solidFill>
              </a:rPr>
              <a:t>proportion de personnes diabétiques augmente avec l’âge</a:t>
            </a:r>
            <a:r>
              <a:rPr lang="fr-FR" sz="3200" dirty="0">
                <a:solidFill>
                  <a:schemeClr val="tx2">
                    <a:lumMod val="75000"/>
                  </a:schemeClr>
                </a:solidFill>
              </a:rPr>
              <a:t>. Les personnes de </a:t>
            </a:r>
            <a:r>
              <a:rPr lang="fr-FR" sz="3200" b="1" dirty="0">
                <a:solidFill>
                  <a:schemeClr val="tx2">
                    <a:lumMod val="75000"/>
                  </a:schemeClr>
                </a:solidFill>
              </a:rPr>
              <a:t>moins de 30 ans</a:t>
            </a:r>
            <a:r>
              <a:rPr lang="fr-FR" sz="3200" dirty="0">
                <a:solidFill>
                  <a:schemeClr val="tx2">
                    <a:lumMod val="75000"/>
                  </a:schemeClr>
                </a:solidFill>
              </a:rPr>
              <a:t> présentent une proportion plus faible de diabète, tandis que les groupes </a:t>
            </a:r>
            <a:r>
              <a:rPr lang="fr-FR" sz="3200" b="1" dirty="0">
                <a:solidFill>
                  <a:schemeClr val="tx2">
                    <a:lumMod val="75000"/>
                  </a:schemeClr>
                </a:solidFill>
              </a:rPr>
              <a:t>30–50 ans et plus de 50 ans</a:t>
            </a:r>
            <a:r>
              <a:rPr lang="fr-FR" sz="3200" dirty="0">
                <a:solidFill>
                  <a:schemeClr val="tx2">
                    <a:lumMod val="75000"/>
                  </a:schemeClr>
                </a:solidFill>
              </a:rPr>
              <a:t> montrent des proportions plus élevées. Cela suggère que </a:t>
            </a:r>
            <a:r>
              <a:rPr lang="fr-FR" sz="3200" b="1" dirty="0">
                <a:solidFill>
                  <a:schemeClr val="tx2">
                    <a:lumMod val="75000"/>
                  </a:schemeClr>
                </a:solidFill>
              </a:rPr>
              <a:t>l’âge est un facteur important lié au diabète</a:t>
            </a:r>
            <a:r>
              <a:rPr lang="fr-FR" sz="3200" dirty="0">
                <a:solidFill>
                  <a:schemeClr val="tx2">
                    <a:lumMod val="75000"/>
                  </a:schemeClr>
                </a:solidFill>
              </a:rPr>
              <a:t>.</a:t>
            </a:r>
          </a:p>
          <a:p>
            <a:endParaRPr lang="fr-FR" dirty="0"/>
          </a:p>
        </p:txBody>
      </p:sp>
      <p:pic>
        <p:nvPicPr>
          <p:cNvPr id="17" name="Image 16">
            <a:extLst>
              <a:ext uri="{FF2B5EF4-FFF2-40B4-BE49-F238E27FC236}">
                <a16:creationId xmlns:a16="http://schemas.microsoft.com/office/drawing/2014/main" id="{BCF675DB-81DA-46A6-BB3C-E7C934693B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94480" y="5833657"/>
            <a:ext cx="5056642" cy="4279400"/>
          </a:xfrm>
          <a:prstGeom prst="rect">
            <a:avLst/>
          </a:prstGeom>
        </p:spPr>
      </p:pic>
      <p:pic>
        <p:nvPicPr>
          <p:cNvPr id="19" name="Image 18">
            <a:extLst>
              <a:ext uri="{FF2B5EF4-FFF2-40B4-BE49-F238E27FC236}">
                <a16:creationId xmlns:a16="http://schemas.microsoft.com/office/drawing/2014/main" id="{71E30DA1-50D6-4A5B-ADA7-D2694CC08E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92808" y="6002168"/>
            <a:ext cx="4267200" cy="4174603"/>
          </a:xfrm>
          <a:prstGeom prst="rect">
            <a:avLst/>
          </a:prstGeom>
        </p:spPr>
      </p:pic>
      <p:cxnSp>
        <p:nvCxnSpPr>
          <p:cNvPr id="21" name="Connecteur droit avec flèche 20">
            <a:extLst>
              <a:ext uri="{FF2B5EF4-FFF2-40B4-BE49-F238E27FC236}">
                <a16:creationId xmlns:a16="http://schemas.microsoft.com/office/drawing/2014/main" id="{53630588-3A86-4104-9FFA-95D97F943DA9}"/>
              </a:ext>
            </a:extLst>
          </p:cNvPr>
          <p:cNvCxnSpPr>
            <a:cxnSpLocks/>
          </p:cNvCxnSpPr>
          <p:nvPr/>
        </p:nvCxnSpPr>
        <p:spPr>
          <a:xfrm>
            <a:off x="6172200" y="8420100"/>
            <a:ext cx="5562600" cy="0"/>
          </a:xfrm>
          <a:prstGeom prst="straightConnector1">
            <a:avLst/>
          </a:prstGeom>
          <a:ln>
            <a:headEnd type="triangle"/>
            <a:tailEnd type="triangle"/>
          </a:ln>
        </p:spPr>
        <p:style>
          <a:lnRef idx="3">
            <a:schemeClr val="accent2"/>
          </a:lnRef>
          <a:fillRef idx="0">
            <a:schemeClr val="accent2"/>
          </a:fillRef>
          <a:effectRef idx="2">
            <a:schemeClr val="accent2"/>
          </a:effectRef>
          <a:fontRef idx="minor">
            <a:schemeClr val="tx1"/>
          </a:fontRef>
        </p:style>
      </p:cxnSp>
      <p:sp>
        <p:nvSpPr>
          <p:cNvPr id="23" name="ZoneTexte 22">
            <a:extLst>
              <a:ext uri="{FF2B5EF4-FFF2-40B4-BE49-F238E27FC236}">
                <a16:creationId xmlns:a16="http://schemas.microsoft.com/office/drawing/2014/main" id="{B7977E27-D4A7-49E4-AC98-26DC64A6F412}"/>
              </a:ext>
            </a:extLst>
          </p:cNvPr>
          <p:cNvSpPr txBox="1"/>
          <p:nvPr/>
        </p:nvSpPr>
        <p:spPr>
          <a:xfrm>
            <a:off x="7831887" y="7019308"/>
            <a:ext cx="4267200" cy="1200329"/>
          </a:xfrm>
          <a:prstGeom prst="rect">
            <a:avLst/>
          </a:prstGeom>
          <a:noFill/>
        </p:spPr>
        <p:txBody>
          <a:bodyPr wrap="square" rtlCol="0">
            <a:spAutoFit/>
          </a:bodyPr>
          <a:lstStyle/>
          <a:p>
            <a:r>
              <a:rPr lang="fr-FR" sz="7200" b="1" u="sng" dirty="0">
                <a:solidFill>
                  <a:srgbClr val="C00000"/>
                </a:solidFill>
              </a:rPr>
              <a:t>Liée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ppt_x</p:attrName>
                                        </p:attrNameLst>
                                      </p:cBhvr>
                                      <p:tavLst>
                                        <p:tav tm="0">
                                          <p:val>
                                            <p:strVal val="#ppt_x"/>
                                          </p:val>
                                        </p:tav>
                                        <p:tav tm="100000">
                                          <p:val>
                                            <p:strVal val="#ppt_x"/>
                                          </p:val>
                                        </p:tav>
                                      </p:tavLst>
                                    </p:anim>
                                    <p:anim calcmode="lin" valueType="num">
                                      <p:cBhvr>
                                        <p:cTn id="59" dur="10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1000"/>
                                        <p:tgtEl>
                                          <p:spTgt spid="23"/>
                                        </p:tgtEl>
                                      </p:cBhvr>
                                    </p:animEffect>
                                    <p:anim calcmode="lin" valueType="num">
                                      <p:cBhvr>
                                        <p:cTn id="63" dur="1000" fill="hold"/>
                                        <p:tgtEl>
                                          <p:spTgt spid="23"/>
                                        </p:tgtEl>
                                        <p:attrNameLst>
                                          <p:attrName>ppt_x</p:attrName>
                                        </p:attrNameLst>
                                      </p:cBhvr>
                                      <p:tavLst>
                                        <p:tav tm="0">
                                          <p:val>
                                            <p:strVal val="#ppt_x"/>
                                          </p:val>
                                        </p:tav>
                                        <p:tav tm="100000">
                                          <p:val>
                                            <p:strVal val="#ppt_x"/>
                                          </p:val>
                                        </p:tav>
                                      </p:tavLst>
                                    </p:anim>
                                    <p:anim calcmode="lin" valueType="num">
                                      <p:cBhvr>
                                        <p:cTn id="6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2772019" y="6951057"/>
            <a:ext cx="5432564" cy="6211272"/>
          </a:xfrm>
          <a:custGeom>
            <a:avLst/>
            <a:gdLst/>
            <a:ahLst/>
            <a:cxnLst/>
            <a:rect l="l" t="t" r="r" b="b"/>
            <a:pathLst>
              <a:path w="5432564" h="6211272">
                <a:moveTo>
                  <a:pt x="0" y="0"/>
                </a:moveTo>
                <a:lnTo>
                  <a:pt x="5432564" y="0"/>
                </a:lnTo>
                <a:lnTo>
                  <a:pt x="5432564" y="6211272"/>
                </a:lnTo>
                <a:lnTo>
                  <a:pt x="0" y="62112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2979186" y="8343900"/>
            <a:ext cx="9655732" cy="9190030"/>
          </a:xfrm>
          <a:custGeom>
            <a:avLst/>
            <a:gdLst/>
            <a:ahLst/>
            <a:cxnLst/>
            <a:rect l="l" t="t" r="r" b="b"/>
            <a:pathLst>
              <a:path w="9655732" h="9190030">
                <a:moveTo>
                  <a:pt x="0" y="0"/>
                </a:moveTo>
                <a:lnTo>
                  <a:pt x="9655732" y="0"/>
                </a:lnTo>
                <a:lnTo>
                  <a:pt x="9655732" y="9190030"/>
                </a:lnTo>
                <a:lnTo>
                  <a:pt x="0" y="9190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Freeform 4"/>
          <p:cNvSpPr/>
          <p:nvPr/>
        </p:nvSpPr>
        <p:spPr>
          <a:xfrm>
            <a:off x="10185786" y="-3816118"/>
            <a:ext cx="1890441" cy="639834"/>
          </a:xfrm>
          <a:custGeom>
            <a:avLst/>
            <a:gdLst/>
            <a:ahLst/>
            <a:cxnLst/>
            <a:rect l="l" t="t" r="r" b="b"/>
            <a:pathLst>
              <a:path w="1890441" h="639834">
                <a:moveTo>
                  <a:pt x="0" y="0"/>
                </a:moveTo>
                <a:lnTo>
                  <a:pt x="1890441" y="0"/>
                </a:lnTo>
                <a:lnTo>
                  <a:pt x="1890441" y="639834"/>
                </a:lnTo>
                <a:lnTo>
                  <a:pt x="0" y="6398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 name="Freeform 5"/>
          <p:cNvSpPr/>
          <p:nvPr/>
        </p:nvSpPr>
        <p:spPr>
          <a:xfrm>
            <a:off x="4935586" y="-8378916"/>
            <a:ext cx="9203646" cy="9190030"/>
          </a:xfrm>
          <a:custGeom>
            <a:avLst/>
            <a:gdLst/>
            <a:ahLst/>
            <a:cxnLst/>
            <a:rect l="l" t="t" r="r" b="b"/>
            <a:pathLst>
              <a:path w="9203646" h="9190030">
                <a:moveTo>
                  <a:pt x="0" y="0"/>
                </a:moveTo>
                <a:lnTo>
                  <a:pt x="9203646" y="0"/>
                </a:lnTo>
                <a:lnTo>
                  <a:pt x="9203646" y="9190030"/>
                </a:lnTo>
                <a:lnTo>
                  <a:pt x="0" y="9190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6" name="Freeform 6"/>
          <p:cNvSpPr/>
          <p:nvPr/>
        </p:nvSpPr>
        <p:spPr>
          <a:xfrm>
            <a:off x="-533400" y="-387300"/>
            <a:ext cx="3403762" cy="3175020"/>
          </a:xfrm>
          <a:custGeom>
            <a:avLst/>
            <a:gdLst/>
            <a:ahLst/>
            <a:cxnLst/>
            <a:rect l="l" t="t" r="r" b="b"/>
            <a:pathLst>
              <a:path w="3403762" h="3175020">
                <a:moveTo>
                  <a:pt x="0" y="0"/>
                </a:moveTo>
                <a:lnTo>
                  <a:pt x="3403762" y="0"/>
                </a:lnTo>
                <a:lnTo>
                  <a:pt x="3403762" y="3175020"/>
                </a:lnTo>
                <a:lnTo>
                  <a:pt x="0" y="31750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7" name="Group 7"/>
          <p:cNvGrpSpPr/>
          <p:nvPr/>
        </p:nvGrpSpPr>
        <p:grpSpPr>
          <a:xfrm rot="-10800000">
            <a:off x="17762583" y="2787720"/>
            <a:ext cx="1009304" cy="1009304"/>
            <a:chOff x="0" y="0"/>
            <a:chExt cx="1345739" cy="1345739"/>
          </a:xfrm>
        </p:grpSpPr>
        <p:sp>
          <p:nvSpPr>
            <p:cNvPr id="8" name="Freeform 8"/>
            <p:cNvSpPr/>
            <p:nvPr/>
          </p:nvSpPr>
          <p:spPr>
            <a:xfrm>
              <a:off x="0" y="0"/>
              <a:ext cx="1345692" cy="1345692"/>
            </a:xfrm>
            <a:custGeom>
              <a:avLst/>
              <a:gdLst/>
              <a:ahLst/>
              <a:cxnLst/>
              <a:rect l="l" t="t" r="r" b="b"/>
              <a:pathLst>
                <a:path w="1345692" h="1345692">
                  <a:moveTo>
                    <a:pt x="0" y="454787"/>
                  </a:moveTo>
                  <a:lnTo>
                    <a:pt x="454787" y="454787"/>
                  </a:lnTo>
                  <a:lnTo>
                    <a:pt x="454787" y="0"/>
                  </a:lnTo>
                  <a:lnTo>
                    <a:pt x="890905" y="0"/>
                  </a:lnTo>
                  <a:lnTo>
                    <a:pt x="890905" y="454787"/>
                  </a:lnTo>
                  <a:lnTo>
                    <a:pt x="1345692" y="454787"/>
                  </a:lnTo>
                  <a:lnTo>
                    <a:pt x="1345692" y="890905"/>
                  </a:lnTo>
                  <a:lnTo>
                    <a:pt x="890905" y="890905"/>
                  </a:lnTo>
                  <a:lnTo>
                    <a:pt x="890905" y="1345692"/>
                  </a:lnTo>
                  <a:lnTo>
                    <a:pt x="454787" y="1345692"/>
                  </a:lnTo>
                  <a:lnTo>
                    <a:pt x="454787" y="890905"/>
                  </a:lnTo>
                  <a:lnTo>
                    <a:pt x="0" y="890905"/>
                  </a:lnTo>
                  <a:close/>
                </a:path>
              </a:pathLst>
            </a:custGeom>
            <a:solidFill>
              <a:srgbClr val="6BC1D1"/>
            </a:solidFill>
          </p:spPr>
        </p:sp>
      </p:grpSp>
      <p:grpSp>
        <p:nvGrpSpPr>
          <p:cNvPr id="9" name="Group 9"/>
          <p:cNvGrpSpPr/>
          <p:nvPr/>
        </p:nvGrpSpPr>
        <p:grpSpPr>
          <a:xfrm rot="-10800000">
            <a:off x="17298939" y="1803515"/>
            <a:ext cx="398272" cy="398272"/>
            <a:chOff x="0" y="0"/>
            <a:chExt cx="531029" cy="531029"/>
          </a:xfrm>
        </p:grpSpPr>
        <p:sp>
          <p:nvSpPr>
            <p:cNvPr id="10" name="Freeform 10"/>
            <p:cNvSpPr/>
            <p:nvPr/>
          </p:nvSpPr>
          <p:spPr>
            <a:xfrm>
              <a:off x="0" y="0"/>
              <a:ext cx="530987" cy="530987"/>
            </a:xfrm>
            <a:custGeom>
              <a:avLst/>
              <a:gdLst/>
              <a:ahLst/>
              <a:cxnLst/>
              <a:rect l="l" t="t" r="r" b="b"/>
              <a:pathLst>
                <a:path w="530987" h="530987">
                  <a:moveTo>
                    <a:pt x="0" y="179451"/>
                  </a:moveTo>
                  <a:lnTo>
                    <a:pt x="179451" y="179451"/>
                  </a:lnTo>
                  <a:lnTo>
                    <a:pt x="179451" y="0"/>
                  </a:lnTo>
                  <a:lnTo>
                    <a:pt x="351536" y="0"/>
                  </a:lnTo>
                  <a:lnTo>
                    <a:pt x="351536" y="179451"/>
                  </a:lnTo>
                  <a:lnTo>
                    <a:pt x="530987" y="179451"/>
                  </a:lnTo>
                  <a:lnTo>
                    <a:pt x="530987" y="351536"/>
                  </a:lnTo>
                  <a:lnTo>
                    <a:pt x="351536" y="351536"/>
                  </a:lnTo>
                  <a:lnTo>
                    <a:pt x="351536" y="530987"/>
                  </a:lnTo>
                  <a:lnTo>
                    <a:pt x="179451" y="530987"/>
                  </a:lnTo>
                  <a:lnTo>
                    <a:pt x="179451" y="351536"/>
                  </a:lnTo>
                  <a:lnTo>
                    <a:pt x="0" y="351536"/>
                  </a:lnTo>
                  <a:close/>
                </a:path>
              </a:pathLst>
            </a:custGeom>
            <a:solidFill>
              <a:srgbClr val="B6E3F1"/>
            </a:solidFill>
          </p:spPr>
        </p:sp>
      </p:grpSp>
      <p:grpSp>
        <p:nvGrpSpPr>
          <p:cNvPr id="11" name="Group 11"/>
          <p:cNvGrpSpPr/>
          <p:nvPr/>
        </p:nvGrpSpPr>
        <p:grpSpPr>
          <a:xfrm rot="-10800000">
            <a:off x="17697242" y="171542"/>
            <a:ext cx="639572" cy="639572"/>
            <a:chOff x="0" y="0"/>
            <a:chExt cx="852763" cy="852763"/>
          </a:xfrm>
        </p:grpSpPr>
        <p:sp>
          <p:nvSpPr>
            <p:cNvPr id="12" name="Freeform 12"/>
            <p:cNvSpPr/>
            <p:nvPr/>
          </p:nvSpPr>
          <p:spPr>
            <a:xfrm>
              <a:off x="0" y="0"/>
              <a:ext cx="852805" cy="852805"/>
            </a:xfrm>
            <a:custGeom>
              <a:avLst/>
              <a:gdLst/>
              <a:ahLst/>
              <a:cxnLst/>
              <a:rect l="l" t="t" r="r" b="b"/>
              <a:pathLst>
                <a:path w="852805" h="852805">
                  <a:moveTo>
                    <a:pt x="0" y="288163"/>
                  </a:moveTo>
                  <a:lnTo>
                    <a:pt x="288163" y="288163"/>
                  </a:lnTo>
                  <a:lnTo>
                    <a:pt x="288163" y="0"/>
                  </a:lnTo>
                  <a:lnTo>
                    <a:pt x="564515" y="0"/>
                  </a:lnTo>
                  <a:lnTo>
                    <a:pt x="564515" y="288163"/>
                  </a:lnTo>
                  <a:lnTo>
                    <a:pt x="852805" y="288163"/>
                  </a:lnTo>
                  <a:lnTo>
                    <a:pt x="852805" y="564515"/>
                  </a:lnTo>
                  <a:lnTo>
                    <a:pt x="564515" y="564515"/>
                  </a:lnTo>
                  <a:lnTo>
                    <a:pt x="564515" y="852805"/>
                  </a:lnTo>
                  <a:lnTo>
                    <a:pt x="288163" y="852805"/>
                  </a:lnTo>
                  <a:lnTo>
                    <a:pt x="288163" y="564515"/>
                  </a:lnTo>
                  <a:lnTo>
                    <a:pt x="0" y="564515"/>
                  </a:lnTo>
                  <a:close/>
                </a:path>
              </a:pathLst>
            </a:custGeom>
            <a:solidFill>
              <a:srgbClr val="B6E3F1"/>
            </a:solidFill>
          </p:spPr>
        </p:sp>
      </p:grpSp>
      <p:sp>
        <p:nvSpPr>
          <p:cNvPr id="14" name="Freeform 14"/>
          <p:cNvSpPr/>
          <p:nvPr/>
        </p:nvSpPr>
        <p:spPr>
          <a:xfrm>
            <a:off x="3887925" y="3579723"/>
            <a:ext cx="2110562" cy="1851144"/>
          </a:xfrm>
          <a:custGeom>
            <a:avLst/>
            <a:gdLst/>
            <a:ahLst/>
            <a:cxnLst/>
            <a:rect l="l" t="t" r="r" b="b"/>
            <a:pathLst>
              <a:path w="2814083" h="2468192">
                <a:moveTo>
                  <a:pt x="0" y="0"/>
                </a:moveTo>
                <a:lnTo>
                  <a:pt x="2814083" y="0"/>
                </a:lnTo>
                <a:lnTo>
                  <a:pt x="2814083" y="2468192"/>
                </a:lnTo>
                <a:lnTo>
                  <a:pt x="0" y="2468192"/>
                </a:lnTo>
                <a:close/>
              </a:path>
            </a:pathLst>
          </a:custGeom>
        </p:spPr>
      </p:sp>
      <p:sp>
        <p:nvSpPr>
          <p:cNvPr id="17" name="Freeform 17"/>
          <p:cNvSpPr/>
          <p:nvPr/>
        </p:nvSpPr>
        <p:spPr>
          <a:xfrm>
            <a:off x="2601963" y="3910677"/>
            <a:ext cx="11577809" cy="3040380"/>
          </a:xfrm>
          <a:custGeom>
            <a:avLst/>
            <a:gdLst/>
            <a:ahLst/>
            <a:cxnLst/>
            <a:rect l="l" t="t" r="r" b="b"/>
            <a:pathLst>
              <a:path w="15437079" h="4053840">
                <a:moveTo>
                  <a:pt x="0" y="0"/>
                </a:moveTo>
                <a:lnTo>
                  <a:pt x="15437079" y="0"/>
                </a:lnTo>
                <a:lnTo>
                  <a:pt x="15437079" y="4053840"/>
                </a:lnTo>
                <a:lnTo>
                  <a:pt x="0" y="4053840"/>
                </a:lnTo>
                <a:close/>
              </a:path>
            </a:pathLst>
          </a:custGeom>
        </p:spPr>
      </p:sp>
      <p:sp>
        <p:nvSpPr>
          <p:cNvPr id="21" name="ZoneTexte 20">
            <a:extLst>
              <a:ext uri="{FF2B5EF4-FFF2-40B4-BE49-F238E27FC236}">
                <a16:creationId xmlns:a16="http://schemas.microsoft.com/office/drawing/2014/main" id="{C7FB03DB-04BE-4959-AE67-7DBF9ABD99E9}"/>
              </a:ext>
            </a:extLst>
          </p:cNvPr>
          <p:cNvSpPr txBox="1"/>
          <p:nvPr/>
        </p:nvSpPr>
        <p:spPr>
          <a:xfrm>
            <a:off x="1698458" y="818734"/>
            <a:ext cx="12369638" cy="707886"/>
          </a:xfrm>
          <a:prstGeom prst="rect">
            <a:avLst/>
          </a:prstGeom>
          <a:noFill/>
        </p:spPr>
        <p:txBody>
          <a:bodyPr wrap="square" rtlCol="0">
            <a:spAutoFit/>
          </a:bodyPr>
          <a:lstStyle/>
          <a:p>
            <a:r>
              <a:rPr lang="fr-FR" sz="4000" b="1" i="1" dirty="0">
                <a:solidFill>
                  <a:srgbClr val="AB6659"/>
                </a:solidFill>
                <a:effectLst>
                  <a:outerShdw blurRad="38100" dist="38100" dir="2700000" algn="tl">
                    <a:srgbClr val="000000">
                      <a:alpha val="43137"/>
                    </a:srgbClr>
                  </a:outerShdw>
                </a:effectLst>
              </a:rPr>
              <a:t>05. </a:t>
            </a:r>
            <a:r>
              <a:rPr lang="fr-FR" sz="4000" b="1" i="1" dirty="0">
                <a:solidFill>
                  <a:schemeClr val="tx2">
                    <a:lumMod val="50000"/>
                  </a:schemeClr>
                </a:solidFill>
                <a:effectLst>
                  <a:outerShdw blurRad="38100" dist="38100" dir="2700000" algn="tl">
                    <a:srgbClr val="000000">
                      <a:alpha val="43137"/>
                    </a:srgbClr>
                  </a:outerShdw>
                </a:effectLst>
              </a:rPr>
              <a:t>Modélisation (Machine </a:t>
            </a:r>
            <a:r>
              <a:rPr lang="fr-FR" sz="4000" b="1" i="1" dirty="0" err="1">
                <a:solidFill>
                  <a:schemeClr val="tx2">
                    <a:lumMod val="50000"/>
                  </a:schemeClr>
                </a:solidFill>
                <a:effectLst>
                  <a:outerShdw blurRad="38100" dist="38100" dir="2700000" algn="tl">
                    <a:srgbClr val="000000">
                      <a:alpha val="43137"/>
                    </a:srgbClr>
                  </a:outerShdw>
                </a:effectLst>
              </a:rPr>
              <a:t>Leaning</a:t>
            </a:r>
            <a:r>
              <a:rPr lang="fr-FR" sz="4000" b="1" i="1" dirty="0">
                <a:solidFill>
                  <a:schemeClr val="tx2">
                    <a:lumMod val="50000"/>
                  </a:schemeClr>
                </a:solidFill>
                <a:effectLst>
                  <a:outerShdw blurRad="38100" dist="38100" dir="2700000" algn="tl">
                    <a:srgbClr val="000000">
                      <a:alpha val="43137"/>
                    </a:srgbClr>
                  </a:outerShdw>
                </a:effectLst>
              </a:rPr>
              <a:t>):</a:t>
            </a:r>
          </a:p>
        </p:txBody>
      </p:sp>
      <p:sp>
        <p:nvSpPr>
          <p:cNvPr id="22" name="ZoneTexte 21">
            <a:extLst>
              <a:ext uri="{FF2B5EF4-FFF2-40B4-BE49-F238E27FC236}">
                <a16:creationId xmlns:a16="http://schemas.microsoft.com/office/drawing/2014/main" id="{ED289A53-9990-4246-9684-625165B02E0D}"/>
              </a:ext>
            </a:extLst>
          </p:cNvPr>
          <p:cNvSpPr txBox="1"/>
          <p:nvPr/>
        </p:nvSpPr>
        <p:spPr>
          <a:xfrm>
            <a:off x="520395" y="2271218"/>
            <a:ext cx="10610611" cy="5970865"/>
          </a:xfrm>
          <a:prstGeom prst="rect">
            <a:avLst/>
          </a:prstGeom>
          <a:noFill/>
        </p:spPr>
        <p:txBody>
          <a:bodyPr wrap="square" rtlCol="0">
            <a:spAutoFit/>
          </a:bodyPr>
          <a:lstStyle/>
          <a:p>
            <a:r>
              <a:rPr lang="fr-FR" sz="2800" dirty="0">
                <a:solidFill>
                  <a:schemeClr val="tx2">
                    <a:lumMod val="50000"/>
                  </a:schemeClr>
                </a:solidFill>
              </a:rPr>
              <a:t>Cette matrice de confusion montre les performances du modèle de régression logistique pour la classification du diabète.</a:t>
            </a:r>
          </a:p>
          <a:p>
            <a:pPr>
              <a:buFont typeface="Arial" panose="020B0604020202020204" pitchFamily="34" charset="0"/>
              <a:buChar char="•"/>
            </a:pPr>
            <a:r>
              <a:rPr lang="fr-FR" sz="2800" b="1" dirty="0">
                <a:solidFill>
                  <a:schemeClr val="tx2">
                    <a:lumMod val="50000"/>
                  </a:schemeClr>
                </a:solidFill>
              </a:rPr>
              <a:t>16</a:t>
            </a:r>
            <a:r>
              <a:rPr lang="fr-FR" sz="2800" dirty="0">
                <a:solidFill>
                  <a:schemeClr val="tx2">
                    <a:lumMod val="50000"/>
                  </a:schemeClr>
                </a:solidFill>
              </a:rPr>
              <a:t> patients </a:t>
            </a:r>
            <a:r>
              <a:rPr lang="fr-FR" sz="2800" b="1" dirty="0">
                <a:solidFill>
                  <a:schemeClr val="tx2">
                    <a:lumMod val="50000"/>
                  </a:schemeClr>
                </a:solidFill>
              </a:rPr>
              <a:t>non diabétiques</a:t>
            </a:r>
            <a:r>
              <a:rPr lang="fr-FR" sz="2800" dirty="0">
                <a:solidFill>
                  <a:schemeClr val="tx2">
                    <a:lumMod val="50000"/>
                  </a:schemeClr>
                </a:solidFill>
              </a:rPr>
              <a:t> ont été correctement prédits comme non diabétiques (</a:t>
            </a:r>
            <a:r>
              <a:rPr lang="fr-FR" sz="2800" b="1" dirty="0">
                <a:solidFill>
                  <a:schemeClr val="tx2">
                    <a:lumMod val="50000"/>
                  </a:schemeClr>
                </a:solidFill>
              </a:rPr>
              <a:t>vrais négatifs</a:t>
            </a:r>
            <a:r>
              <a:rPr lang="fr-FR" sz="2800" dirty="0">
                <a:solidFill>
                  <a:schemeClr val="tx2">
                    <a:lumMod val="50000"/>
                  </a:schemeClr>
                </a:solidFill>
              </a:rPr>
              <a:t>). </a:t>
            </a:r>
          </a:p>
          <a:p>
            <a:pPr>
              <a:buFont typeface="Arial" panose="020B0604020202020204" pitchFamily="34" charset="0"/>
              <a:buChar char="•"/>
            </a:pPr>
            <a:r>
              <a:rPr lang="fr-FR" sz="2800" b="1" dirty="0">
                <a:solidFill>
                  <a:schemeClr val="tx2">
                    <a:lumMod val="50000"/>
                  </a:schemeClr>
                </a:solidFill>
              </a:rPr>
              <a:t>24</a:t>
            </a:r>
            <a:r>
              <a:rPr lang="fr-FR" sz="2800" dirty="0">
                <a:solidFill>
                  <a:schemeClr val="tx2">
                    <a:lumMod val="50000"/>
                  </a:schemeClr>
                </a:solidFill>
              </a:rPr>
              <a:t> patients </a:t>
            </a:r>
            <a:r>
              <a:rPr lang="fr-FR" sz="2800" b="1" dirty="0">
                <a:solidFill>
                  <a:schemeClr val="tx2">
                    <a:lumMod val="50000"/>
                  </a:schemeClr>
                </a:solidFill>
              </a:rPr>
              <a:t>diabétiques</a:t>
            </a:r>
            <a:r>
              <a:rPr lang="fr-FR" sz="2800" dirty="0">
                <a:solidFill>
                  <a:schemeClr val="tx2">
                    <a:lumMod val="50000"/>
                  </a:schemeClr>
                </a:solidFill>
              </a:rPr>
              <a:t> ont été correctement prédits comme diabétiques (</a:t>
            </a:r>
            <a:r>
              <a:rPr lang="fr-FR" sz="2800" b="1" dirty="0">
                <a:solidFill>
                  <a:schemeClr val="tx2">
                    <a:lumMod val="50000"/>
                  </a:schemeClr>
                </a:solidFill>
              </a:rPr>
              <a:t>vrais positifs</a:t>
            </a:r>
            <a:r>
              <a:rPr lang="fr-FR" sz="2800" dirty="0">
                <a:solidFill>
                  <a:schemeClr val="tx2">
                    <a:lumMod val="50000"/>
                  </a:schemeClr>
                </a:solidFill>
              </a:rPr>
              <a:t>). </a:t>
            </a:r>
          </a:p>
          <a:p>
            <a:pPr>
              <a:buFont typeface="Arial" panose="020B0604020202020204" pitchFamily="34" charset="0"/>
              <a:buChar char="•"/>
            </a:pPr>
            <a:r>
              <a:rPr lang="fr-FR" sz="2800" b="1" dirty="0">
                <a:solidFill>
                  <a:schemeClr val="tx2">
                    <a:lumMod val="50000"/>
                  </a:schemeClr>
                </a:solidFill>
              </a:rPr>
              <a:t>0</a:t>
            </a:r>
            <a:r>
              <a:rPr lang="fr-FR" sz="2800" dirty="0">
                <a:solidFill>
                  <a:schemeClr val="tx2">
                    <a:lumMod val="50000"/>
                  </a:schemeClr>
                </a:solidFill>
              </a:rPr>
              <a:t> patients non diabétiques ont été classés à tort comme diabétiques (</a:t>
            </a:r>
            <a:r>
              <a:rPr lang="fr-FR" sz="2800" b="1" dirty="0">
                <a:solidFill>
                  <a:schemeClr val="tx2">
                    <a:lumMod val="50000"/>
                  </a:schemeClr>
                </a:solidFill>
              </a:rPr>
              <a:t>faux positifs</a:t>
            </a:r>
            <a:r>
              <a:rPr lang="fr-FR" sz="2800" dirty="0">
                <a:solidFill>
                  <a:schemeClr val="tx2">
                    <a:lumMod val="50000"/>
                  </a:schemeClr>
                </a:solidFill>
              </a:rPr>
              <a:t>). </a:t>
            </a:r>
          </a:p>
          <a:p>
            <a:pPr>
              <a:buFont typeface="Arial" panose="020B0604020202020204" pitchFamily="34" charset="0"/>
              <a:buChar char="•"/>
            </a:pPr>
            <a:r>
              <a:rPr lang="fr-FR" sz="2800" b="1" dirty="0">
                <a:solidFill>
                  <a:schemeClr val="tx2">
                    <a:lumMod val="50000"/>
                  </a:schemeClr>
                </a:solidFill>
              </a:rPr>
              <a:t>0</a:t>
            </a:r>
            <a:r>
              <a:rPr lang="fr-FR" sz="2800" dirty="0">
                <a:solidFill>
                  <a:schemeClr val="tx2">
                    <a:lumMod val="50000"/>
                  </a:schemeClr>
                </a:solidFill>
              </a:rPr>
              <a:t> patients diabétiques ont été classés à tort comme non diabétiques (</a:t>
            </a:r>
            <a:r>
              <a:rPr lang="fr-FR" sz="2800" b="1" dirty="0">
                <a:solidFill>
                  <a:schemeClr val="tx2">
                    <a:lumMod val="50000"/>
                  </a:schemeClr>
                </a:solidFill>
              </a:rPr>
              <a:t>faux négatifs</a:t>
            </a:r>
            <a:r>
              <a:rPr lang="fr-FR" sz="2800" dirty="0">
                <a:solidFill>
                  <a:schemeClr val="tx2">
                    <a:lumMod val="50000"/>
                  </a:schemeClr>
                </a:solidFill>
              </a:rPr>
              <a:t>). </a:t>
            </a:r>
          </a:p>
          <a:p>
            <a:r>
              <a:rPr lang="fr-FR" sz="2800" dirty="0">
                <a:solidFill>
                  <a:schemeClr val="tx2">
                    <a:lumMod val="50000"/>
                  </a:schemeClr>
                </a:solidFill>
              </a:rPr>
              <a:t>Cela signifie que </a:t>
            </a:r>
            <a:r>
              <a:rPr lang="fr-FR" sz="2800" b="1" dirty="0">
                <a:solidFill>
                  <a:schemeClr val="tx2">
                    <a:lumMod val="50000"/>
                  </a:schemeClr>
                </a:solidFill>
              </a:rPr>
              <a:t>le modèle a correctement classé tous les cas du jeu de test</a:t>
            </a:r>
            <a:r>
              <a:rPr lang="fr-FR" sz="2800" dirty="0">
                <a:solidFill>
                  <a:schemeClr val="tx2">
                    <a:lumMod val="50000"/>
                  </a:schemeClr>
                </a:solidFill>
              </a:rPr>
              <a:t>, avec </a:t>
            </a:r>
            <a:r>
              <a:rPr lang="fr-FR" sz="2800" b="1" dirty="0">
                <a:solidFill>
                  <a:schemeClr val="tx2">
                    <a:lumMod val="50000"/>
                  </a:schemeClr>
                </a:solidFill>
              </a:rPr>
              <a:t>aucune erreur de prédiction</a:t>
            </a:r>
            <a:r>
              <a:rPr lang="fr-FR" sz="2800" dirty="0">
                <a:solidFill>
                  <a:schemeClr val="tx2">
                    <a:lumMod val="50000"/>
                  </a:schemeClr>
                </a:solidFill>
              </a:rPr>
              <a:t>, ce qui donne une </a:t>
            </a:r>
            <a:r>
              <a:rPr lang="fr-FR" sz="2800" b="1" dirty="0" err="1">
                <a:solidFill>
                  <a:schemeClr val="tx2">
                    <a:lumMod val="50000"/>
                  </a:schemeClr>
                </a:solidFill>
              </a:rPr>
              <a:t>accuracy</a:t>
            </a:r>
            <a:r>
              <a:rPr lang="fr-FR" sz="2800" b="1" dirty="0">
                <a:solidFill>
                  <a:schemeClr val="tx2">
                    <a:lumMod val="50000"/>
                  </a:schemeClr>
                </a:solidFill>
              </a:rPr>
              <a:t> de 100 %</a:t>
            </a:r>
            <a:r>
              <a:rPr lang="fr-FR" sz="2800" dirty="0">
                <a:solidFill>
                  <a:schemeClr val="tx2">
                    <a:lumMod val="50000"/>
                  </a:schemeClr>
                </a:solidFill>
              </a:rPr>
              <a:t> sur ces données.</a:t>
            </a:r>
          </a:p>
          <a:p>
            <a:endParaRPr lang="fr-FR" dirty="0"/>
          </a:p>
        </p:txBody>
      </p:sp>
      <p:pic>
        <p:nvPicPr>
          <p:cNvPr id="24" name="Image 23">
            <a:extLst>
              <a:ext uri="{FF2B5EF4-FFF2-40B4-BE49-F238E27FC236}">
                <a16:creationId xmlns:a16="http://schemas.microsoft.com/office/drawing/2014/main" id="{6969F853-6587-437A-8DDC-FE1EEF03BF9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430000" y="1526620"/>
            <a:ext cx="6906814" cy="5970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1000"/>
                                        <p:tgtEl>
                                          <p:spTgt spid="17"/>
                                        </p:tgtEl>
                                      </p:cBhvr>
                                    </p:animEffect>
                                    <p:anim calcmode="lin" valueType="num">
                                      <p:cBhvr>
                                        <p:cTn id="53" dur="1000" fill="hold"/>
                                        <p:tgtEl>
                                          <p:spTgt spid="17"/>
                                        </p:tgtEl>
                                        <p:attrNameLst>
                                          <p:attrName>ppt_x</p:attrName>
                                        </p:attrNameLst>
                                      </p:cBhvr>
                                      <p:tavLst>
                                        <p:tav tm="0">
                                          <p:val>
                                            <p:strVal val="#ppt_x"/>
                                          </p:val>
                                        </p:tav>
                                        <p:tav tm="100000">
                                          <p:val>
                                            <p:strVal val="#ppt_x"/>
                                          </p:val>
                                        </p:tav>
                                      </p:tavLst>
                                    </p:anim>
                                    <p:anim calcmode="lin" valueType="num">
                                      <p:cBhvr>
                                        <p:cTn id="54" dur="1000" fill="hold"/>
                                        <p:tgtEl>
                                          <p:spTgt spid="1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ppt_x</p:attrName>
                                        </p:attrNameLst>
                                      </p:cBhvr>
                                      <p:tavLst>
                                        <p:tav tm="0">
                                          <p:val>
                                            <p:strVal val="#ppt_x"/>
                                          </p:val>
                                        </p:tav>
                                        <p:tav tm="100000">
                                          <p:val>
                                            <p:strVal val="#ppt_x"/>
                                          </p:val>
                                        </p:tav>
                                      </p:tavLst>
                                    </p:anim>
                                    <p:anim calcmode="lin" valueType="num">
                                      <p:cBhvr>
                                        <p:cTn id="59" dur="10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1000"/>
                                        <p:tgtEl>
                                          <p:spTgt spid="22"/>
                                        </p:tgtEl>
                                      </p:cBhvr>
                                    </p:animEffect>
                                    <p:anim calcmode="lin" valueType="num">
                                      <p:cBhvr>
                                        <p:cTn id="63" dur="1000" fill="hold"/>
                                        <p:tgtEl>
                                          <p:spTgt spid="22"/>
                                        </p:tgtEl>
                                        <p:attrNameLst>
                                          <p:attrName>ppt_x</p:attrName>
                                        </p:attrNameLst>
                                      </p:cBhvr>
                                      <p:tavLst>
                                        <p:tav tm="0">
                                          <p:val>
                                            <p:strVal val="#ppt_x"/>
                                          </p:val>
                                        </p:tav>
                                        <p:tav tm="100000">
                                          <p:val>
                                            <p:strVal val="#ppt_x"/>
                                          </p:val>
                                        </p:tav>
                                      </p:tavLst>
                                    </p:anim>
                                    <p:anim calcmode="lin" valueType="num">
                                      <p:cBhvr>
                                        <p:cTn id="64" dur="1000" fill="hold"/>
                                        <p:tgtEl>
                                          <p:spTgt spid="2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1000"/>
                                        <p:tgtEl>
                                          <p:spTgt spid="24"/>
                                        </p:tgtEl>
                                      </p:cBhvr>
                                    </p:animEffect>
                                    <p:anim calcmode="lin" valueType="num">
                                      <p:cBhvr>
                                        <p:cTn id="68" dur="1000" fill="hold"/>
                                        <p:tgtEl>
                                          <p:spTgt spid="24"/>
                                        </p:tgtEl>
                                        <p:attrNameLst>
                                          <p:attrName>ppt_x</p:attrName>
                                        </p:attrNameLst>
                                      </p:cBhvr>
                                      <p:tavLst>
                                        <p:tav tm="0">
                                          <p:val>
                                            <p:strVal val="#ppt_x"/>
                                          </p:val>
                                        </p:tav>
                                        <p:tav tm="100000">
                                          <p:val>
                                            <p:strVal val="#ppt_x"/>
                                          </p:val>
                                        </p:tav>
                                      </p:tavLst>
                                    </p:anim>
                                    <p:anim calcmode="lin" valueType="num">
                                      <p:cBhvr>
                                        <p:cTn id="6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474212" y="454288"/>
            <a:ext cx="1904444" cy="639834"/>
          </a:xfrm>
          <a:custGeom>
            <a:avLst/>
            <a:gdLst/>
            <a:ahLst/>
            <a:cxnLst/>
            <a:rect l="l" t="t" r="r" b="b"/>
            <a:pathLst>
              <a:path w="1904444" h="639834">
                <a:moveTo>
                  <a:pt x="0" y="0"/>
                </a:moveTo>
                <a:lnTo>
                  <a:pt x="1904444" y="0"/>
                </a:lnTo>
                <a:lnTo>
                  <a:pt x="1904444" y="639834"/>
                </a:lnTo>
                <a:lnTo>
                  <a:pt x="0" y="6398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rot="-2700000">
            <a:off x="10016233" y="-7019934"/>
            <a:ext cx="13383272" cy="13383272"/>
            <a:chOff x="0" y="0"/>
            <a:chExt cx="17844363" cy="17844363"/>
          </a:xfrm>
        </p:grpSpPr>
        <p:sp>
          <p:nvSpPr>
            <p:cNvPr id="4" name="Freeform 4"/>
            <p:cNvSpPr/>
            <p:nvPr/>
          </p:nvSpPr>
          <p:spPr>
            <a:xfrm>
              <a:off x="0" y="0"/>
              <a:ext cx="17844390" cy="17844390"/>
            </a:xfrm>
            <a:custGeom>
              <a:avLst/>
              <a:gdLst/>
              <a:ahLst/>
              <a:cxnLst/>
              <a:rect l="l" t="t" r="r" b="b"/>
              <a:pathLst>
                <a:path w="17844390" h="17844390">
                  <a:moveTo>
                    <a:pt x="17844388" y="8922131"/>
                  </a:moveTo>
                  <a:cubicBezTo>
                    <a:pt x="17844388" y="13849731"/>
                    <a:pt x="13849730" y="17844390"/>
                    <a:pt x="8922131" y="17844390"/>
                  </a:cubicBezTo>
                  <a:cubicBezTo>
                    <a:pt x="3994531" y="17844390"/>
                    <a:pt x="0" y="13849731"/>
                    <a:pt x="0" y="8922131"/>
                  </a:cubicBezTo>
                  <a:cubicBezTo>
                    <a:pt x="0" y="3994531"/>
                    <a:pt x="3994658" y="0"/>
                    <a:pt x="8922131" y="0"/>
                  </a:cubicBezTo>
                  <a:cubicBezTo>
                    <a:pt x="13849604" y="0"/>
                    <a:pt x="17844390" y="3994658"/>
                    <a:pt x="17844390" y="8922131"/>
                  </a:cubicBezTo>
                  <a:close/>
                </a:path>
              </a:pathLst>
            </a:custGeom>
            <a:solidFill>
              <a:srgbClr val="B6E3F1"/>
            </a:solidFill>
          </p:spPr>
        </p:sp>
      </p:grpSp>
      <p:sp>
        <p:nvSpPr>
          <p:cNvPr id="5" name="Freeform 5"/>
          <p:cNvSpPr/>
          <p:nvPr/>
        </p:nvSpPr>
        <p:spPr>
          <a:xfrm>
            <a:off x="12350063" y="1398842"/>
            <a:ext cx="7455658" cy="9169588"/>
          </a:xfrm>
          <a:custGeom>
            <a:avLst/>
            <a:gdLst/>
            <a:ahLst/>
            <a:cxnLst/>
            <a:rect l="l" t="t" r="r" b="b"/>
            <a:pathLst>
              <a:path w="7455658" h="9169588">
                <a:moveTo>
                  <a:pt x="0" y="0"/>
                </a:moveTo>
                <a:lnTo>
                  <a:pt x="7455658" y="0"/>
                </a:lnTo>
                <a:lnTo>
                  <a:pt x="7455658" y="9169588"/>
                </a:lnTo>
                <a:lnTo>
                  <a:pt x="0" y="9169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rot="-2700000">
            <a:off x="1054650" y="8509530"/>
            <a:ext cx="4457842" cy="4457842"/>
            <a:chOff x="0" y="0"/>
            <a:chExt cx="5943789" cy="5943789"/>
          </a:xfrm>
        </p:grpSpPr>
        <p:sp>
          <p:nvSpPr>
            <p:cNvPr id="7" name="Freeform 7"/>
            <p:cNvSpPr/>
            <p:nvPr/>
          </p:nvSpPr>
          <p:spPr>
            <a:xfrm>
              <a:off x="0" y="0"/>
              <a:ext cx="5943854" cy="5943854"/>
            </a:xfrm>
            <a:custGeom>
              <a:avLst/>
              <a:gdLst/>
              <a:ahLst/>
              <a:cxnLst/>
              <a:rect l="l" t="t" r="r" b="b"/>
              <a:pathLst>
                <a:path w="5943854" h="5943854">
                  <a:moveTo>
                    <a:pt x="5943854" y="2971927"/>
                  </a:moveTo>
                  <a:cubicBezTo>
                    <a:pt x="5943854" y="4613275"/>
                    <a:pt x="4613275" y="5943854"/>
                    <a:pt x="2971927" y="5943854"/>
                  </a:cubicBezTo>
                  <a:cubicBezTo>
                    <a:pt x="1330579" y="5943854"/>
                    <a:pt x="0" y="4613275"/>
                    <a:pt x="0" y="2971927"/>
                  </a:cubicBezTo>
                  <a:cubicBezTo>
                    <a:pt x="0" y="1330579"/>
                    <a:pt x="1330579" y="0"/>
                    <a:pt x="2971927" y="0"/>
                  </a:cubicBezTo>
                  <a:cubicBezTo>
                    <a:pt x="4613275" y="0"/>
                    <a:pt x="5943854" y="1330579"/>
                    <a:pt x="5943854" y="2971927"/>
                  </a:cubicBezTo>
                  <a:close/>
                </a:path>
              </a:pathLst>
            </a:custGeom>
            <a:solidFill>
              <a:srgbClr val="B6E3F1"/>
            </a:solidFill>
          </p:spPr>
        </p:sp>
      </p:grpSp>
      <p:sp>
        <p:nvSpPr>
          <p:cNvPr id="8" name="Freeform 8"/>
          <p:cNvSpPr/>
          <p:nvPr/>
        </p:nvSpPr>
        <p:spPr>
          <a:xfrm>
            <a:off x="362755" y="7066386"/>
            <a:ext cx="1075798" cy="1039720"/>
          </a:xfrm>
          <a:custGeom>
            <a:avLst/>
            <a:gdLst/>
            <a:ahLst/>
            <a:cxnLst/>
            <a:rect l="l" t="t" r="r" b="b"/>
            <a:pathLst>
              <a:path w="1075798" h="1039720">
                <a:moveTo>
                  <a:pt x="0" y="0"/>
                </a:moveTo>
                <a:lnTo>
                  <a:pt x="1075798" y="0"/>
                </a:lnTo>
                <a:lnTo>
                  <a:pt x="1075798" y="1039720"/>
                </a:lnTo>
                <a:lnTo>
                  <a:pt x="0" y="10397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608962" y="941055"/>
            <a:ext cx="2987618" cy="3162725"/>
          </a:xfrm>
          <a:custGeom>
            <a:avLst/>
            <a:gdLst/>
            <a:ahLst/>
            <a:cxnLst/>
            <a:rect l="l" t="t" r="r" b="b"/>
            <a:pathLst>
              <a:path w="2987618" h="3162725">
                <a:moveTo>
                  <a:pt x="0" y="0"/>
                </a:moveTo>
                <a:lnTo>
                  <a:pt x="2987618" y="0"/>
                </a:lnTo>
                <a:lnTo>
                  <a:pt x="2987618" y="3162725"/>
                </a:lnTo>
                <a:lnTo>
                  <a:pt x="0" y="31627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0591800" y="3848100"/>
            <a:ext cx="1075798" cy="1039720"/>
          </a:xfrm>
          <a:custGeom>
            <a:avLst/>
            <a:gdLst/>
            <a:ahLst/>
            <a:cxnLst/>
            <a:rect l="l" t="t" r="r" b="b"/>
            <a:pathLst>
              <a:path w="1075798" h="1039720">
                <a:moveTo>
                  <a:pt x="0" y="0"/>
                </a:moveTo>
                <a:lnTo>
                  <a:pt x="1075798" y="0"/>
                </a:lnTo>
                <a:lnTo>
                  <a:pt x="1075798" y="1039720"/>
                </a:lnTo>
                <a:lnTo>
                  <a:pt x="0" y="10397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ZoneTexte 13">
            <a:extLst>
              <a:ext uri="{FF2B5EF4-FFF2-40B4-BE49-F238E27FC236}">
                <a16:creationId xmlns:a16="http://schemas.microsoft.com/office/drawing/2014/main" id="{6947E664-022D-437E-AD40-3EE52A88259A}"/>
              </a:ext>
            </a:extLst>
          </p:cNvPr>
          <p:cNvSpPr txBox="1"/>
          <p:nvPr/>
        </p:nvSpPr>
        <p:spPr>
          <a:xfrm>
            <a:off x="2536522" y="1156263"/>
            <a:ext cx="7222544" cy="830997"/>
          </a:xfrm>
          <a:prstGeom prst="rect">
            <a:avLst/>
          </a:prstGeom>
          <a:noFill/>
        </p:spPr>
        <p:txBody>
          <a:bodyPr wrap="square" rtlCol="0">
            <a:spAutoFit/>
          </a:bodyPr>
          <a:lstStyle/>
          <a:p>
            <a:r>
              <a:rPr lang="fr-FR" sz="4800" b="1" i="1" dirty="0">
                <a:solidFill>
                  <a:srgbClr val="AB6659"/>
                </a:solidFill>
                <a:effectLst>
                  <a:outerShdw blurRad="38100" dist="38100" dir="2700000" algn="tl">
                    <a:srgbClr val="000000">
                      <a:alpha val="43137"/>
                    </a:srgbClr>
                  </a:outerShdw>
                </a:effectLst>
              </a:rPr>
              <a:t>06. </a:t>
            </a:r>
            <a:r>
              <a:rPr lang="fr-FR" sz="4800" b="1" i="1" dirty="0">
                <a:solidFill>
                  <a:schemeClr val="tx2">
                    <a:lumMod val="50000"/>
                  </a:schemeClr>
                </a:solidFill>
                <a:effectLst>
                  <a:outerShdw blurRad="38100" dist="38100" dir="2700000" algn="tl">
                    <a:srgbClr val="000000">
                      <a:alpha val="43137"/>
                    </a:srgbClr>
                  </a:outerShdw>
                </a:effectLst>
              </a:rPr>
              <a:t>Conclusion</a:t>
            </a:r>
          </a:p>
        </p:txBody>
      </p:sp>
      <p:sp>
        <p:nvSpPr>
          <p:cNvPr id="15" name="ZoneTexte 14">
            <a:extLst>
              <a:ext uri="{FF2B5EF4-FFF2-40B4-BE49-F238E27FC236}">
                <a16:creationId xmlns:a16="http://schemas.microsoft.com/office/drawing/2014/main" id="{DC8414FA-861C-4C45-8126-17951623C531}"/>
              </a:ext>
            </a:extLst>
          </p:cNvPr>
          <p:cNvSpPr txBox="1"/>
          <p:nvPr/>
        </p:nvSpPr>
        <p:spPr>
          <a:xfrm>
            <a:off x="1551003" y="3236890"/>
            <a:ext cx="9193581" cy="2862322"/>
          </a:xfrm>
          <a:prstGeom prst="rect">
            <a:avLst/>
          </a:prstGeom>
          <a:noFill/>
        </p:spPr>
        <p:txBody>
          <a:bodyPr wrap="square" rtlCol="0">
            <a:spAutoFit/>
          </a:bodyPr>
          <a:lstStyle/>
          <a:p>
            <a:r>
              <a:rPr lang="fr-FR" sz="3600" dirty="0">
                <a:solidFill>
                  <a:schemeClr val="tx2">
                    <a:lumMod val="50000"/>
                  </a:schemeClr>
                </a:solidFill>
              </a:rPr>
              <a:t>Le glucose et le BMI sont significativement liés au diabète, et le glucose apparaît comme le facteur le plus </a:t>
            </a:r>
            <a:r>
              <a:rPr lang="fr-FR" sz="3600" dirty="0" err="1">
                <a:solidFill>
                  <a:schemeClr val="tx2">
                    <a:lumMod val="50000"/>
                  </a:schemeClr>
                </a:solidFill>
              </a:rPr>
              <a:t>déterminant.Les</a:t>
            </a:r>
            <a:r>
              <a:rPr lang="fr-FR" sz="3600" dirty="0">
                <a:solidFill>
                  <a:schemeClr val="tx2">
                    <a:lumMod val="50000"/>
                  </a:schemeClr>
                </a:solidFill>
              </a:rPr>
              <a:t> résultats convergent vers la même conclusion : ces deux variables doivent être surveillées en priorité.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Freeform 2"/>
          <p:cNvSpPr/>
          <p:nvPr/>
        </p:nvSpPr>
        <p:spPr>
          <a:xfrm>
            <a:off x="-3081380" y="-47304"/>
            <a:ext cx="24081778" cy="13923106"/>
          </a:xfrm>
          <a:custGeom>
            <a:avLst/>
            <a:gdLst/>
            <a:ahLst/>
            <a:cxnLst/>
            <a:rect l="l" t="t" r="r" b="b"/>
            <a:pathLst>
              <a:path w="24081778" h="13923106">
                <a:moveTo>
                  <a:pt x="0" y="0"/>
                </a:moveTo>
                <a:lnTo>
                  <a:pt x="24081778" y="0"/>
                </a:lnTo>
                <a:lnTo>
                  <a:pt x="24081778" y="13923106"/>
                </a:lnTo>
                <a:lnTo>
                  <a:pt x="0" y="139231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rot="-10800000">
            <a:off x="-4134552" y="-6678433"/>
            <a:ext cx="13094061" cy="9190030"/>
            <a:chOff x="0" y="0"/>
            <a:chExt cx="17458748" cy="12253373"/>
          </a:xfrm>
        </p:grpSpPr>
        <p:sp>
          <p:nvSpPr>
            <p:cNvPr id="4" name="Freeform 4"/>
            <p:cNvSpPr/>
            <p:nvPr/>
          </p:nvSpPr>
          <p:spPr>
            <a:xfrm>
              <a:off x="252415" y="52324"/>
              <a:ext cx="17383726" cy="12253468"/>
            </a:xfrm>
            <a:custGeom>
              <a:avLst/>
              <a:gdLst/>
              <a:ahLst/>
              <a:cxnLst/>
              <a:rect l="l" t="t" r="r" b="b"/>
              <a:pathLst>
                <a:path w="17383726" h="12253468">
                  <a:moveTo>
                    <a:pt x="17383726" y="6126226"/>
                  </a:moveTo>
                  <a:cubicBezTo>
                    <a:pt x="17383726" y="9510395"/>
                    <a:pt x="13549265" y="12253468"/>
                    <a:pt x="8728632" y="12253468"/>
                  </a:cubicBezTo>
                  <a:cubicBezTo>
                    <a:pt x="3907999" y="12253468"/>
                    <a:pt x="0" y="9510395"/>
                    <a:pt x="0" y="6126226"/>
                  </a:cubicBezTo>
                  <a:cubicBezTo>
                    <a:pt x="0" y="2742946"/>
                    <a:pt x="3908181" y="0"/>
                    <a:pt x="8728814" y="0"/>
                  </a:cubicBezTo>
                  <a:cubicBezTo>
                    <a:pt x="13549445" y="0"/>
                    <a:pt x="17383726" y="2742946"/>
                    <a:pt x="17383726" y="6126226"/>
                  </a:cubicBezTo>
                  <a:close/>
                </a:path>
              </a:pathLst>
            </a:custGeom>
            <a:solidFill>
              <a:srgbClr val="B6E3F1"/>
            </a:solidFill>
          </p:spPr>
        </p:sp>
      </p:grpSp>
      <p:sp>
        <p:nvSpPr>
          <p:cNvPr id="5" name="Freeform 5"/>
          <p:cNvSpPr/>
          <p:nvPr/>
        </p:nvSpPr>
        <p:spPr>
          <a:xfrm>
            <a:off x="11736242" y="2176186"/>
            <a:ext cx="6112442" cy="8110936"/>
          </a:xfrm>
          <a:custGeom>
            <a:avLst/>
            <a:gdLst/>
            <a:ahLst/>
            <a:cxnLst/>
            <a:rect l="l" t="t" r="r" b="b"/>
            <a:pathLst>
              <a:path w="6112442" h="8110936">
                <a:moveTo>
                  <a:pt x="0" y="0"/>
                </a:moveTo>
                <a:lnTo>
                  <a:pt x="6112442" y="0"/>
                </a:lnTo>
                <a:lnTo>
                  <a:pt x="6112442" y="8110936"/>
                </a:lnTo>
                <a:lnTo>
                  <a:pt x="0" y="811093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597" y="445009"/>
            <a:ext cx="2280594" cy="1998394"/>
          </a:xfrm>
          <a:custGeom>
            <a:avLst/>
            <a:gdLst/>
            <a:ahLst/>
            <a:cxnLst/>
            <a:rect l="l" t="t" r="r" b="b"/>
            <a:pathLst>
              <a:path w="2280594" h="1998394">
                <a:moveTo>
                  <a:pt x="0" y="0"/>
                </a:moveTo>
                <a:lnTo>
                  <a:pt x="2280594" y="0"/>
                </a:lnTo>
                <a:lnTo>
                  <a:pt x="2280594" y="1998394"/>
                </a:lnTo>
                <a:lnTo>
                  <a:pt x="0" y="19983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028700" y="4177685"/>
            <a:ext cx="9663900" cy="1931630"/>
          </a:xfrm>
          <a:custGeom>
            <a:avLst/>
            <a:gdLst/>
            <a:ahLst/>
            <a:cxnLst/>
            <a:rect l="l" t="t" r="r" b="b"/>
            <a:pathLst>
              <a:path w="12885200" h="2575506">
                <a:moveTo>
                  <a:pt x="0" y="0"/>
                </a:moveTo>
                <a:lnTo>
                  <a:pt x="12885200" y="0"/>
                </a:lnTo>
                <a:lnTo>
                  <a:pt x="12885200" y="2575506"/>
                </a:lnTo>
                <a:lnTo>
                  <a:pt x="0" y="2575506"/>
                </a:lnTo>
                <a:close/>
              </a:path>
            </a:pathLst>
          </a:custGeom>
        </p:spPr>
      </p:sp>
      <p:sp>
        <p:nvSpPr>
          <p:cNvPr id="10" name="ZoneTexte 9">
            <a:extLst>
              <a:ext uri="{FF2B5EF4-FFF2-40B4-BE49-F238E27FC236}">
                <a16:creationId xmlns:a16="http://schemas.microsoft.com/office/drawing/2014/main" id="{7CB36006-4F66-458F-99EC-C2DDD88B96D7}"/>
              </a:ext>
            </a:extLst>
          </p:cNvPr>
          <p:cNvSpPr txBox="1"/>
          <p:nvPr/>
        </p:nvSpPr>
        <p:spPr>
          <a:xfrm>
            <a:off x="1830242" y="3282486"/>
            <a:ext cx="9906000" cy="3631763"/>
          </a:xfrm>
          <a:prstGeom prst="rect">
            <a:avLst/>
          </a:prstGeom>
          <a:noFill/>
        </p:spPr>
        <p:txBody>
          <a:bodyPr wrap="square" rtlCol="0">
            <a:spAutoFit/>
          </a:bodyPr>
          <a:lstStyle/>
          <a:p>
            <a:r>
              <a:rPr lang="fr-FR" sz="11500" b="1" i="1" dirty="0">
                <a:solidFill>
                  <a:schemeClr val="tx2">
                    <a:lumMod val="50000"/>
                  </a:schemeClr>
                </a:solidFill>
                <a:effectLst>
                  <a:outerShdw blurRad="38100" dist="38100" dir="2700000" algn="tl">
                    <a:srgbClr val="000000">
                      <a:alpha val="43137"/>
                    </a:srgbClr>
                  </a:outerShdw>
                </a:effectLst>
              </a:rPr>
              <a:t>Merci pour votre attention!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TotalTime>
  <Words>1208</Words>
  <Application>Microsoft Office PowerPoint</Application>
  <PresentationFormat>Personnalisé</PresentationFormat>
  <Paragraphs>118</Paragraphs>
  <Slides>14</Slides>
  <Notes>14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Collaboration Research by Slidesgo.pptx</dc:title>
  <dc:creator>USER</dc:creator>
  <cp:lastModifiedBy>Hafsa Fliou</cp:lastModifiedBy>
  <cp:revision>11</cp:revision>
  <dcterms:created xsi:type="dcterms:W3CDTF">2006-08-16T00:00:00Z</dcterms:created>
  <dcterms:modified xsi:type="dcterms:W3CDTF">2026-04-13T21:05:55Z</dcterms:modified>
  <dc:identifier>DAGoeG1Jk5s</dc:identifier>
</cp:coreProperties>
</file>