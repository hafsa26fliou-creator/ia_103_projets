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560320" cy="256032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0"/>
            <a:ext cx="1463040" cy="146304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560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STATISTIQUES AVANCÉES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Normalité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d'Hypothèse &amp; Statistiques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modernes &amp; explications complètes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640080" cy="64008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4133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Slides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4023360"/>
            <a:ext cx="640080" cy="64008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99232" y="4133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Visualisations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4023360"/>
            <a:ext cx="640080" cy="64008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4133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Tests clés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NORMALE — DISTRIBUTION GAUSSIENNE</a:t>
            </a:r>
            <a:endParaRPr lang="en-US" sz="2000" dirty="0"/>
          </a:p>
        </p:txBody>
      </p:sp>
      <p:pic>
        <p:nvPicPr>
          <p:cNvPr id="5" name="Image 0" descr="/home/claude/chart_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5486400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96012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9601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1014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4768" y="1289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de probabilité continue, symétrique, définie par μ (moyenne) et σ (écart-type).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196596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196596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2020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empirique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295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dans [μ±σ]   95% dans [μ±2σ]   99.7% dans [μ±3σ]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89320" y="297180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297180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3026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3009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de la majorité des tests statistiques paramétriques.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3703320"/>
            <a:ext cx="859536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216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Lecture du graphique : </a:t>
            </a:r>
            <a:pPr indent="0" marL="0">
              <a:buNone/>
            </a:pPr>
            <a:r>
              <a:rPr lang="en-US" sz="10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bleue représente la densité de probabilité. Plus une valeur est proche de μ, plus elle est probable. Les zones colorées montrent les proportions de données dans chaque intervalle.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NORMALITÉ — HISTOGRAMME &amp; AJUSTEMENT</a:t>
            </a:r>
            <a:endParaRPr lang="en-US" sz="2000" dirty="0"/>
          </a:p>
        </p:txBody>
      </p:sp>
      <p:pic>
        <p:nvPicPr>
          <p:cNvPr id="5" name="Image 0" descr="/home/claude/chart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85953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84048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3867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(nulle)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4123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suivent une loi normale N(μ,σ²)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50592" y="384048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42032" y="3867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42032" y="4123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rejette pas H₀ → normalité acceptée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26864" y="384048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18304" y="3867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18304" y="4123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rejette H₀ → données non-normales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03136" y="3840480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94576" y="3867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(Shapiro)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94576" y="4123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proche de 1 → forte normalité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VISUEL — Q-Q PLOT (DIAGRAMME QUANTILE-QUANTILE)</a:t>
            </a:r>
            <a:endParaRPr lang="en-US" sz="2000" dirty="0"/>
          </a:p>
        </p:txBody>
      </p:sp>
      <p:pic>
        <p:nvPicPr>
          <p:cNvPr id="5" name="Image 0" descr="/home/claude/chart_qq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859536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quantiles observés vs quantiles théoriques d'une loi N(0,1)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82112" y="393192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211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39312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points suivent la droite → normalité. S'ils dévient en courbe → asymétrie ou kurtosis anormal.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89904" y="39319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9904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47104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par un test formel (Shapiro-Wilk, KS) pour confirmer la décision.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ASYMÉTRIE (SKEWNESS) &amp; APLATISSEMENT (KURTOSIS)</a:t>
            </a:r>
            <a:endParaRPr lang="en-US" sz="2000" dirty="0"/>
          </a:p>
        </p:txBody>
      </p:sp>
      <p:pic>
        <p:nvPicPr>
          <p:cNvPr id="5" name="Image 0" descr="/home/claude/chart_skew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3858768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3877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= 0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(Mésokurtique)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21208" y="42428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normale standard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= 3 (avant normalisation)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385876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70048" y="3877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&gt; 0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(Leptokurtique)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70048" y="42428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lourdes, pic aigu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distributions financières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09160" y="3858768"/>
            <a:ext cx="54864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8888" y="3877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&lt; 0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(Platykurtique)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18888" y="42428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légères, pic aplati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quasi-uniforme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58000" y="385876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7728" y="3877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967728" y="42428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= n[S²/6 + (K-3)²/24]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H₀ : S=0 et K=3 (normalité)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D'HYPOTHÈSE — P-VALUE &amp; ZONES DE REJET</a:t>
            </a:r>
            <a:endParaRPr lang="en-US" sz="2000" dirty="0"/>
          </a:p>
        </p:txBody>
      </p:sp>
      <p:pic>
        <p:nvPicPr>
          <p:cNvPr id="5" name="Image 0" descr="/home/claude/chart_p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79476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794760"/>
            <a:ext cx="2057400" cy="502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: Hypothèse nulle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suppose vrai par défaut. Ex : μ = 50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50592" y="379476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3794760"/>
            <a:ext cx="205740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42032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de test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42032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à quel point les données s'éloignent de H₀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26864" y="379476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6864" y="3794760"/>
            <a:ext cx="20574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18304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rejet (α=5%)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18304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z &gt; 1.96 ou z &lt; −1.96 → on rejette H₀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03136" y="379476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03136" y="3794760"/>
            <a:ext cx="20574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4576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α → Rejet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94576" y="4114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 est petit, plus H₀ est improbable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INTERVALLES DE CONFIANCE À 95% — SIMULATION</a:t>
            </a:r>
            <a:endParaRPr lang="en-US" sz="2000" dirty="0"/>
          </a:p>
        </p:txBody>
      </p:sp>
      <p:pic>
        <p:nvPicPr>
          <p:cNvPr id="5" name="Image 0" descr="/home/claude/chart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57784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868680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868680"/>
            <a:ext cx="278892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72200" y="14173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14173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à 95%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si on répète l'expérience 100 fois, 95 des intervalles contiennent le vrai paramètre μ.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72200" y="207568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0756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x̄ ± 1.96 × (σ/√n)  pour un IC à 95% bilatéral.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72200" y="273405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7960" y="273405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Intervalles rouges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les ~5% qui ne contiennent pas μ — c'est normal, c'est le risque α !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72200" y="33924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3392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n est grand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l'IC est étroit et précis.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72200" y="405079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40507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l'IC n'est pas la probabilité que μ soit dans l'intervalle.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20040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2194560" cy="219456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GUIDE DE DÉCISION PRATIQUE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2633472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737360"/>
                <a:gridCol w="13716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 recommandé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Hypothèse H₀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Utiliser si…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Shapiro-Wilk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 &lt; 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Normalité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⭐⭐⭐⭐⭐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Petit échantillon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KS / Lilliefors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 ≥ 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Normalité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⭐⭐⭐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Grand échantillon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Anderson-Darling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Tout 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Normalité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⭐⭐⭐⭐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Queues de distribution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Jarque-Bera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n &gt; 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S=0, K=3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⭐⭐⭐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Données financières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Q-Q Plot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Tout 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Visuel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👁 Visuel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Diagnostic rapide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8404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85876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Combiner graphiques + tests formels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38404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42032" y="385876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α = 0.05 par convention, à adapter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6864" y="38404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18304" y="385876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Grands n : tests trop sensibles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03136" y="38404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2B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94576" y="385876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Si non-normal → tests non-paramétriques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Tests de Normalité, Tests d'Hypothèse &amp; Statistiques</dc:title>
  <dc:subject>PptxGenJS Presentation</dc:subject>
  <dc:creator>PptxGenJS</dc:creator>
  <cp:lastModifiedBy>PptxGenJS</cp:lastModifiedBy>
  <cp:revision>1</cp:revision>
  <dcterms:created xsi:type="dcterms:W3CDTF">2026-04-08T09:27:52Z</dcterms:created>
  <dcterms:modified xsi:type="dcterms:W3CDTF">2026-04-08T09:27:52Z</dcterms:modified>
</cp:coreProperties>
</file>