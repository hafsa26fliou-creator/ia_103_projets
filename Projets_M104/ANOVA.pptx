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Rustic Printed" charset="1" panose="00000000000000000000"/>
      <p:regular r:id="rId15"/>
    </p:embeddedFont>
    <p:embeddedFont>
      <p:font typeface="Barlow" charset="1" panose="00000500000000000000"/>
      <p:regular r:id="rId16"/>
    </p:embeddedFont>
    <p:embeddedFont>
      <p:font typeface="Barlow Bold" charset="1" panose="00000800000000000000"/>
      <p:regular r:id="rId17"/>
    </p:embeddedFont>
    <p:embeddedFont>
      <p:font typeface="Barlow Bold Italics" charset="1" panose="00000800000000000000"/>
      <p:regular r:id="rId18"/>
    </p:embeddedFont>
    <p:embeddedFont>
      <p:font typeface="Medula One" charset="1" panose="02000000000000000000"/>
      <p:regular r:id="rId19"/>
    </p:embeddedFont>
    <p:embeddedFont>
      <p:font typeface="Kingred Youth"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sp>
        <p:nvSpPr>
          <p:cNvPr name="Freeform 2" id="2"/>
          <p:cNvSpPr/>
          <p:nvPr/>
        </p:nvSpPr>
        <p:spPr>
          <a:xfrm flipH="false" flipV="false" rot="0">
            <a:off x="-275458" y="-440292"/>
            <a:ext cx="19032293" cy="10727292"/>
          </a:xfrm>
          <a:custGeom>
            <a:avLst/>
            <a:gdLst/>
            <a:ahLst/>
            <a:cxnLst/>
            <a:rect r="r" b="b" t="t" l="l"/>
            <a:pathLst>
              <a:path h="10727292" w="19032293">
                <a:moveTo>
                  <a:pt x="0" y="0"/>
                </a:moveTo>
                <a:lnTo>
                  <a:pt x="19032292" y="0"/>
                </a:lnTo>
                <a:lnTo>
                  <a:pt x="19032292" y="10727292"/>
                </a:lnTo>
                <a:lnTo>
                  <a:pt x="0" y="107272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92352" y="1181904"/>
            <a:ext cx="13103297" cy="8076396"/>
          </a:xfrm>
          <a:custGeom>
            <a:avLst/>
            <a:gdLst/>
            <a:ahLst/>
            <a:cxnLst/>
            <a:rect r="r" b="b" t="t" l="l"/>
            <a:pathLst>
              <a:path h="8076396" w="13103297">
                <a:moveTo>
                  <a:pt x="0" y="0"/>
                </a:moveTo>
                <a:lnTo>
                  <a:pt x="13103296" y="0"/>
                </a:lnTo>
                <a:lnTo>
                  <a:pt x="13103296" y="8076396"/>
                </a:lnTo>
                <a:lnTo>
                  <a:pt x="0" y="80763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82310">
            <a:off x="554057" y="7919481"/>
            <a:ext cx="1825663" cy="2677639"/>
          </a:xfrm>
          <a:custGeom>
            <a:avLst/>
            <a:gdLst/>
            <a:ahLst/>
            <a:cxnLst/>
            <a:rect r="r" b="b" t="t" l="l"/>
            <a:pathLst>
              <a:path h="2677639" w="1825663">
                <a:moveTo>
                  <a:pt x="0" y="0"/>
                </a:moveTo>
                <a:lnTo>
                  <a:pt x="1825663" y="0"/>
                </a:lnTo>
                <a:lnTo>
                  <a:pt x="1825663" y="2677638"/>
                </a:lnTo>
                <a:lnTo>
                  <a:pt x="0" y="26776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1878" y="354068"/>
            <a:ext cx="1754843" cy="2359814"/>
          </a:xfrm>
          <a:custGeom>
            <a:avLst/>
            <a:gdLst/>
            <a:ahLst/>
            <a:cxnLst/>
            <a:rect r="r" b="b" t="t" l="l"/>
            <a:pathLst>
              <a:path h="2359814" w="1754843">
                <a:moveTo>
                  <a:pt x="0" y="0"/>
                </a:moveTo>
                <a:lnTo>
                  <a:pt x="1754844" y="0"/>
                </a:lnTo>
                <a:lnTo>
                  <a:pt x="1754844" y="2359814"/>
                </a:lnTo>
                <a:lnTo>
                  <a:pt x="0" y="23598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930554">
            <a:off x="16399319" y="7469689"/>
            <a:ext cx="2458760" cy="2342528"/>
          </a:xfrm>
          <a:custGeom>
            <a:avLst/>
            <a:gdLst/>
            <a:ahLst/>
            <a:cxnLst/>
            <a:rect r="r" b="b" t="t" l="l"/>
            <a:pathLst>
              <a:path h="2342528" w="2458760">
                <a:moveTo>
                  <a:pt x="0" y="0"/>
                </a:moveTo>
                <a:lnTo>
                  <a:pt x="2458760" y="0"/>
                </a:lnTo>
                <a:lnTo>
                  <a:pt x="2458760" y="2342527"/>
                </a:lnTo>
                <a:lnTo>
                  <a:pt x="0" y="2342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878462" y="1887584"/>
            <a:ext cx="9598312" cy="2686065"/>
          </a:xfrm>
          <a:prstGeom prst="rect">
            <a:avLst/>
          </a:prstGeom>
        </p:spPr>
        <p:txBody>
          <a:bodyPr anchor="t" rtlCol="false" tIns="0" lIns="0" bIns="0" rIns="0">
            <a:spAutoFit/>
          </a:bodyPr>
          <a:lstStyle/>
          <a:p>
            <a:pPr algn="ctr">
              <a:lnSpc>
                <a:spcPts val="18899"/>
              </a:lnSpc>
            </a:pPr>
            <a:r>
              <a:rPr lang="en-US" sz="13499">
                <a:solidFill>
                  <a:srgbClr val="5B5C48"/>
                </a:solidFill>
                <a:latin typeface="Rustic Printed"/>
                <a:ea typeface="Rustic Printed"/>
                <a:cs typeface="Rustic Printed"/>
                <a:sym typeface="Rustic Printed"/>
              </a:rPr>
              <a:t>ANOVA</a:t>
            </a:r>
          </a:p>
        </p:txBody>
      </p:sp>
      <p:sp>
        <p:nvSpPr>
          <p:cNvPr name="TextBox 8" id="8"/>
          <p:cNvSpPr txBox="true"/>
          <p:nvPr/>
        </p:nvSpPr>
        <p:spPr>
          <a:xfrm rot="0">
            <a:off x="4454621" y="4468874"/>
            <a:ext cx="7596842" cy="2526031"/>
          </a:xfrm>
          <a:prstGeom prst="rect">
            <a:avLst/>
          </a:prstGeom>
        </p:spPr>
        <p:txBody>
          <a:bodyPr anchor="t" rtlCol="false" tIns="0" lIns="0" bIns="0" rIns="0">
            <a:spAutoFit/>
          </a:bodyPr>
          <a:lstStyle/>
          <a:p>
            <a:pPr algn="ctr">
              <a:lnSpc>
                <a:spcPts val="6719"/>
              </a:lnSpc>
            </a:pPr>
            <a:r>
              <a:rPr lang="en-US" sz="4799">
                <a:solidFill>
                  <a:srgbClr val="8D8E6F"/>
                </a:solidFill>
                <a:latin typeface="Barlow"/>
                <a:ea typeface="Barlow"/>
                <a:cs typeface="Barlow"/>
                <a:sym typeface="Barlow"/>
              </a:rPr>
              <a:t>Présentater par: Fatheddine Alaa, El Khayat Aya, Fliou Hafsa, Wahid Khadija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1028700" y="610367"/>
            <a:ext cx="16230600" cy="2297125"/>
            <a:chOff x="0" y="0"/>
            <a:chExt cx="4577354" cy="647835"/>
          </a:xfrm>
        </p:grpSpPr>
        <p:sp>
          <p:nvSpPr>
            <p:cNvPr name="Freeform 3" id="3"/>
            <p:cNvSpPr/>
            <p:nvPr/>
          </p:nvSpPr>
          <p:spPr>
            <a:xfrm flipH="false" flipV="false" rot="0">
              <a:off x="0" y="0"/>
              <a:ext cx="4577354" cy="647835"/>
            </a:xfrm>
            <a:custGeom>
              <a:avLst/>
              <a:gdLst/>
              <a:ahLst/>
              <a:cxnLst/>
              <a:rect r="r" b="b" t="t" l="l"/>
              <a:pathLst>
                <a:path h="647835" w="4577354">
                  <a:moveTo>
                    <a:pt x="14310" y="0"/>
                  </a:moveTo>
                  <a:lnTo>
                    <a:pt x="4563044" y="0"/>
                  </a:lnTo>
                  <a:cubicBezTo>
                    <a:pt x="4566839" y="0"/>
                    <a:pt x="4570479" y="1508"/>
                    <a:pt x="4573162" y="4191"/>
                  </a:cubicBezTo>
                  <a:cubicBezTo>
                    <a:pt x="4575846" y="6875"/>
                    <a:pt x="4577354" y="10515"/>
                    <a:pt x="4577354" y="14310"/>
                  </a:cubicBezTo>
                  <a:lnTo>
                    <a:pt x="4577354" y="633525"/>
                  </a:lnTo>
                  <a:cubicBezTo>
                    <a:pt x="4577354" y="637321"/>
                    <a:pt x="4575846" y="640960"/>
                    <a:pt x="4573162" y="643644"/>
                  </a:cubicBezTo>
                  <a:cubicBezTo>
                    <a:pt x="4570479" y="646328"/>
                    <a:pt x="4566839" y="647835"/>
                    <a:pt x="4563044" y="647835"/>
                  </a:cubicBezTo>
                  <a:lnTo>
                    <a:pt x="14310" y="647835"/>
                  </a:lnTo>
                  <a:cubicBezTo>
                    <a:pt x="10515" y="647835"/>
                    <a:pt x="6875" y="646328"/>
                    <a:pt x="4191" y="643644"/>
                  </a:cubicBezTo>
                  <a:cubicBezTo>
                    <a:pt x="1508" y="640960"/>
                    <a:pt x="0" y="637321"/>
                    <a:pt x="0" y="633525"/>
                  </a:cubicBezTo>
                  <a:lnTo>
                    <a:pt x="0" y="14310"/>
                  </a:lnTo>
                  <a:cubicBezTo>
                    <a:pt x="0" y="10515"/>
                    <a:pt x="1508" y="6875"/>
                    <a:pt x="4191" y="4191"/>
                  </a:cubicBezTo>
                  <a:cubicBezTo>
                    <a:pt x="6875" y="1508"/>
                    <a:pt x="10515" y="0"/>
                    <a:pt x="14310" y="0"/>
                  </a:cubicBezTo>
                  <a:close/>
                </a:path>
              </a:pathLst>
            </a:custGeom>
            <a:solidFill>
              <a:srgbClr val="727357"/>
            </a:solidFill>
          </p:spPr>
        </p:sp>
        <p:sp>
          <p:nvSpPr>
            <p:cNvPr name="TextBox 4" id="4"/>
            <p:cNvSpPr txBox="true"/>
            <p:nvPr/>
          </p:nvSpPr>
          <p:spPr>
            <a:xfrm>
              <a:off x="0" y="-19050"/>
              <a:ext cx="4577354" cy="666885"/>
            </a:xfrm>
            <a:prstGeom prst="rect">
              <a:avLst/>
            </a:prstGeom>
          </p:spPr>
          <p:txBody>
            <a:bodyPr anchor="ctr" rtlCol="false" tIns="48876" lIns="48876" bIns="48876" rIns="48876"/>
            <a:lstStyle/>
            <a:p>
              <a:pPr algn="ctr">
                <a:lnSpc>
                  <a:spcPts val="1333"/>
                </a:lnSpc>
              </a:pPr>
            </a:p>
          </p:txBody>
        </p:sp>
      </p:grpSp>
      <p:sp>
        <p:nvSpPr>
          <p:cNvPr name="TextBox 5" id="5"/>
          <p:cNvSpPr txBox="true"/>
          <p:nvPr/>
        </p:nvSpPr>
        <p:spPr>
          <a:xfrm rot="0">
            <a:off x="2388969" y="628650"/>
            <a:ext cx="13510061" cy="1672590"/>
          </a:xfrm>
          <a:prstGeom prst="rect">
            <a:avLst/>
          </a:prstGeom>
        </p:spPr>
        <p:txBody>
          <a:bodyPr anchor="t" rtlCol="false" tIns="0" lIns="0" bIns="0" rIns="0">
            <a:spAutoFit/>
          </a:bodyPr>
          <a:lstStyle/>
          <a:p>
            <a:pPr algn="ctr">
              <a:lnSpc>
                <a:spcPts val="11760"/>
              </a:lnSpc>
            </a:pPr>
            <a:r>
              <a:rPr lang="en-US" sz="8400">
                <a:solidFill>
                  <a:srgbClr val="FFFFFF"/>
                </a:solidFill>
                <a:latin typeface="Rustic Printed"/>
                <a:ea typeface="Rustic Printed"/>
                <a:cs typeface="Rustic Printed"/>
                <a:sym typeface="Rustic Printed"/>
              </a:rPr>
              <a:t>Plan:</a:t>
            </a:r>
          </a:p>
        </p:txBody>
      </p:sp>
      <p:grpSp>
        <p:nvGrpSpPr>
          <p:cNvPr name="Group 6" id="6"/>
          <p:cNvGrpSpPr/>
          <p:nvPr/>
        </p:nvGrpSpPr>
        <p:grpSpPr>
          <a:xfrm rot="0">
            <a:off x="1401943" y="3609802"/>
            <a:ext cx="7368815" cy="2364860"/>
            <a:chOff x="0" y="0"/>
            <a:chExt cx="2078153" cy="666938"/>
          </a:xfrm>
        </p:grpSpPr>
        <p:sp>
          <p:nvSpPr>
            <p:cNvPr name="Freeform 7" id="7"/>
            <p:cNvSpPr/>
            <p:nvPr/>
          </p:nvSpPr>
          <p:spPr>
            <a:xfrm flipH="false" flipV="false" rot="0">
              <a:off x="0" y="0"/>
              <a:ext cx="2078153" cy="666938"/>
            </a:xfrm>
            <a:custGeom>
              <a:avLst/>
              <a:gdLst/>
              <a:ahLst/>
              <a:cxnLst/>
              <a:rect r="r" b="b" t="t" l="l"/>
              <a:pathLst>
                <a:path h="666938" w="2078153">
                  <a:moveTo>
                    <a:pt x="21013" y="0"/>
                  </a:moveTo>
                  <a:lnTo>
                    <a:pt x="2057140" y="0"/>
                  </a:lnTo>
                  <a:cubicBezTo>
                    <a:pt x="2062713" y="0"/>
                    <a:pt x="2068058" y="2214"/>
                    <a:pt x="2071999" y="6154"/>
                  </a:cubicBezTo>
                  <a:cubicBezTo>
                    <a:pt x="2075939" y="10095"/>
                    <a:pt x="2078153" y="15440"/>
                    <a:pt x="2078153" y="21013"/>
                  </a:cubicBezTo>
                  <a:lnTo>
                    <a:pt x="2078153" y="645925"/>
                  </a:lnTo>
                  <a:cubicBezTo>
                    <a:pt x="2078153" y="651498"/>
                    <a:pt x="2075939" y="656843"/>
                    <a:pt x="2071999" y="660783"/>
                  </a:cubicBezTo>
                  <a:cubicBezTo>
                    <a:pt x="2068058" y="664724"/>
                    <a:pt x="2062713" y="666938"/>
                    <a:pt x="2057140" y="666938"/>
                  </a:cubicBezTo>
                  <a:lnTo>
                    <a:pt x="21013" y="666938"/>
                  </a:lnTo>
                  <a:cubicBezTo>
                    <a:pt x="9408" y="666938"/>
                    <a:pt x="0" y="657530"/>
                    <a:pt x="0" y="645925"/>
                  </a:cubicBezTo>
                  <a:lnTo>
                    <a:pt x="0" y="21013"/>
                  </a:lnTo>
                  <a:cubicBezTo>
                    <a:pt x="0" y="15440"/>
                    <a:pt x="2214" y="10095"/>
                    <a:pt x="6154" y="6154"/>
                  </a:cubicBezTo>
                  <a:cubicBezTo>
                    <a:pt x="10095" y="2214"/>
                    <a:pt x="15440" y="0"/>
                    <a:pt x="21013" y="0"/>
                  </a:cubicBezTo>
                  <a:close/>
                </a:path>
              </a:pathLst>
            </a:custGeom>
            <a:solidFill>
              <a:srgbClr val="FFFFFF"/>
            </a:solidFill>
          </p:spPr>
        </p:sp>
        <p:sp>
          <p:nvSpPr>
            <p:cNvPr name="TextBox 8" id="8"/>
            <p:cNvSpPr txBox="true"/>
            <p:nvPr/>
          </p:nvSpPr>
          <p:spPr>
            <a:xfrm>
              <a:off x="0" y="-19050"/>
              <a:ext cx="2078153" cy="685988"/>
            </a:xfrm>
            <a:prstGeom prst="rect">
              <a:avLst/>
            </a:prstGeom>
          </p:spPr>
          <p:txBody>
            <a:bodyPr anchor="ctr" rtlCol="false" tIns="48876" lIns="48876" bIns="48876" rIns="48876"/>
            <a:lstStyle/>
            <a:p>
              <a:pPr algn="ctr">
                <a:lnSpc>
                  <a:spcPts val="1333"/>
                </a:lnSpc>
              </a:pPr>
            </a:p>
          </p:txBody>
        </p:sp>
      </p:grpSp>
      <p:grpSp>
        <p:nvGrpSpPr>
          <p:cNvPr name="Group 9" id="9"/>
          <p:cNvGrpSpPr/>
          <p:nvPr/>
        </p:nvGrpSpPr>
        <p:grpSpPr>
          <a:xfrm rot="0">
            <a:off x="9517243" y="3609802"/>
            <a:ext cx="7368815" cy="2364860"/>
            <a:chOff x="0" y="0"/>
            <a:chExt cx="2078153" cy="666938"/>
          </a:xfrm>
        </p:grpSpPr>
        <p:sp>
          <p:nvSpPr>
            <p:cNvPr name="Freeform 10" id="10"/>
            <p:cNvSpPr/>
            <p:nvPr/>
          </p:nvSpPr>
          <p:spPr>
            <a:xfrm flipH="false" flipV="false" rot="0">
              <a:off x="0" y="0"/>
              <a:ext cx="2078153" cy="666938"/>
            </a:xfrm>
            <a:custGeom>
              <a:avLst/>
              <a:gdLst/>
              <a:ahLst/>
              <a:cxnLst/>
              <a:rect r="r" b="b" t="t" l="l"/>
              <a:pathLst>
                <a:path h="666938" w="2078153">
                  <a:moveTo>
                    <a:pt x="21013" y="0"/>
                  </a:moveTo>
                  <a:lnTo>
                    <a:pt x="2057140" y="0"/>
                  </a:lnTo>
                  <a:cubicBezTo>
                    <a:pt x="2062713" y="0"/>
                    <a:pt x="2068058" y="2214"/>
                    <a:pt x="2071999" y="6154"/>
                  </a:cubicBezTo>
                  <a:cubicBezTo>
                    <a:pt x="2075939" y="10095"/>
                    <a:pt x="2078153" y="15440"/>
                    <a:pt x="2078153" y="21013"/>
                  </a:cubicBezTo>
                  <a:lnTo>
                    <a:pt x="2078153" y="645925"/>
                  </a:lnTo>
                  <a:cubicBezTo>
                    <a:pt x="2078153" y="651498"/>
                    <a:pt x="2075939" y="656843"/>
                    <a:pt x="2071999" y="660783"/>
                  </a:cubicBezTo>
                  <a:cubicBezTo>
                    <a:pt x="2068058" y="664724"/>
                    <a:pt x="2062713" y="666938"/>
                    <a:pt x="2057140" y="666938"/>
                  </a:cubicBezTo>
                  <a:lnTo>
                    <a:pt x="21013" y="666938"/>
                  </a:lnTo>
                  <a:cubicBezTo>
                    <a:pt x="9408" y="666938"/>
                    <a:pt x="0" y="657530"/>
                    <a:pt x="0" y="645925"/>
                  </a:cubicBezTo>
                  <a:lnTo>
                    <a:pt x="0" y="21013"/>
                  </a:lnTo>
                  <a:cubicBezTo>
                    <a:pt x="0" y="15440"/>
                    <a:pt x="2214" y="10095"/>
                    <a:pt x="6154" y="6154"/>
                  </a:cubicBezTo>
                  <a:cubicBezTo>
                    <a:pt x="10095" y="2214"/>
                    <a:pt x="15440" y="0"/>
                    <a:pt x="21013" y="0"/>
                  </a:cubicBezTo>
                  <a:close/>
                </a:path>
              </a:pathLst>
            </a:custGeom>
            <a:solidFill>
              <a:srgbClr val="FFFFFF"/>
            </a:solidFill>
          </p:spPr>
        </p:sp>
        <p:sp>
          <p:nvSpPr>
            <p:cNvPr name="TextBox 11" id="11"/>
            <p:cNvSpPr txBox="true"/>
            <p:nvPr/>
          </p:nvSpPr>
          <p:spPr>
            <a:xfrm>
              <a:off x="0" y="-19050"/>
              <a:ext cx="2078153" cy="685988"/>
            </a:xfrm>
            <a:prstGeom prst="rect">
              <a:avLst/>
            </a:prstGeom>
          </p:spPr>
          <p:txBody>
            <a:bodyPr anchor="ctr" rtlCol="false" tIns="48876" lIns="48876" bIns="48876" rIns="48876"/>
            <a:lstStyle/>
            <a:p>
              <a:pPr algn="ctr">
                <a:lnSpc>
                  <a:spcPts val="1333"/>
                </a:lnSpc>
              </a:pPr>
            </a:p>
          </p:txBody>
        </p:sp>
      </p:grpSp>
      <p:grpSp>
        <p:nvGrpSpPr>
          <p:cNvPr name="Group 12" id="12"/>
          <p:cNvGrpSpPr/>
          <p:nvPr/>
        </p:nvGrpSpPr>
        <p:grpSpPr>
          <a:xfrm rot="0">
            <a:off x="1401943" y="6645005"/>
            <a:ext cx="7368815" cy="2364860"/>
            <a:chOff x="0" y="0"/>
            <a:chExt cx="2078153" cy="666938"/>
          </a:xfrm>
        </p:grpSpPr>
        <p:sp>
          <p:nvSpPr>
            <p:cNvPr name="Freeform 13" id="13"/>
            <p:cNvSpPr/>
            <p:nvPr/>
          </p:nvSpPr>
          <p:spPr>
            <a:xfrm flipH="false" flipV="false" rot="0">
              <a:off x="0" y="0"/>
              <a:ext cx="2078153" cy="666938"/>
            </a:xfrm>
            <a:custGeom>
              <a:avLst/>
              <a:gdLst/>
              <a:ahLst/>
              <a:cxnLst/>
              <a:rect r="r" b="b" t="t" l="l"/>
              <a:pathLst>
                <a:path h="666938" w="2078153">
                  <a:moveTo>
                    <a:pt x="21013" y="0"/>
                  </a:moveTo>
                  <a:lnTo>
                    <a:pt x="2057140" y="0"/>
                  </a:lnTo>
                  <a:cubicBezTo>
                    <a:pt x="2062713" y="0"/>
                    <a:pt x="2068058" y="2214"/>
                    <a:pt x="2071999" y="6154"/>
                  </a:cubicBezTo>
                  <a:cubicBezTo>
                    <a:pt x="2075939" y="10095"/>
                    <a:pt x="2078153" y="15440"/>
                    <a:pt x="2078153" y="21013"/>
                  </a:cubicBezTo>
                  <a:lnTo>
                    <a:pt x="2078153" y="645925"/>
                  </a:lnTo>
                  <a:cubicBezTo>
                    <a:pt x="2078153" y="651498"/>
                    <a:pt x="2075939" y="656843"/>
                    <a:pt x="2071999" y="660783"/>
                  </a:cubicBezTo>
                  <a:cubicBezTo>
                    <a:pt x="2068058" y="664724"/>
                    <a:pt x="2062713" y="666938"/>
                    <a:pt x="2057140" y="666938"/>
                  </a:cubicBezTo>
                  <a:lnTo>
                    <a:pt x="21013" y="666938"/>
                  </a:lnTo>
                  <a:cubicBezTo>
                    <a:pt x="9408" y="666938"/>
                    <a:pt x="0" y="657530"/>
                    <a:pt x="0" y="645925"/>
                  </a:cubicBezTo>
                  <a:lnTo>
                    <a:pt x="0" y="21013"/>
                  </a:lnTo>
                  <a:cubicBezTo>
                    <a:pt x="0" y="15440"/>
                    <a:pt x="2214" y="10095"/>
                    <a:pt x="6154" y="6154"/>
                  </a:cubicBezTo>
                  <a:cubicBezTo>
                    <a:pt x="10095" y="2214"/>
                    <a:pt x="15440" y="0"/>
                    <a:pt x="21013" y="0"/>
                  </a:cubicBezTo>
                  <a:close/>
                </a:path>
              </a:pathLst>
            </a:custGeom>
            <a:solidFill>
              <a:srgbClr val="FFFFFF"/>
            </a:solidFill>
          </p:spPr>
        </p:sp>
        <p:sp>
          <p:nvSpPr>
            <p:cNvPr name="TextBox 14" id="14"/>
            <p:cNvSpPr txBox="true"/>
            <p:nvPr/>
          </p:nvSpPr>
          <p:spPr>
            <a:xfrm>
              <a:off x="0" y="-19050"/>
              <a:ext cx="2078153" cy="685988"/>
            </a:xfrm>
            <a:prstGeom prst="rect">
              <a:avLst/>
            </a:prstGeom>
          </p:spPr>
          <p:txBody>
            <a:bodyPr anchor="ctr" rtlCol="false" tIns="48876" lIns="48876" bIns="48876" rIns="48876"/>
            <a:lstStyle/>
            <a:p>
              <a:pPr algn="ctr">
                <a:lnSpc>
                  <a:spcPts val="1333"/>
                </a:lnSpc>
              </a:pPr>
            </a:p>
          </p:txBody>
        </p:sp>
      </p:grpSp>
      <p:grpSp>
        <p:nvGrpSpPr>
          <p:cNvPr name="Group 15" id="15"/>
          <p:cNvGrpSpPr/>
          <p:nvPr/>
        </p:nvGrpSpPr>
        <p:grpSpPr>
          <a:xfrm rot="0">
            <a:off x="9517243" y="6645005"/>
            <a:ext cx="7368815" cy="2364860"/>
            <a:chOff x="0" y="0"/>
            <a:chExt cx="2078153" cy="666938"/>
          </a:xfrm>
        </p:grpSpPr>
        <p:sp>
          <p:nvSpPr>
            <p:cNvPr name="Freeform 16" id="16"/>
            <p:cNvSpPr/>
            <p:nvPr/>
          </p:nvSpPr>
          <p:spPr>
            <a:xfrm flipH="false" flipV="false" rot="0">
              <a:off x="0" y="0"/>
              <a:ext cx="2078153" cy="666938"/>
            </a:xfrm>
            <a:custGeom>
              <a:avLst/>
              <a:gdLst/>
              <a:ahLst/>
              <a:cxnLst/>
              <a:rect r="r" b="b" t="t" l="l"/>
              <a:pathLst>
                <a:path h="666938" w="2078153">
                  <a:moveTo>
                    <a:pt x="21013" y="0"/>
                  </a:moveTo>
                  <a:lnTo>
                    <a:pt x="2057140" y="0"/>
                  </a:lnTo>
                  <a:cubicBezTo>
                    <a:pt x="2062713" y="0"/>
                    <a:pt x="2068058" y="2214"/>
                    <a:pt x="2071999" y="6154"/>
                  </a:cubicBezTo>
                  <a:cubicBezTo>
                    <a:pt x="2075939" y="10095"/>
                    <a:pt x="2078153" y="15440"/>
                    <a:pt x="2078153" y="21013"/>
                  </a:cubicBezTo>
                  <a:lnTo>
                    <a:pt x="2078153" y="645925"/>
                  </a:lnTo>
                  <a:cubicBezTo>
                    <a:pt x="2078153" y="651498"/>
                    <a:pt x="2075939" y="656843"/>
                    <a:pt x="2071999" y="660783"/>
                  </a:cubicBezTo>
                  <a:cubicBezTo>
                    <a:pt x="2068058" y="664724"/>
                    <a:pt x="2062713" y="666938"/>
                    <a:pt x="2057140" y="666938"/>
                  </a:cubicBezTo>
                  <a:lnTo>
                    <a:pt x="21013" y="666938"/>
                  </a:lnTo>
                  <a:cubicBezTo>
                    <a:pt x="9408" y="666938"/>
                    <a:pt x="0" y="657530"/>
                    <a:pt x="0" y="645925"/>
                  </a:cubicBezTo>
                  <a:lnTo>
                    <a:pt x="0" y="21013"/>
                  </a:lnTo>
                  <a:cubicBezTo>
                    <a:pt x="0" y="15440"/>
                    <a:pt x="2214" y="10095"/>
                    <a:pt x="6154" y="6154"/>
                  </a:cubicBezTo>
                  <a:cubicBezTo>
                    <a:pt x="10095" y="2214"/>
                    <a:pt x="15440" y="0"/>
                    <a:pt x="21013" y="0"/>
                  </a:cubicBezTo>
                  <a:close/>
                </a:path>
              </a:pathLst>
            </a:custGeom>
            <a:solidFill>
              <a:srgbClr val="FFFFFF"/>
            </a:solidFill>
          </p:spPr>
        </p:sp>
        <p:sp>
          <p:nvSpPr>
            <p:cNvPr name="TextBox 17" id="17"/>
            <p:cNvSpPr txBox="true"/>
            <p:nvPr/>
          </p:nvSpPr>
          <p:spPr>
            <a:xfrm>
              <a:off x="0" y="-19050"/>
              <a:ext cx="2078153" cy="685988"/>
            </a:xfrm>
            <a:prstGeom prst="rect">
              <a:avLst/>
            </a:prstGeom>
          </p:spPr>
          <p:txBody>
            <a:bodyPr anchor="ctr" rtlCol="false" tIns="48876" lIns="48876" bIns="48876" rIns="48876"/>
            <a:lstStyle/>
            <a:p>
              <a:pPr algn="ctr">
                <a:lnSpc>
                  <a:spcPts val="1333"/>
                </a:lnSpc>
              </a:pPr>
            </a:p>
          </p:txBody>
        </p:sp>
      </p:grpSp>
      <p:sp>
        <p:nvSpPr>
          <p:cNvPr name="TextBox 18" id="18"/>
          <p:cNvSpPr txBox="true"/>
          <p:nvPr/>
        </p:nvSpPr>
        <p:spPr>
          <a:xfrm rot="0">
            <a:off x="2706582" y="4260498"/>
            <a:ext cx="4759537" cy="987426"/>
          </a:xfrm>
          <a:prstGeom prst="rect">
            <a:avLst/>
          </a:prstGeom>
        </p:spPr>
        <p:txBody>
          <a:bodyPr anchor="t" rtlCol="false" tIns="0" lIns="0" bIns="0" rIns="0">
            <a:spAutoFit/>
          </a:bodyPr>
          <a:lstStyle/>
          <a:p>
            <a:pPr algn="ctr">
              <a:lnSpc>
                <a:spcPts val="6999"/>
              </a:lnSpc>
            </a:pPr>
            <a:r>
              <a:rPr lang="en-US" sz="4999">
                <a:solidFill>
                  <a:srgbClr val="5B5C48"/>
                </a:solidFill>
                <a:latin typeface="Rustic Printed"/>
                <a:ea typeface="Rustic Printed"/>
                <a:cs typeface="Rustic Printed"/>
                <a:sym typeface="Rustic Printed"/>
              </a:rPr>
              <a:t>Introduction</a:t>
            </a:r>
          </a:p>
        </p:txBody>
      </p:sp>
      <p:sp>
        <p:nvSpPr>
          <p:cNvPr name="TextBox 19" id="19"/>
          <p:cNvSpPr txBox="true"/>
          <p:nvPr/>
        </p:nvSpPr>
        <p:spPr>
          <a:xfrm rot="0">
            <a:off x="10821882" y="4260498"/>
            <a:ext cx="4759537" cy="987426"/>
          </a:xfrm>
          <a:prstGeom prst="rect">
            <a:avLst/>
          </a:prstGeom>
        </p:spPr>
        <p:txBody>
          <a:bodyPr anchor="t" rtlCol="false" tIns="0" lIns="0" bIns="0" rIns="0">
            <a:spAutoFit/>
          </a:bodyPr>
          <a:lstStyle/>
          <a:p>
            <a:pPr algn="ctr">
              <a:lnSpc>
                <a:spcPts val="6999"/>
              </a:lnSpc>
            </a:pPr>
            <a:r>
              <a:rPr lang="en-US" sz="4999">
                <a:solidFill>
                  <a:srgbClr val="5B5C48"/>
                </a:solidFill>
                <a:latin typeface="Rustic Printed"/>
                <a:ea typeface="Rustic Printed"/>
                <a:cs typeface="Rustic Printed"/>
                <a:sym typeface="Rustic Printed"/>
              </a:rPr>
              <a:t>Principe de base</a:t>
            </a:r>
          </a:p>
        </p:txBody>
      </p:sp>
      <p:sp>
        <p:nvSpPr>
          <p:cNvPr name="TextBox 20" id="20"/>
          <p:cNvSpPr txBox="true"/>
          <p:nvPr/>
        </p:nvSpPr>
        <p:spPr>
          <a:xfrm rot="0">
            <a:off x="2706582" y="6774761"/>
            <a:ext cx="4759537" cy="1873251"/>
          </a:xfrm>
          <a:prstGeom prst="rect">
            <a:avLst/>
          </a:prstGeom>
        </p:spPr>
        <p:txBody>
          <a:bodyPr anchor="t" rtlCol="false" tIns="0" lIns="0" bIns="0" rIns="0">
            <a:spAutoFit/>
          </a:bodyPr>
          <a:lstStyle/>
          <a:p>
            <a:pPr algn="ctr">
              <a:lnSpc>
                <a:spcPts val="6999"/>
              </a:lnSpc>
            </a:pPr>
            <a:r>
              <a:rPr lang="en-US" sz="4999">
                <a:solidFill>
                  <a:srgbClr val="5B5C48"/>
                </a:solidFill>
                <a:latin typeface="Rustic Printed"/>
                <a:ea typeface="Rustic Printed"/>
                <a:cs typeface="Rustic Printed"/>
                <a:sym typeface="Rustic Printed"/>
              </a:rPr>
              <a:t>Types et hypothèses </a:t>
            </a:r>
          </a:p>
        </p:txBody>
      </p:sp>
      <p:sp>
        <p:nvSpPr>
          <p:cNvPr name="TextBox 21" id="21"/>
          <p:cNvSpPr txBox="true"/>
          <p:nvPr/>
        </p:nvSpPr>
        <p:spPr>
          <a:xfrm rot="0">
            <a:off x="10821882" y="7219422"/>
            <a:ext cx="4759537" cy="987426"/>
          </a:xfrm>
          <a:prstGeom prst="rect">
            <a:avLst/>
          </a:prstGeom>
        </p:spPr>
        <p:txBody>
          <a:bodyPr anchor="t" rtlCol="false" tIns="0" lIns="0" bIns="0" rIns="0">
            <a:spAutoFit/>
          </a:bodyPr>
          <a:lstStyle/>
          <a:p>
            <a:pPr algn="ctr">
              <a:lnSpc>
                <a:spcPts val="6999"/>
              </a:lnSpc>
            </a:pPr>
            <a:r>
              <a:rPr lang="en-US" sz="4999">
                <a:solidFill>
                  <a:srgbClr val="5B5C48"/>
                </a:solidFill>
                <a:latin typeface="Rustic Printed"/>
                <a:ea typeface="Rustic Printed"/>
                <a:cs typeface="Rustic Printed"/>
                <a:sym typeface="Rustic Printed"/>
              </a:rPr>
              <a:t>Conclusion</a:t>
            </a:r>
          </a:p>
        </p:txBody>
      </p:sp>
      <p:sp>
        <p:nvSpPr>
          <p:cNvPr name="Freeform 22" id="22"/>
          <p:cNvSpPr/>
          <p:nvPr/>
        </p:nvSpPr>
        <p:spPr>
          <a:xfrm flipH="false" flipV="false" rot="0">
            <a:off x="16144590" y="8444333"/>
            <a:ext cx="1905028" cy="1627933"/>
          </a:xfrm>
          <a:custGeom>
            <a:avLst/>
            <a:gdLst/>
            <a:ahLst/>
            <a:cxnLst/>
            <a:rect r="r" b="b" t="t" l="l"/>
            <a:pathLst>
              <a:path h="1627933" w="1905028">
                <a:moveTo>
                  <a:pt x="0" y="0"/>
                </a:moveTo>
                <a:lnTo>
                  <a:pt x="1905028" y="0"/>
                </a:lnTo>
                <a:lnTo>
                  <a:pt x="1905028" y="1627934"/>
                </a:lnTo>
                <a:lnTo>
                  <a:pt x="0" y="1627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8704192" y="6231772"/>
            <a:ext cx="9445692" cy="3873270"/>
            <a:chOff x="0" y="0"/>
            <a:chExt cx="2600321" cy="1066279"/>
          </a:xfrm>
        </p:grpSpPr>
        <p:sp>
          <p:nvSpPr>
            <p:cNvPr name="Freeform 3" id="3"/>
            <p:cNvSpPr/>
            <p:nvPr/>
          </p:nvSpPr>
          <p:spPr>
            <a:xfrm flipH="false" flipV="false" rot="0">
              <a:off x="0" y="0"/>
              <a:ext cx="2600321" cy="1066279"/>
            </a:xfrm>
            <a:custGeom>
              <a:avLst/>
              <a:gdLst/>
              <a:ahLst/>
              <a:cxnLst/>
              <a:rect r="r" b="b" t="t" l="l"/>
              <a:pathLst>
                <a:path h="1066279" w="2600321">
                  <a:moveTo>
                    <a:pt x="18851" y="0"/>
                  </a:moveTo>
                  <a:lnTo>
                    <a:pt x="2581470" y="0"/>
                  </a:lnTo>
                  <a:cubicBezTo>
                    <a:pt x="2586469" y="0"/>
                    <a:pt x="2591264" y="1986"/>
                    <a:pt x="2594800" y="5521"/>
                  </a:cubicBezTo>
                  <a:cubicBezTo>
                    <a:pt x="2598335" y="9057"/>
                    <a:pt x="2600321" y="13852"/>
                    <a:pt x="2600321" y="18851"/>
                  </a:cubicBezTo>
                  <a:lnTo>
                    <a:pt x="2600321" y="1047428"/>
                  </a:lnTo>
                  <a:cubicBezTo>
                    <a:pt x="2600321" y="1052428"/>
                    <a:pt x="2598335" y="1057223"/>
                    <a:pt x="2594800" y="1060758"/>
                  </a:cubicBezTo>
                  <a:cubicBezTo>
                    <a:pt x="2591264" y="1064293"/>
                    <a:pt x="2586469" y="1066279"/>
                    <a:pt x="2581470" y="1066279"/>
                  </a:cubicBezTo>
                  <a:lnTo>
                    <a:pt x="18851" y="1066279"/>
                  </a:lnTo>
                  <a:cubicBezTo>
                    <a:pt x="13852" y="1066279"/>
                    <a:pt x="9057" y="1064293"/>
                    <a:pt x="5521" y="1060758"/>
                  </a:cubicBezTo>
                  <a:cubicBezTo>
                    <a:pt x="1986" y="1057223"/>
                    <a:pt x="0" y="1052428"/>
                    <a:pt x="0" y="1047428"/>
                  </a:cubicBezTo>
                  <a:lnTo>
                    <a:pt x="0" y="18851"/>
                  </a:lnTo>
                  <a:cubicBezTo>
                    <a:pt x="0" y="13852"/>
                    <a:pt x="1986" y="9057"/>
                    <a:pt x="5521" y="5521"/>
                  </a:cubicBezTo>
                  <a:cubicBezTo>
                    <a:pt x="9057" y="1986"/>
                    <a:pt x="13852" y="0"/>
                    <a:pt x="18851" y="0"/>
                  </a:cubicBezTo>
                  <a:close/>
                </a:path>
              </a:pathLst>
            </a:custGeom>
            <a:solidFill>
              <a:srgbClr val="8D8E6F"/>
            </a:solidFill>
          </p:spPr>
        </p:sp>
        <p:sp>
          <p:nvSpPr>
            <p:cNvPr name="TextBox 4" id="4"/>
            <p:cNvSpPr txBox="true"/>
            <p:nvPr/>
          </p:nvSpPr>
          <p:spPr>
            <a:xfrm>
              <a:off x="0" y="-38100"/>
              <a:ext cx="2600321" cy="1104379"/>
            </a:xfrm>
            <a:prstGeom prst="rect">
              <a:avLst/>
            </a:prstGeom>
          </p:spPr>
          <p:txBody>
            <a:bodyPr anchor="ctr" rtlCol="false" tIns="50800" lIns="50800" bIns="50800" rIns="50800"/>
            <a:lstStyle/>
            <a:p>
              <a:pPr algn="ctr">
                <a:lnSpc>
                  <a:spcPts val="2666"/>
                </a:lnSpc>
              </a:pPr>
            </a:p>
          </p:txBody>
        </p:sp>
      </p:grpSp>
      <p:grpSp>
        <p:nvGrpSpPr>
          <p:cNvPr name="Group 5" id="5"/>
          <p:cNvGrpSpPr/>
          <p:nvPr/>
        </p:nvGrpSpPr>
        <p:grpSpPr>
          <a:xfrm rot="0">
            <a:off x="8924096" y="6673997"/>
            <a:ext cx="9005884" cy="2988819"/>
            <a:chOff x="0" y="0"/>
            <a:chExt cx="1592289" cy="528439"/>
          </a:xfrm>
        </p:grpSpPr>
        <p:sp>
          <p:nvSpPr>
            <p:cNvPr name="Freeform 6" id="6"/>
            <p:cNvSpPr/>
            <p:nvPr/>
          </p:nvSpPr>
          <p:spPr>
            <a:xfrm flipH="false" flipV="false" rot="0">
              <a:off x="0" y="0"/>
              <a:ext cx="1592289" cy="528439"/>
            </a:xfrm>
            <a:custGeom>
              <a:avLst/>
              <a:gdLst/>
              <a:ahLst/>
              <a:cxnLst/>
              <a:rect r="r" b="b" t="t" l="l"/>
              <a:pathLst>
                <a:path h="528439" w="1592289">
                  <a:moveTo>
                    <a:pt x="19772" y="0"/>
                  </a:moveTo>
                  <a:lnTo>
                    <a:pt x="1572517" y="0"/>
                  </a:lnTo>
                  <a:cubicBezTo>
                    <a:pt x="1583437" y="0"/>
                    <a:pt x="1592289" y="8852"/>
                    <a:pt x="1592289" y="19772"/>
                  </a:cubicBezTo>
                  <a:lnTo>
                    <a:pt x="1592289" y="508667"/>
                  </a:lnTo>
                  <a:cubicBezTo>
                    <a:pt x="1592289" y="519587"/>
                    <a:pt x="1583437" y="528439"/>
                    <a:pt x="1572517" y="528439"/>
                  </a:cubicBezTo>
                  <a:lnTo>
                    <a:pt x="19772" y="528439"/>
                  </a:lnTo>
                  <a:cubicBezTo>
                    <a:pt x="8852" y="528439"/>
                    <a:pt x="0" y="519587"/>
                    <a:pt x="0" y="508667"/>
                  </a:cubicBezTo>
                  <a:lnTo>
                    <a:pt x="0" y="19772"/>
                  </a:lnTo>
                  <a:cubicBezTo>
                    <a:pt x="0" y="8852"/>
                    <a:pt x="8852" y="0"/>
                    <a:pt x="19772" y="0"/>
                  </a:cubicBezTo>
                  <a:close/>
                </a:path>
              </a:pathLst>
            </a:custGeom>
            <a:blipFill>
              <a:blip r:embed="rId2"/>
              <a:stretch>
                <a:fillRect l="0" t="-4674" r="0" b="-4674"/>
              </a:stretch>
            </a:blipFill>
          </p:spPr>
        </p:sp>
      </p:grpSp>
      <p:grpSp>
        <p:nvGrpSpPr>
          <p:cNvPr name="Group 7" id="7"/>
          <p:cNvGrpSpPr/>
          <p:nvPr/>
        </p:nvGrpSpPr>
        <p:grpSpPr>
          <a:xfrm rot="0">
            <a:off x="1028700" y="610367"/>
            <a:ext cx="16230600" cy="1999711"/>
            <a:chOff x="0" y="0"/>
            <a:chExt cx="4577354" cy="563958"/>
          </a:xfrm>
        </p:grpSpPr>
        <p:sp>
          <p:nvSpPr>
            <p:cNvPr name="Freeform 8" id="8"/>
            <p:cNvSpPr/>
            <p:nvPr/>
          </p:nvSpPr>
          <p:spPr>
            <a:xfrm flipH="false" flipV="false" rot="0">
              <a:off x="0" y="0"/>
              <a:ext cx="4577354" cy="563958"/>
            </a:xfrm>
            <a:custGeom>
              <a:avLst/>
              <a:gdLst/>
              <a:ahLst/>
              <a:cxnLst/>
              <a:rect r="r" b="b" t="t" l="l"/>
              <a:pathLst>
                <a:path h="563958" w="4577354">
                  <a:moveTo>
                    <a:pt x="14310" y="0"/>
                  </a:moveTo>
                  <a:lnTo>
                    <a:pt x="4563044" y="0"/>
                  </a:lnTo>
                  <a:cubicBezTo>
                    <a:pt x="4566839" y="0"/>
                    <a:pt x="4570479" y="1508"/>
                    <a:pt x="4573162" y="4191"/>
                  </a:cubicBezTo>
                  <a:cubicBezTo>
                    <a:pt x="4575846" y="6875"/>
                    <a:pt x="4577354" y="10515"/>
                    <a:pt x="4577354" y="14310"/>
                  </a:cubicBezTo>
                  <a:lnTo>
                    <a:pt x="4577354" y="549649"/>
                  </a:lnTo>
                  <a:cubicBezTo>
                    <a:pt x="4577354" y="553444"/>
                    <a:pt x="4575846" y="557084"/>
                    <a:pt x="4573162" y="559767"/>
                  </a:cubicBezTo>
                  <a:cubicBezTo>
                    <a:pt x="4570479" y="562451"/>
                    <a:pt x="4566839" y="563958"/>
                    <a:pt x="4563044" y="563958"/>
                  </a:cubicBezTo>
                  <a:lnTo>
                    <a:pt x="14310" y="563958"/>
                  </a:lnTo>
                  <a:cubicBezTo>
                    <a:pt x="10515" y="563958"/>
                    <a:pt x="6875" y="562451"/>
                    <a:pt x="4191" y="559767"/>
                  </a:cubicBezTo>
                  <a:cubicBezTo>
                    <a:pt x="1508" y="557084"/>
                    <a:pt x="0" y="553444"/>
                    <a:pt x="0" y="549649"/>
                  </a:cubicBezTo>
                  <a:lnTo>
                    <a:pt x="0" y="14310"/>
                  </a:lnTo>
                  <a:cubicBezTo>
                    <a:pt x="0" y="10515"/>
                    <a:pt x="1508" y="6875"/>
                    <a:pt x="4191" y="4191"/>
                  </a:cubicBezTo>
                  <a:cubicBezTo>
                    <a:pt x="6875" y="1508"/>
                    <a:pt x="10515" y="0"/>
                    <a:pt x="14310" y="0"/>
                  </a:cubicBezTo>
                  <a:close/>
                </a:path>
              </a:pathLst>
            </a:custGeom>
            <a:solidFill>
              <a:srgbClr val="727357"/>
            </a:solidFill>
          </p:spPr>
        </p:sp>
        <p:sp>
          <p:nvSpPr>
            <p:cNvPr name="TextBox 9" id="9"/>
            <p:cNvSpPr txBox="true"/>
            <p:nvPr/>
          </p:nvSpPr>
          <p:spPr>
            <a:xfrm>
              <a:off x="0" y="-19050"/>
              <a:ext cx="4577354" cy="583008"/>
            </a:xfrm>
            <a:prstGeom prst="rect">
              <a:avLst/>
            </a:prstGeom>
          </p:spPr>
          <p:txBody>
            <a:bodyPr anchor="ctr" rtlCol="false" tIns="48876" lIns="48876" bIns="48876" rIns="48876"/>
            <a:lstStyle/>
            <a:p>
              <a:pPr algn="ctr">
                <a:lnSpc>
                  <a:spcPts val="1333"/>
                </a:lnSpc>
              </a:pPr>
            </a:p>
          </p:txBody>
        </p:sp>
      </p:grpSp>
      <p:sp>
        <p:nvSpPr>
          <p:cNvPr name="TextBox 10" id="10"/>
          <p:cNvSpPr txBox="true"/>
          <p:nvPr/>
        </p:nvSpPr>
        <p:spPr>
          <a:xfrm rot="0">
            <a:off x="1153773" y="2723662"/>
            <a:ext cx="15906009" cy="7843520"/>
          </a:xfrm>
          <a:prstGeom prst="rect">
            <a:avLst/>
          </a:prstGeom>
        </p:spPr>
        <p:txBody>
          <a:bodyPr anchor="t" rtlCol="false" tIns="0" lIns="0" bIns="0" rIns="0">
            <a:spAutoFit/>
          </a:bodyPr>
          <a:lstStyle/>
          <a:p>
            <a:pPr algn="l">
              <a:lnSpc>
                <a:spcPts val="4480"/>
              </a:lnSpc>
            </a:pPr>
            <a:r>
              <a:rPr lang="en-US" sz="3200" b="true">
                <a:solidFill>
                  <a:srgbClr val="5B5C48"/>
                </a:solidFill>
                <a:latin typeface="Barlow Bold"/>
                <a:ea typeface="Barlow Bold"/>
                <a:cs typeface="Barlow Bold"/>
                <a:sym typeface="Barlow Bold"/>
              </a:rPr>
              <a:t>Dans de nombreux domaines comme l’éducation, la médecine ou l’économie, il est souvent nécessaire de comparer plusieurs groupes afin de déterminer s’il existe des différences significatives entre eux. Par exemple, on peut vouloir savoir si différentes méthodes d’enseignement influencent les résultats des étudiants.</a:t>
            </a:r>
          </a:p>
          <a:p>
            <a:pPr algn="l">
              <a:lnSpc>
                <a:spcPts val="4480"/>
              </a:lnSpc>
            </a:pPr>
            <a:r>
              <a:rPr lang="en-US" sz="3200" b="true">
                <a:solidFill>
                  <a:srgbClr val="5B5C48"/>
                </a:solidFill>
                <a:latin typeface="Barlow Bold"/>
                <a:ea typeface="Barlow Bold"/>
                <a:cs typeface="Barlow Bold"/>
                <a:sym typeface="Barlow Bold"/>
              </a:rPr>
              <a:t>Pour répondre à ce type de question, les</a:t>
            </a:r>
          </a:p>
          <a:p>
            <a:pPr algn="l">
              <a:lnSpc>
                <a:spcPts val="4480"/>
              </a:lnSpc>
            </a:pPr>
            <a:r>
              <a:rPr lang="en-US" sz="3200" b="true">
                <a:solidFill>
                  <a:srgbClr val="5B5C48"/>
                </a:solidFill>
                <a:latin typeface="Barlow Bold"/>
                <a:ea typeface="Barlow Bold"/>
                <a:cs typeface="Barlow Bold"/>
                <a:sym typeface="Barlow Bold"/>
              </a:rPr>
              <a:t> statisticiens utilisent une méthode appelée</a:t>
            </a:r>
          </a:p>
          <a:p>
            <a:pPr algn="l">
              <a:lnSpc>
                <a:spcPts val="4480"/>
              </a:lnSpc>
            </a:pPr>
            <a:r>
              <a:rPr lang="en-US" sz="3200" b="true">
                <a:solidFill>
                  <a:srgbClr val="5B5C48"/>
                </a:solidFill>
                <a:latin typeface="Barlow Bold"/>
                <a:ea typeface="Barlow Bold"/>
                <a:cs typeface="Barlow Bold"/>
                <a:sym typeface="Barlow Bold"/>
              </a:rPr>
              <a:t> analyse de la variance, ou ANOVA. </a:t>
            </a:r>
          </a:p>
          <a:p>
            <a:pPr algn="l">
              <a:lnSpc>
                <a:spcPts val="4480"/>
              </a:lnSpc>
            </a:pPr>
            <a:r>
              <a:rPr lang="en-US" sz="3200" b="true">
                <a:solidFill>
                  <a:srgbClr val="5B5C48"/>
                </a:solidFill>
                <a:latin typeface="Barlow Bold"/>
                <a:ea typeface="Barlow Bold"/>
                <a:cs typeface="Barlow Bold"/>
                <a:sym typeface="Barlow Bold"/>
              </a:rPr>
              <a:t>Cette technique permet de comparer les</a:t>
            </a:r>
          </a:p>
          <a:p>
            <a:pPr algn="l">
              <a:lnSpc>
                <a:spcPts val="4480"/>
              </a:lnSpc>
            </a:pPr>
            <a:r>
              <a:rPr lang="en-US" sz="3200" b="true">
                <a:solidFill>
                  <a:srgbClr val="5B5C48"/>
                </a:solidFill>
                <a:latin typeface="Barlow Bold"/>
                <a:ea typeface="Barlow Bold"/>
                <a:cs typeface="Barlow Bold"/>
                <a:sym typeface="Barlow Bold"/>
              </a:rPr>
              <a:t> moyennes de plusieurs groupes en une </a:t>
            </a:r>
          </a:p>
          <a:p>
            <a:pPr algn="l">
              <a:lnSpc>
                <a:spcPts val="4480"/>
              </a:lnSpc>
            </a:pPr>
            <a:r>
              <a:rPr lang="en-US" sz="3200" b="true">
                <a:solidFill>
                  <a:srgbClr val="5B5C48"/>
                </a:solidFill>
                <a:latin typeface="Barlow Bold"/>
                <a:ea typeface="Barlow Bold"/>
                <a:cs typeface="Barlow Bold"/>
                <a:sym typeface="Barlow Bold"/>
              </a:rPr>
              <a:t>seule analyse, tout en contrôlant le </a:t>
            </a:r>
          </a:p>
          <a:p>
            <a:pPr algn="l">
              <a:lnSpc>
                <a:spcPts val="4480"/>
              </a:lnSpc>
            </a:pPr>
            <a:r>
              <a:rPr lang="en-US" sz="3200" b="true">
                <a:solidFill>
                  <a:srgbClr val="5B5C48"/>
                </a:solidFill>
                <a:latin typeface="Barlow Bold"/>
                <a:ea typeface="Barlow Bold"/>
                <a:cs typeface="Barlow Bold"/>
                <a:sym typeface="Barlow Bold"/>
              </a:rPr>
              <a:t>risque d’erreur.</a:t>
            </a:r>
          </a:p>
          <a:p>
            <a:pPr algn="l">
              <a:lnSpc>
                <a:spcPts val="4480"/>
              </a:lnSpc>
            </a:pPr>
          </a:p>
          <a:p>
            <a:pPr algn="l">
              <a:lnSpc>
                <a:spcPts val="4480"/>
              </a:lnSpc>
            </a:pPr>
          </a:p>
          <a:p>
            <a:pPr algn="l">
              <a:lnSpc>
                <a:spcPts val="4480"/>
              </a:lnSpc>
            </a:pPr>
          </a:p>
        </p:txBody>
      </p:sp>
      <p:sp>
        <p:nvSpPr>
          <p:cNvPr name="TextBox 11" id="11"/>
          <p:cNvSpPr txBox="true"/>
          <p:nvPr/>
        </p:nvSpPr>
        <p:spPr>
          <a:xfrm rot="0">
            <a:off x="1028700" y="521831"/>
            <a:ext cx="16230600" cy="1757683"/>
          </a:xfrm>
          <a:prstGeom prst="rect">
            <a:avLst/>
          </a:prstGeom>
        </p:spPr>
        <p:txBody>
          <a:bodyPr anchor="t" rtlCol="false" tIns="0" lIns="0" bIns="0" rIns="0">
            <a:spAutoFit/>
          </a:bodyPr>
          <a:lstStyle/>
          <a:p>
            <a:pPr algn="ctr">
              <a:lnSpc>
                <a:spcPts val="12319"/>
              </a:lnSpc>
            </a:pPr>
            <a:r>
              <a:rPr lang="en-US" sz="8799">
                <a:solidFill>
                  <a:srgbClr val="FFFFFF"/>
                </a:solidFill>
                <a:latin typeface="Rustic Printed"/>
                <a:ea typeface="Rustic Printed"/>
                <a:cs typeface="Rustic Printed"/>
                <a:sym typeface="Rustic Printed"/>
              </a:rPr>
              <a:t>Introduction:</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2446639" y="2964226"/>
            <a:ext cx="6099878" cy="6013387"/>
            <a:chOff x="0" y="0"/>
            <a:chExt cx="1720287" cy="1695895"/>
          </a:xfrm>
        </p:grpSpPr>
        <p:sp>
          <p:nvSpPr>
            <p:cNvPr name="Freeform 3" id="3"/>
            <p:cNvSpPr/>
            <p:nvPr/>
          </p:nvSpPr>
          <p:spPr>
            <a:xfrm flipH="false" flipV="false" rot="0">
              <a:off x="0" y="0"/>
              <a:ext cx="1720287" cy="1695895"/>
            </a:xfrm>
            <a:custGeom>
              <a:avLst/>
              <a:gdLst/>
              <a:ahLst/>
              <a:cxnLst/>
              <a:rect r="r" b="b" t="t" l="l"/>
              <a:pathLst>
                <a:path h="1695895" w="1720287">
                  <a:moveTo>
                    <a:pt x="25384" y="0"/>
                  </a:moveTo>
                  <a:lnTo>
                    <a:pt x="1694904" y="0"/>
                  </a:lnTo>
                  <a:cubicBezTo>
                    <a:pt x="1701636" y="0"/>
                    <a:pt x="1708092" y="2674"/>
                    <a:pt x="1712853" y="7435"/>
                  </a:cubicBezTo>
                  <a:cubicBezTo>
                    <a:pt x="1717613" y="12195"/>
                    <a:pt x="1720287" y="18652"/>
                    <a:pt x="1720287" y="25384"/>
                  </a:cubicBezTo>
                  <a:lnTo>
                    <a:pt x="1720287" y="1670511"/>
                  </a:lnTo>
                  <a:cubicBezTo>
                    <a:pt x="1720287" y="1677244"/>
                    <a:pt x="1717613" y="1683700"/>
                    <a:pt x="1712853" y="1688460"/>
                  </a:cubicBezTo>
                  <a:cubicBezTo>
                    <a:pt x="1708092" y="1693221"/>
                    <a:pt x="1701636" y="1695895"/>
                    <a:pt x="1694904" y="1695895"/>
                  </a:cubicBezTo>
                  <a:lnTo>
                    <a:pt x="25384" y="1695895"/>
                  </a:lnTo>
                  <a:cubicBezTo>
                    <a:pt x="11365" y="1695895"/>
                    <a:pt x="0" y="1684530"/>
                    <a:pt x="0" y="1670511"/>
                  </a:cubicBezTo>
                  <a:lnTo>
                    <a:pt x="0" y="25384"/>
                  </a:lnTo>
                  <a:cubicBezTo>
                    <a:pt x="0" y="18652"/>
                    <a:pt x="2674" y="12195"/>
                    <a:pt x="7435" y="7435"/>
                  </a:cubicBezTo>
                  <a:cubicBezTo>
                    <a:pt x="12195" y="2674"/>
                    <a:pt x="18652" y="0"/>
                    <a:pt x="25384" y="0"/>
                  </a:cubicBezTo>
                  <a:close/>
                </a:path>
              </a:pathLst>
            </a:custGeom>
            <a:solidFill>
              <a:srgbClr val="FFFFFF"/>
            </a:solidFill>
          </p:spPr>
        </p:sp>
        <p:sp>
          <p:nvSpPr>
            <p:cNvPr name="TextBox 4" id="4"/>
            <p:cNvSpPr txBox="true"/>
            <p:nvPr/>
          </p:nvSpPr>
          <p:spPr>
            <a:xfrm>
              <a:off x="0" y="-19050"/>
              <a:ext cx="1720287" cy="1714945"/>
            </a:xfrm>
            <a:prstGeom prst="rect">
              <a:avLst/>
            </a:prstGeom>
          </p:spPr>
          <p:txBody>
            <a:bodyPr anchor="ctr" rtlCol="false" tIns="48876" lIns="48876" bIns="48876" rIns="48876"/>
            <a:lstStyle/>
            <a:p>
              <a:pPr algn="ctr">
                <a:lnSpc>
                  <a:spcPts val="1333"/>
                </a:lnSpc>
              </a:pPr>
            </a:p>
          </p:txBody>
        </p:sp>
      </p:grpSp>
      <p:grpSp>
        <p:nvGrpSpPr>
          <p:cNvPr name="Group 5" id="5"/>
          <p:cNvGrpSpPr/>
          <p:nvPr/>
        </p:nvGrpSpPr>
        <p:grpSpPr>
          <a:xfrm rot="0">
            <a:off x="2636288" y="1678145"/>
            <a:ext cx="5720580" cy="1063627"/>
            <a:chOff x="0" y="0"/>
            <a:chExt cx="1613318" cy="299964"/>
          </a:xfrm>
        </p:grpSpPr>
        <p:sp>
          <p:nvSpPr>
            <p:cNvPr name="Freeform 6" id="6"/>
            <p:cNvSpPr/>
            <p:nvPr/>
          </p:nvSpPr>
          <p:spPr>
            <a:xfrm flipH="false" flipV="false" rot="0">
              <a:off x="0" y="0"/>
              <a:ext cx="1613318" cy="299964"/>
            </a:xfrm>
            <a:custGeom>
              <a:avLst/>
              <a:gdLst/>
              <a:ahLst/>
              <a:cxnLst/>
              <a:rect r="r" b="b" t="t" l="l"/>
              <a:pathLst>
                <a:path h="299964" w="1613318">
                  <a:moveTo>
                    <a:pt x="20300" y="0"/>
                  </a:moveTo>
                  <a:lnTo>
                    <a:pt x="1593018" y="0"/>
                  </a:lnTo>
                  <a:cubicBezTo>
                    <a:pt x="1604229" y="0"/>
                    <a:pt x="1613318" y="9089"/>
                    <a:pt x="1613318" y="20300"/>
                  </a:cubicBezTo>
                  <a:lnTo>
                    <a:pt x="1613318" y="279664"/>
                  </a:lnTo>
                  <a:cubicBezTo>
                    <a:pt x="1613318" y="290875"/>
                    <a:pt x="1604229" y="299964"/>
                    <a:pt x="1593018" y="299964"/>
                  </a:cubicBezTo>
                  <a:lnTo>
                    <a:pt x="20300" y="299964"/>
                  </a:lnTo>
                  <a:cubicBezTo>
                    <a:pt x="9089" y="299964"/>
                    <a:pt x="0" y="290875"/>
                    <a:pt x="0" y="279664"/>
                  </a:cubicBezTo>
                  <a:lnTo>
                    <a:pt x="0" y="20300"/>
                  </a:lnTo>
                  <a:cubicBezTo>
                    <a:pt x="0" y="9089"/>
                    <a:pt x="9089" y="0"/>
                    <a:pt x="20300" y="0"/>
                  </a:cubicBezTo>
                  <a:close/>
                </a:path>
              </a:pathLst>
            </a:custGeom>
            <a:solidFill>
              <a:srgbClr val="727357"/>
            </a:solidFill>
          </p:spPr>
        </p:sp>
        <p:sp>
          <p:nvSpPr>
            <p:cNvPr name="TextBox 7" id="7"/>
            <p:cNvSpPr txBox="true"/>
            <p:nvPr/>
          </p:nvSpPr>
          <p:spPr>
            <a:xfrm>
              <a:off x="0" y="-19050"/>
              <a:ext cx="1613318" cy="319014"/>
            </a:xfrm>
            <a:prstGeom prst="rect">
              <a:avLst/>
            </a:prstGeom>
          </p:spPr>
          <p:txBody>
            <a:bodyPr anchor="ctr" rtlCol="false" tIns="48876" lIns="48876" bIns="48876" rIns="48876"/>
            <a:lstStyle/>
            <a:p>
              <a:pPr algn="ctr">
                <a:lnSpc>
                  <a:spcPts val="1333"/>
                </a:lnSpc>
              </a:pPr>
            </a:p>
          </p:txBody>
        </p:sp>
      </p:grpSp>
      <p:grpSp>
        <p:nvGrpSpPr>
          <p:cNvPr name="Group 8" id="8"/>
          <p:cNvGrpSpPr/>
          <p:nvPr/>
        </p:nvGrpSpPr>
        <p:grpSpPr>
          <a:xfrm rot="0">
            <a:off x="8875596" y="1772982"/>
            <a:ext cx="7290467" cy="3884868"/>
            <a:chOff x="0" y="0"/>
            <a:chExt cx="2056057" cy="1095611"/>
          </a:xfrm>
        </p:grpSpPr>
        <p:sp>
          <p:nvSpPr>
            <p:cNvPr name="Freeform 9" id="9"/>
            <p:cNvSpPr/>
            <p:nvPr/>
          </p:nvSpPr>
          <p:spPr>
            <a:xfrm flipH="false" flipV="false" rot="0">
              <a:off x="0" y="0"/>
              <a:ext cx="2056057" cy="1095611"/>
            </a:xfrm>
            <a:custGeom>
              <a:avLst/>
              <a:gdLst/>
              <a:ahLst/>
              <a:cxnLst/>
              <a:rect r="r" b="b" t="t" l="l"/>
              <a:pathLst>
                <a:path h="1095611" w="2056057">
                  <a:moveTo>
                    <a:pt x="21238" y="0"/>
                  </a:moveTo>
                  <a:lnTo>
                    <a:pt x="2034819" y="0"/>
                  </a:lnTo>
                  <a:cubicBezTo>
                    <a:pt x="2040452" y="0"/>
                    <a:pt x="2045854" y="2238"/>
                    <a:pt x="2049837" y="6221"/>
                  </a:cubicBezTo>
                  <a:cubicBezTo>
                    <a:pt x="2053820" y="10204"/>
                    <a:pt x="2056057" y="15606"/>
                    <a:pt x="2056057" y="21238"/>
                  </a:cubicBezTo>
                  <a:lnTo>
                    <a:pt x="2056057" y="1074372"/>
                  </a:lnTo>
                  <a:cubicBezTo>
                    <a:pt x="2056057" y="1080005"/>
                    <a:pt x="2053820" y="1085407"/>
                    <a:pt x="2049837" y="1089390"/>
                  </a:cubicBezTo>
                  <a:cubicBezTo>
                    <a:pt x="2045854" y="1093373"/>
                    <a:pt x="2040452" y="1095611"/>
                    <a:pt x="2034819" y="1095611"/>
                  </a:cubicBezTo>
                  <a:lnTo>
                    <a:pt x="21238" y="1095611"/>
                  </a:lnTo>
                  <a:cubicBezTo>
                    <a:pt x="9509" y="1095611"/>
                    <a:pt x="0" y="1086102"/>
                    <a:pt x="0" y="1074372"/>
                  </a:cubicBezTo>
                  <a:lnTo>
                    <a:pt x="0" y="21238"/>
                  </a:lnTo>
                  <a:cubicBezTo>
                    <a:pt x="0" y="15606"/>
                    <a:pt x="2238" y="10204"/>
                    <a:pt x="6221" y="6221"/>
                  </a:cubicBezTo>
                  <a:cubicBezTo>
                    <a:pt x="10204" y="2238"/>
                    <a:pt x="15606" y="0"/>
                    <a:pt x="21238" y="0"/>
                  </a:cubicBezTo>
                  <a:close/>
                </a:path>
              </a:pathLst>
            </a:custGeom>
            <a:solidFill>
              <a:srgbClr val="FFFFFF"/>
            </a:solidFill>
          </p:spPr>
        </p:sp>
        <p:sp>
          <p:nvSpPr>
            <p:cNvPr name="TextBox 10" id="10"/>
            <p:cNvSpPr txBox="true"/>
            <p:nvPr/>
          </p:nvSpPr>
          <p:spPr>
            <a:xfrm>
              <a:off x="0" y="-19050"/>
              <a:ext cx="2056057" cy="1114661"/>
            </a:xfrm>
            <a:prstGeom prst="rect">
              <a:avLst/>
            </a:prstGeom>
          </p:spPr>
          <p:txBody>
            <a:bodyPr anchor="ctr" rtlCol="false" tIns="48876" lIns="48876" bIns="48876" rIns="48876"/>
            <a:lstStyle/>
            <a:p>
              <a:pPr algn="ctr">
                <a:lnSpc>
                  <a:spcPts val="1333"/>
                </a:lnSpc>
              </a:pPr>
            </a:p>
          </p:txBody>
        </p:sp>
      </p:grpSp>
      <p:grpSp>
        <p:nvGrpSpPr>
          <p:cNvPr name="Group 11" id="11"/>
          <p:cNvGrpSpPr/>
          <p:nvPr/>
        </p:nvGrpSpPr>
        <p:grpSpPr>
          <a:xfrm rot="0">
            <a:off x="9132771" y="5970919"/>
            <a:ext cx="6776117" cy="3923599"/>
            <a:chOff x="0" y="0"/>
            <a:chExt cx="1911000" cy="1106533"/>
          </a:xfrm>
        </p:grpSpPr>
        <p:sp>
          <p:nvSpPr>
            <p:cNvPr name="Freeform 12" id="12"/>
            <p:cNvSpPr/>
            <p:nvPr/>
          </p:nvSpPr>
          <p:spPr>
            <a:xfrm flipH="false" flipV="false" rot="0">
              <a:off x="0" y="0"/>
              <a:ext cx="1911000" cy="1106533"/>
            </a:xfrm>
            <a:custGeom>
              <a:avLst/>
              <a:gdLst/>
              <a:ahLst/>
              <a:cxnLst/>
              <a:rect r="r" b="b" t="t" l="l"/>
              <a:pathLst>
                <a:path h="1106533" w="1911000">
                  <a:moveTo>
                    <a:pt x="22851" y="0"/>
                  </a:moveTo>
                  <a:lnTo>
                    <a:pt x="1888150" y="0"/>
                  </a:lnTo>
                  <a:cubicBezTo>
                    <a:pt x="1900770" y="0"/>
                    <a:pt x="1911000" y="10231"/>
                    <a:pt x="1911000" y="22851"/>
                  </a:cubicBezTo>
                  <a:lnTo>
                    <a:pt x="1911000" y="1083683"/>
                  </a:lnTo>
                  <a:cubicBezTo>
                    <a:pt x="1911000" y="1096303"/>
                    <a:pt x="1900770" y="1106533"/>
                    <a:pt x="1888150" y="1106533"/>
                  </a:cubicBezTo>
                  <a:lnTo>
                    <a:pt x="22851" y="1106533"/>
                  </a:lnTo>
                  <a:cubicBezTo>
                    <a:pt x="16790" y="1106533"/>
                    <a:pt x="10978" y="1104126"/>
                    <a:pt x="6693" y="1099841"/>
                  </a:cubicBezTo>
                  <a:cubicBezTo>
                    <a:pt x="2407" y="1095555"/>
                    <a:pt x="0" y="1089743"/>
                    <a:pt x="0" y="1083683"/>
                  </a:cubicBezTo>
                  <a:lnTo>
                    <a:pt x="0" y="22851"/>
                  </a:lnTo>
                  <a:cubicBezTo>
                    <a:pt x="0" y="10231"/>
                    <a:pt x="10231" y="0"/>
                    <a:pt x="22851" y="0"/>
                  </a:cubicBezTo>
                  <a:close/>
                </a:path>
              </a:pathLst>
            </a:custGeom>
            <a:solidFill>
              <a:srgbClr val="FFFFFF"/>
            </a:solidFill>
          </p:spPr>
        </p:sp>
        <p:sp>
          <p:nvSpPr>
            <p:cNvPr name="TextBox 13" id="13"/>
            <p:cNvSpPr txBox="true"/>
            <p:nvPr/>
          </p:nvSpPr>
          <p:spPr>
            <a:xfrm>
              <a:off x="0" y="-19050"/>
              <a:ext cx="1911000" cy="1125583"/>
            </a:xfrm>
            <a:prstGeom prst="rect">
              <a:avLst/>
            </a:prstGeom>
          </p:spPr>
          <p:txBody>
            <a:bodyPr anchor="ctr" rtlCol="false" tIns="48876" lIns="48876" bIns="48876" rIns="48876"/>
            <a:lstStyle/>
            <a:p>
              <a:pPr algn="ctr">
                <a:lnSpc>
                  <a:spcPts val="1333"/>
                </a:lnSpc>
              </a:pPr>
            </a:p>
          </p:txBody>
        </p:sp>
      </p:grpSp>
      <p:sp>
        <p:nvSpPr>
          <p:cNvPr name="Freeform 14" id="14"/>
          <p:cNvSpPr/>
          <p:nvPr/>
        </p:nvSpPr>
        <p:spPr>
          <a:xfrm flipH="false" flipV="false" rot="582310">
            <a:off x="-201649" y="6769088"/>
            <a:ext cx="1825663" cy="2677639"/>
          </a:xfrm>
          <a:custGeom>
            <a:avLst/>
            <a:gdLst/>
            <a:ahLst/>
            <a:cxnLst/>
            <a:rect r="r" b="b" t="t" l="l"/>
            <a:pathLst>
              <a:path h="2677639" w="1825663">
                <a:moveTo>
                  <a:pt x="0" y="0"/>
                </a:moveTo>
                <a:lnTo>
                  <a:pt x="1825663" y="0"/>
                </a:lnTo>
                <a:lnTo>
                  <a:pt x="1825663" y="2677639"/>
                </a:lnTo>
                <a:lnTo>
                  <a:pt x="0" y="26776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6499437" y="2468404"/>
            <a:ext cx="3161537" cy="1862433"/>
          </a:xfrm>
          <a:custGeom>
            <a:avLst/>
            <a:gdLst/>
            <a:ahLst/>
            <a:cxnLst/>
            <a:rect r="r" b="b" t="t" l="l"/>
            <a:pathLst>
              <a:path h="1862433" w="3161537">
                <a:moveTo>
                  <a:pt x="0" y="0"/>
                </a:moveTo>
                <a:lnTo>
                  <a:pt x="3161538" y="0"/>
                </a:lnTo>
                <a:lnTo>
                  <a:pt x="3161538" y="1862433"/>
                </a:lnTo>
                <a:lnTo>
                  <a:pt x="0" y="18624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041791" y="1869916"/>
            <a:ext cx="4909573" cy="613410"/>
          </a:xfrm>
          <a:prstGeom prst="rect">
            <a:avLst/>
          </a:prstGeom>
        </p:spPr>
        <p:txBody>
          <a:bodyPr anchor="t" rtlCol="false" tIns="0" lIns="0" bIns="0" rIns="0">
            <a:spAutoFit/>
          </a:bodyPr>
          <a:lstStyle/>
          <a:p>
            <a:pPr algn="ctr">
              <a:lnSpc>
                <a:spcPts val="5040"/>
              </a:lnSpc>
            </a:pPr>
            <a:r>
              <a:rPr lang="en-US" sz="3600" b="true">
                <a:solidFill>
                  <a:srgbClr val="FFFFFF"/>
                </a:solidFill>
                <a:latin typeface="Barlow Bold"/>
                <a:ea typeface="Barlow Bold"/>
                <a:cs typeface="Barlow Bold"/>
                <a:sym typeface="Barlow Bold"/>
              </a:rPr>
              <a:t>Définition :</a:t>
            </a:r>
          </a:p>
        </p:txBody>
      </p:sp>
      <p:sp>
        <p:nvSpPr>
          <p:cNvPr name="TextBox 17" id="17"/>
          <p:cNvSpPr txBox="true"/>
          <p:nvPr/>
        </p:nvSpPr>
        <p:spPr>
          <a:xfrm rot="0">
            <a:off x="9906374" y="5961346"/>
            <a:ext cx="4909573" cy="613410"/>
          </a:xfrm>
          <a:prstGeom prst="rect">
            <a:avLst/>
          </a:prstGeom>
        </p:spPr>
        <p:txBody>
          <a:bodyPr anchor="t" rtlCol="false" tIns="0" lIns="0" bIns="0" rIns="0">
            <a:spAutoFit/>
          </a:bodyPr>
          <a:lstStyle/>
          <a:p>
            <a:pPr algn="ctr">
              <a:lnSpc>
                <a:spcPts val="5040"/>
              </a:lnSpc>
            </a:pPr>
            <a:r>
              <a:rPr lang="en-US" sz="3600" b="true">
                <a:solidFill>
                  <a:srgbClr val="5A5C44"/>
                </a:solidFill>
                <a:latin typeface="Barlow Bold"/>
                <a:ea typeface="Barlow Bold"/>
                <a:cs typeface="Barlow Bold"/>
                <a:sym typeface="Barlow Bold"/>
              </a:rPr>
              <a:t>Types d’ANOVA:</a:t>
            </a:r>
          </a:p>
        </p:txBody>
      </p:sp>
      <p:sp>
        <p:nvSpPr>
          <p:cNvPr name="TextBox 18" id="18"/>
          <p:cNvSpPr txBox="true"/>
          <p:nvPr/>
        </p:nvSpPr>
        <p:spPr>
          <a:xfrm rot="0">
            <a:off x="2446639" y="2852434"/>
            <a:ext cx="6099878" cy="6036946"/>
          </a:xfrm>
          <a:prstGeom prst="rect">
            <a:avLst/>
          </a:prstGeom>
        </p:spPr>
        <p:txBody>
          <a:bodyPr anchor="t" rtlCol="false" tIns="0" lIns="0" bIns="0" rIns="0">
            <a:spAutoFit/>
          </a:bodyPr>
          <a:lstStyle/>
          <a:p>
            <a:pPr algn="ctr">
              <a:lnSpc>
                <a:spcPts val="5879"/>
              </a:lnSpc>
              <a:spcBef>
                <a:spcPct val="0"/>
              </a:spcBef>
            </a:pPr>
            <a:r>
              <a:rPr lang="en-US" sz="4199">
                <a:solidFill>
                  <a:srgbClr val="000000"/>
                </a:solidFill>
                <a:latin typeface="Rustic Printed"/>
                <a:ea typeface="Rustic Printed"/>
                <a:cs typeface="Rustic Printed"/>
                <a:sym typeface="Rustic Printed"/>
              </a:rPr>
              <a:t>L'analyse de la variance (ANOVA) est un test statistique paramétrique utilisé pour comparer les moyennes de trois groupes ou plus afin de déterminer s'il existe des différences significatives entre eux.</a:t>
            </a:r>
          </a:p>
        </p:txBody>
      </p:sp>
      <p:grpSp>
        <p:nvGrpSpPr>
          <p:cNvPr name="Group 19" id="19"/>
          <p:cNvGrpSpPr/>
          <p:nvPr/>
        </p:nvGrpSpPr>
        <p:grpSpPr>
          <a:xfrm rot="0">
            <a:off x="9403364" y="414080"/>
            <a:ext cx="5720580" cy="1063627"/>
            <a:chOff x="0" y="0"/>
            <a:chExt cx="1613318" cy="299964"/>
          </a:xfrm>
        </p:grpSpPr>
        <p:sp>
          <p:nvSpPr>
            <p:cNvPr name="Freeform 20" id="20"/>
            <p:cNvSpPr/>
            <p:nvPr/>
          </p:nvSpPr>
          <p:spPr>
            <a:xfrm flipH="false" flipV="false" rot="0">
              <a:off x="0" y="0"/>
              <a:ext cx="1613318" cy="299964"/>
            </a:xfrm>
            <a:custGeom>
              <a:avLst/>
              <a:gdLst/>
              <a:ahLst/>
              <a:cxnLst/>
              <a:rect r="r" b="b" t="t" l="l"/>
              <a:pathLst>
                <a:path h="299964" w="1613318">
                  <a:moveTo>
                    <a:pt x="20300" y="0"/>
                  </a:moveTo>
                  <a:lnTo>
                    <a:pt x="1593018" y="0"/>
                  </a:lnTo>
                  <a:cubicBezTo>
                    <a:pt x="1604229" y="0"/>
                    <a:pt x="1613318" y="9089"/>
                    <a:pt x="1613318" y="20300"/>
                  </a:cubicBezTo>
                  <a:lnTo>
                    <a:pt x="1613318" y="279664"/>
                  </a:lnTo>
                  <a:cubicBezTo>
                    <a:pt x="1613318" y="290875"/>
                    <a:pt x="1604229" y="299964"/>
                    <a:pt x="1593018" y="299964"/>
                  </a:cubicBezTo>
                  <a:lnTo>
                    <a:pt x="20300" y="299964"/>
                  </a:lnTo>
                  <a:cubicBezTo>
                    <a:pt x="9089" y="299964"/>
                    <a:pt x="0" y="290875"/>
                    <a:pt x="0" y="279664"/>
                  </a:cubicBezTo>
                  <a:lnTo>
                    <a:pt x="0" y="20300"/>
                  </a:lnTo>
                  <a:cubicBezTo>
                    <a:pt x="0" y="9089"/>
                    <a:pt x="9089" y="0"/>
                    <a:pt x="20300" y="0"/>
                  </a:cubicBezTo>
                  <a:close/>
                </a:path>
              </a:pathLst>
            </a:custGeom>
            <a:solidFill>
              <a:srgbClr val="727357"/>
            </a:solidFill>
          </p:spPr>
        </p:sp>
        <p:sp>
          <p:nvSpPr>
            <p:cNvPr name="TextBox 21" id="21"/>
            <p:cNvSpPr txBox="true"/>
            <p:nvPr/>
          </p:nvSpPr>
          <p:spPr>
            <a:xfrm>
              <a:off x="0" y="-19050"/>
              <a:ext cx="1613318" cy="319014"/>
            </a:xfrm>
            <a:prstGeom prst="rect">
              <a:avLst/>
            </a:prstGeom>
          </p:spPr>
          <p:txBody>
            <a:bodyPr anchor="ctr" rtlCol="false" tIns="48876" lIns="48876" bIns="48876" rIns="48876"/>
            <a:lstStyle/>
            <a:p>
              <a:pPr algn="ctr">
                <a:lnSpc>
                  <a:spcPts val="1333"/>
                </a:lnSpc>
              </a:pPr>
            </a:p>
          </p:txBody>
        </p:sp>
      </p:grpSp>
      <p:sp>
        <p:nvSpPr>
          <p:cNvPr name="TextBox 22" id="22"/>
          <p:cNvSpPr txBox="true"/>
          <p:nvPr/>
        </p:nvSpPr>
        <p:spPr>
          <a:xfrm rot="0">
            <a:off x="9808867" y="492822"/>
            <a:ext cx="4909573" cy="613410"/>
          </a:xfrm>
          <a:prstGeom prst="rect">
            <a:avLst/>
          </a:prstGeom>
        </p:spPr>
        <p:txBody>
          <a:bodyPr anchor="t" rtlCol="false" tIns="0" lIns="0" bIns="0" rIns="0">
            <a:spAutoFit/>
          </a:bodyPr>
          <a:lstStyle/>
          <a:p>
            <a:pPr algn="ctr">
              <a:lnSpc>
                <a:spcPts val="5040"/>
              </a:lnSpc>
            </a:pPr>
            <a:r>
              <a:rPr lang="en-US" b="true" sz="3600">
                <a:solidFill>
                  <a:srgbClr val="FFFFFF"/>
                </a:solidFill>
                <a:latin typeface="Barlow Bold"/>
                <a:ea typeface="Barlow Bold"/>
                <a:cs typeface="Barlow Bold"/>
                <a:sym typeface="Barlow Bold"/>
              </a:rPr>
              <a:t>Principe de base :</a:t>
            </a:r>
          </a:p>
        </p:txBody>
      </p:sp>
      <p:sp>
        <p:nvSpPr>
          <p:cNvPr name="TextBox 23" id="23"/>
          <p:cNvSpPr txBox="true"/>
          <p:nvPr/>
        </p:nvSpPr>
        <p:spPr>
          <a:xfrm rot="0">
            <a:off x="8877743" y="1120537"/>
            <a:ext cx="7290467" cy="4959985"/>
          </a:xfrm>
          <a:prstGeom prst="rect">
            <a:avLst/>
          </a:prstGeom>
        </p:spPr>
        <p:txBody>
          <a:bodyPr anchor="t" rtlCol="false" tIns="0" lIns="0" bIns="0" rIns="0">
            <a:spAutoFit/>
          </a:bodyPr>
          <a:lstStyle/>
          <a:p>
            <a:pPr algn="ctr">
              <a:lnSpc>
                <a:spcPts val="4340"/>
              </a:lnSpc>
              <a:spcBef>
                <a:spcPct val="0"/>
              </a:spcBef>
            </a:pPr>
          </a:p>
          <a:p>
            <a:pPr algn="ctr">
              <a:lnSpc>
                <a:spcPts val="4340"/>
              </a:lnSpc>
              <a:spcBef>
                <a:spcPct val="0"/>
              </a:spcBef>
            </a:pPr>
            <a:r>
              <a:rPr lang="en-US" sz="3100">
                <a:solidFill>
                  <a:srgbClr val="1D1D1B"/>
                </a:solidFill>
                <a:latin typeface="Rustic Printed"/>
                <a:ea typeface="Rustic Printed"/>
                <a:cs typeface="Rustic Printed"/>
                <a:sym typeface="Rustic Printed"/>
              </a:rPr>
              <a:t>Comparer la variabilité entre les groupes et la variabilité à l’intérieur des groupes</a:t>
            </a:r>
          </a:p>
          <a:p>
            <a:pPr algn="ctr">
              <a:lnSpc>
                <a:spcPts val="4340"/>
              </a:lnSpc>
              <a:spcBef>
                <a:spcPct val="0"/>
              </a:spcBef>
            </a:pPr>
            <a:r>
              <a:rPr lang="en-US" sz="3100">
                <a:solidFill>
                  <a:srgbClr val="1D1D1B"/>
                </a:solidFill>
                <a:latin typeface="Rustic Printed"/>
                <a:ea typeface="Rustic Printed"/>
                <a:cs typeface="Rustic Printed"/>
                <a:sym typeface="Rustic Printed"/>
              </a:rPr>
              <a:t>Si la variabilité entre groupes est grande : différences significatives</a:t>
            </a:r>
          </a:p>
          <a:p>
            <a:pPr algn="ctr">
              <a:lnSpc>
                <a:spcPts val="4340"/>
              </a:lnSpc>
              <a:spcBef>
                <a:spcPct val="0"/>
              </a:spcBef>
            </a:pPr>
            <a:r>
              <a:rPr lang="en-US" sz="3100">
                <a:solidFill>
                  <a:srgbClr val="1D1D1B"/>
                </a:solidFill>
                <a:latin typeface="Rustic Printed"/>
                <a:ea typeface="Rustic Printed"/>
                <a:cs typeface="Rustic Printed"/>
                <a:sym typeface="Rustic Printed"/>
              </a:rPr>
              <a:t>Introduire le rapport F :</a:t>
            </a:r>
          </a:p>
          <a:p>
            <a:pPr algn="ctr">
              <a:lnSpc>
                <a:spcPts val="4340"/>
              </a:lnSpc>
              <a:spcBef>
                <a:spcPct val="0"/>
              </a:spcBef>
            </a:pPr>
            <a:r>
              <a:rPr lang="en-US" sz="3100">
                <a:solidFill>
                  <a:srgbClr val="1D1D1B"/>
                </a:solidFill>
                <a:latin typeface="Rustic Printed"/>
                <a:ea typeface="Rustic Printed"/>
                <a:cs typeface="Rustic Printed"/>
                <a:sym typeface="Rustic Printed"/>
              </a:rPr>
              <a:t>F = variance entre groupes / variance intra-groupes</a:t>
            </a:r>
          </a:p>
          <a:p>
            <a:pPr algn="ctr">
              <a:lnSpc>
                <a:spcPts val="4340"/>
              </a:lnSpc>
              <a:spcBef>
                <a:spcPct val="0"/>
              </a:spcBef>
            </a:pPr>
          </a:p>
        </p:txBody>
      </p:sp>
      <p:sp>
        <p:nvSpPr>
          <p:cNvPr name="TextBox 24" id="24"/>
          <p:cNvSpPr txBox="true"/>
          <p:nvPr/>
        </p:nvSpPr>
        <p:spPr>
          <a:xfrm rot="0">
            <a:off x="9181238" y="6530923"/>
            <a:ext cx="6727649" cy="3363595"/>
          </a:xfrm>
          <a:prstGeom prst="rect">
            <a:avLst/>
          </a:prstGeom>
        </p:spPr>
        <p:txBody>
          <a:bodyPr anchor="t" rtlCol="false" tIns="0" lIns="0" bIns="0" rIns="0">
            <a:spAutoFit/>
          </a:bodyPr>
          <a:lstStyle/>
          <a:p>
            <a:pPr algn="l" marL="798828" indent="-399414" lvl="1">
              <a:lnSpc>
                <a:spcPts val="5179"/>
              </a:lnSpc>
              <a:buFont typeface="Arial"/>
              <a:buChar char="•"/>
            </a:pPr>
            <a:r>
              <a:rPr lang="en-US" sz="3699">
                <a:solidFill>
                  <a:srgbClr val="000000"/>
                </a:solidFill>
                <a:latin typeface="Rustic Printed"/>
                <a:ea typeface="Rustic Printed"/>
                <a:cs typeface="Rustic Printed"/>
                <a:sym typeface="Rustic Printed"/>
              </a:rPr>
              <a:t>ANOVA à un facteur (one-way)</a:t>
            </a:r>
          </a:p>
          <a:p>
            <a:pPr algn="l" marL="798828" indent="-399414" lvl="1">
              <a:lnSpc>
                <a:spcPts val="5179"/>
              </a:lnSpc>
              <a:buFont typeface="Arial"/>
              <a:buChar char="•"/>
            </a:pPr>
            <a:r>
              <a:rPr lang="en-US" sz="3699">
                <a:solidFill>
                  <a:srgbClr val="000000"/>
                </a:solidFill>
                <a:latin typeface="Rustic Printed"/>
                <a:ea typeface="Rustic Printed"/>
                <a:cs typeface="Rustic Printed"/>
                <a:sym typeface="Rustic Printed"/>
              </a:rPr>
              <a:t>ANOVA à deux facteurs (two-way)</a:t>
            </a:r>
          </a:p>
          <a:p>
            <a:pPr algn="l" marL="798828" indent="-399414" lvl="1">
              <a:lnSpc>
                <a:spcPts val="5179"/>
              </a:lnSpc>
              <a:buFont typeface="Arial"/>
              <a:buChar char="•"/>
            </a:pPr>
            <a:r>
              <a:rPr lang="en-US" sz="3699">
                <a:solidFill>
                  <a:srgbClr val="000000"/>
                </a:solidFill>
                <a:latin typeface="Rustic Printed"/>
                <a:ea typeface="Rustic Printed"/>
                <a:cs typeface="Rustic Printed"/>
                <a:sym typeface="Rustic Printed"/>
              </a:rPr>
              <a:t>(Optionnel) ANOVA à mesures répétées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sp>
        <p:nvSpPr>
          <p:cNvPr name="TextBox 2" id="2"/>
          <p:cNvSpPr txBox="true"/>
          <p:nvPr/>
        </p:nvSpPr>
        <p:spPr>
          <a:xfrm rot="0">
            <a:off x="1028700" y="150824"/>
            <a:ext cx="16230600" cy="1757683"/>
          </a:xfrm>
          <a:prstGeom prst="rect">
            <a:avLst/>
          </a:prstGeom>
        </p:spPr>
        <p:txBody>
          <a:bodyPr anchor="t" rtlCol="false" tIns="0" lIns="0" bIns="0" rIns="0">
            <a:spAutoFit/>
          </a:bodyPr>
          <a:lstStyle/>
          <a:p>
            <a:pPr algn="ctr">
              <a:lnSpc>
                <a:spcPts val="12319"/>
              </a:lnSpc>
            </a:pPr>
            <a:r>
              <a:rPr lang="en-US" sz="8799">
                <a:solidFill>
                  <a:srgbClr val="5B5C48"/>
                </a:solidFill>
                <a:latin typeface="Rustic Printed"/>
                <a:ea typeface="Rustic Printed"/>
                <a:cs typeface="Rustic Printed"/>
                <a:sym typeface="Rustic Printed"/>
              </a:rPr>
              <a:t>Hypothèses:</a:t>
            </a:r>
          </a:p>
        </p:txBody>
      </p:sp>
      <p:grpSp>
        <p:nvGrpSpPr>
          <p:cNvPr name="Group 3" id="3"/>
          <p:cNvGrpSpPr/>
          <p:nvPr/>
        </p:nvGrpSpPr>
        <p:grpSpPr>
          <a:xfrm rot="0">
            <a:off x="2469638" y="2509637"/>
            <a:ext cx="6336561" cy="899808"/>
            <a:chOff x="0" y="0"/>
            <a:chExt cx="1787037" cy="253764"/>
          </a:xfrm>
        </p:grpSpPr>
        <p:sp>
          <p:nvSpPr>
            <p:cNvPr name="Freeform 4" id="4"/>
            <p:cNvSpPr/>
            <p:nvPr/>
          </p:nvSpPr>
          <p:spPr>
            <a:xfrm flipH="false" flipV="false" rot="0">
              <a:off x="0" y="0"/>
              <a:ext cx="1787037" cy="253764"/>
            </a:xfrm>
            <a:custGeom>
              <a:avLst/>
              <a:gdLst/>
              <a:ahLst/>
              <a:cxnLst/>
              <a:rect r="r" b="b" t="t" l="l"/>
              <a:pathLst>
                <a:path h="253764" w="1787037">
                  <a:moveTo>
                    <a:pt x="18327" y="0"/>
                  </a:moveTo>
                  <a:lnTo>
                    <a:pt x="1768710" y="0"/>
                  </a:lnTo>
                  <a:cubicBezTo>
                    <a:pt x="1778832" y="0"/>
                    <a:pt x="1787037" y="8205"/>
                    <a:pt x="1787037" y="18327"/>
                  </a:cubicBezTo>
                  <a:lnTo>
                    <a:pt x="1787037" y="235437"/>
                  </a:lnTo>
                  <a:cubicBezTo>
                    <a:pt x="1787037" y="240298"/>
                    <a:pt x="1785106" y="244959"/>
                    <a:pt x="1781669" y="248396"/>
                  </a:cubicBezTo>
                  <a:cubicBezTo>
                    <a:pt x="1778232" y="251833"/>
                    <a:pt x="1773570" y="253764"/>
                    <a:pt x="1768710" y="253764"/>
                  </a:cubicBezTo>
                  <a:lnTo>
                    <a:pt x="18327" y="253764"/>
                  </a:lnTo>
                  <a:cubicBezTo>
                    <a:pt x="8205" y="253764"/>
                    <a:pt x="0" y="245559"/>
                    <a:pt x="0" y="235437"/>
                  </a:cubicBezTo>
                  <a:lnTo>
                    <a:pt x="0" y="18327"/>
                  </a:lnTo>
                  <a:cubicBezTo>
                    <a:pt x="0" y="8205"/>
                    <a:pt x="8205" y="0"/>
                    <a:pt x="18327" y="0"/>
                  </a:cubicBezTo>
                  <a:close/>
                </a:path>
              </a:pathLst>
            </a:custGeom>
            <a:solidFill>
              <a:srgbClr val="727357"/>
            </a:solidFill>
          </p:spPr>
        </p:sp>
        <p:sp>
          <p:nvSpPr>
            <p:cNvPr name="TextBox 5" id="5"/>
            <p:cNvSpPr txBox="true"/>
            <p:nvPr/>
          </p:nvSpPr>
          <p:spPr>
            <a:xfrm>
              <a:off x="0" y="-19050"/>
              <a:ext cx="1787037" cy="272814"/>
            </a:xfrm>
            <a:prstGeom prst="rect">
              <a:avLst/>
            </a:prstGeom>
          </p:spPr>
          <p:txBody>
            <a:bodyPr anchor="ctr" rtlCol="false" tIns="48876" lIns="48876" bIns="48876" rIns="48876"/>
            <a:lstStyle/>
            <a:p>
              <a:pPr algn="ctr">
                <a:lnSpc>
                  <a:spcPts val="1333"/>
                </a:lnSpc>
              </a:pPr>
            </a:p>
          </p:txBody>
        </p:sp>
      </p:grpSp>
      <p:grpSp>
        <p:nvGrpSpPr>
          <p:cNvPr name="Group 6" id="6"/>
          <p:cNvGrpSpPr/>
          <p:nvPr/>
        </p:nvGrpSpPr>
        <p:grpSpPr>
          <a:xfrm rot="0">
            <a:off x="2469638" y="4009520"/>
            <a:ext cx="6336561" cy="3185115"/>
            <a:chOff x="0" y="0"/>
            <a:chExt cx="1787037" cy="898266"/>
          </a:xfrm>
        </p:grpSpPr>
        <p:sp>
          <p:nvSpPr>
            <p:cNvPr name="Freeform 7" id="7"/>
            <p:cNvSpPr/>
            <p:nvPr/>
          </p:nvSpPr>
          <p:spPr>
            <a:xfrm flipH="false" flipV="false" rot="0">
              <a:off x="0" y="0"/>
              <a:ext cx="1787037" cy="898266"/>
            </a:xfrm>
            <a:custGeom>
              <a:avLst/>
              <a:gdLst/>
              <a:ahLst/>
              <a:cxnLst/>
              <a:rect r="r" b="b" t="t" l="l"/>
              <a:pathLst>
                <a:path h="898266" w="1787037">
                  <a:moveTo>
                    <a:pt x="24436" y="0"/>
                  </a:moveTo>
                  <a:lnTo>
                    <a:pt x="1762601" y="0"/>
                  </a:lnTo>
                  <a:cubicBezTo>
                    <a:pt x="1776096" y="0"/>
                    <a:pt x="1787037" y="10940"/>
                    <a:pt x="1787037" y="24436"/>
                  </a:cubicBezTo>
                  <a:lnTo>
                    <a:pt x="1787037" y="873830"/>
                  </a:lnTo>
                  <a:cubicBezTo>
                    <a:pt x="1787037" y="880311"/>
                    <a:pt x="1784462" y="886526"/>
                    <a:pt x="1779880" y="891109"/>
                  </a:cubicBezTo>
                  <a:cubicBezTo>
                    <a:pt x="1775297" y="895692"/>
                    <a:pt x="1769082" y="898266"/>
                    <a:pt x="1762601" y="898266"/>
                  </a:cubicBezTo>
                  <a:lnTo>
                    <a:pt x="24436" y="898266"/>
                  </a:lnTo>
                  <a:cubicBezTo>
                    <a:pt x="10940" y="898266"/>
                    <a:pt x="0" y="887326"/>
                    <a:pt x="0" y="873830"/>
                  </a:cubicBezTo>
                  <a:lnTo>
                    <a:pt x="0" y="24436"/>
                  </a:lnTo>
                  <a:cubicBezTo>
                    <a:pt x="0" y="17955"/>
                    <a:pt x="2574" y="11740"/>
                    <a:pt x="7157" y="7157"/>
                  </a:cubicBezTo>
                  <a:cubicBezTo>
                    <a:pt x="11740" y="2574"/>
                    <a:pt x="17955" y="0"/>
                    <a:pt x="24436" y="0"/>
                  </a:cubicBezTo>
                  <a:close/>
                </a:path>
              </a:pathLst>
            </a:custGeom>
            <a:solidFill>
              <a:srgbClr val="FFFFFF"/>
            </a:solidFill>
          </p:spPr>
        </p:sp>
        <p:sp>
          <p:nvSpPr>
            <p:cNvPr name="TextBox 8" id="8"/>
            <p:cNvSpPr txBox="true"/>
            <p:nvPr/>
          </p:nvSpPr>
          <p:spPr>
            <a:xfrm>
              <a:off x="0" y="-19050"/>
              <a:ext cx="1787037" cy="917316"/>
            </a:xfrm>
            <a:prstGeom prst="rect">
              <a:avLst/>
            </a:prstGeom>
          </p:spPr>
          <p:txBody>
            <a:bodyPr anchor="ctr" rtlCol="false" tIns="48876" lIns="48876" bIns="48876" rIns="48876"/>
            <a:lstStyle/>
            <a:p>
              <a:pPr algn="ctr">
                <a:lnSpc>
                  <a:spcPts val="1333"/>
                </a:lnSpc>
              </a:pPr>
            </a:p>
          </p:txBody>
        </p:sp>
      </p:grpSp>
      <p:grpSp>
        <p:nvGrpSpPr>
          <p:cNvPr name="Group 9" id="9"/>
          <p:cNvGrpSpPr/>
          <p:nvPr/>
        </p:nvGrpSpPr>
        <p:grpSpPr>
          <a:xfrm rot="0">
            <a:off x="9481801" y="2509637"/>
            <a:ext cx="6336561" cy="899808"/>
            <a:chOff x="0" y="0"/>
            <a:chExt cx="1787037" cy="253764"/>
          </a:xfrm>
        </p:grpSpPr>
        <p:sp>
          <p:nvSpPr>
            <p:cNvPr name="Freeform 10" id="10"/>
            <p:cNvSpPr/>
            <p:nvPr/>
          </p:nvSpPr>
          <p:spPr>
            <a:xfrm flipH="false" flipV="false" rot="0">
              <a:off x="0" y="0"/>
              <a:ext cx="1787037" cy="253764"/>
            </a:xfrm>
            <a:custGeom>
              <a:avLst/>
              <a:gdLst/>
              <a:ahLst/>
              <a:cxnLst/>
              <a:rect r="r" b="b" t="t" l="l"/>
              <a:pathLst>
                <a:path h="253764" w="1787037">
                  <a:moveTo>
                    <a:pt x="18327" y="0"/>
                  </a:moveTo>
                  <a:lnTo>
                    <a:pt x="1768710" y="0"/>
                  </a:lnTo>
                  <a:cubicBezTo>
                    <a:pt x="1778832" y="0"/>
                    <a:pt x="1787037" y="8205"/>
                    <a:pt x="1787037" y="18327"/>
                  </a:cubicBezTo>
                  <a:lnTo>
                    <a:pt x="1787037" y="235437"/>
                  </a:lnTo>
                  <a:cubicBezTo>
                    <a:pt x="1787037" y="240298"/>
                    <a:pt x="1785106" y="244959"/>
                    <a:pt x="1781669" y="248396"/>
                  </a:cubicBezTo>
                  <a:cubicBezTo>
                    <a:pt x="1778232" y="251833"/>
                    <a:pt x="1773570" y="253764"/>
                    <a:pt x="1768710" y="253764"/>
                  </a:cubicBezTo>
                  <a:lnTo>
                    <a:pt x="18327" y="253764"/>
                  </a:lnTo>
                  <a:cubicBezTo>
                    <a:pt x="8205" y="253764"/>
                    <a:pt x="0" y="245559"/>
                    <a:pt x="0" y="235437"/>
                  </a:cubicBezTo>
                  <a:lnTo>
                    <a:pt x="0" y="18327"/>
                  </a:lnTo>
                  <a:cubicBezTo>
                    <a:pt x="0" y="8205"/>
                    <a:pt x="8205" y="0"/>
                    <a:pt x="18327" y="0"/>
                  </a:cubicBezTo>
                  <a:close/>
                </a:path>
              </a:pathLst>
            </a:custGeom>
            <a:solidFill>
              <a:srgbClr val="727357"/>
            </a:solidFill>
          </p:spPr>
        </p:sp>
        <p:sp>
          <p:nvSpPr>
            <p:cNvPr name="TextBox 11" id="11"/>
            <p:cNvSpPr txBox="true"/>
            <p:nvPr/>
          </p:nvSpPr>
          <p:spPr>
            <a:xfrm>
              <a:off x="0" y="-19050"/>
              <a:ext cx="1787037" cy="272814"/>
            </a:xfrm>
            <a:prstGeom prst="rect">
              <a:avLst/>
            </a:prstGeom>
          </p:spPr>
          <p:txBody>
            <a:bodyPr anchor="ctr" rtlCol="false" tIns="48876" lIns="48876" bIns="48876" rIns="48876"/>
            <a:lstStyle/>
            <a:p>
              <a:pPr algn="ctr">
                <a:lnSpc>
                  <a:spcPts val="1333"/>
                </a:lnSpc>
              </a:pPr>
            </a:p>
          </p:txBody>
        </p:sp>
      </p:grpSp>
      <p:grpSp>
        <p:nvGrpSpPr>
          <p:cNvPr name="Group 12" id="12"/>
          <p:cNvGrpSpPr/>
          <p:nvPr/>
        </p:nvGrpSpPr>
        <p:grpSpPr>
          <a:xfrm rot="0">
            <a:off x="9481801" y="4009520"/>
            <a:ext cx="6336561" cy="3185115"/>
            <a:chOff x="0" y="0"/>
            <a:chExt cx="1787037" cy="898266"/>
          </a:xfrm>
        </p:grpSpPr>
        <p:sp>
          <p:nvSpPr>
            <p:cNvPr name="Freeform 13" id="13"/>
            <p:cNvSpPr/>
            <p:nvPr/>
          </p:nvSpPr>
          <p:spPr>
            <a:xfrm flipH="false" flipV="false" rot="0">
              <a:off x="0" y="0"/>
              <a:ext cx="1787037" cy="898266"/>
            </a:xfrm>
            <a:custGeom>
              <a:avLst/>
              <a:gdLst/>
              <a:ahLst/>
              <a:cxnLst/>
              <a:rect r="r" b="b" t="t" l="l"/>
              <a:pathLst>
                <a:path h="898266" w="1787037">
                  <a:moveTo>
                    <a:pt x="24436" y="0"/>
                  </a:moveTo>
                  <a:lnTo>
                    <a:pt x="1762601" y="0"/>
                  </a:lnTo>
                  <a:cubicBezTo>
                    <a:pt x="1776096" y="0"/>
                    <a:pt x="1787037" y="10940"/>
                    <a:pt x="1787037" y="24436"/>
                  </a:cubicBezTo>
                  <a:lnTo>
                    <a:pt x="1787037" y="873830"/>
                  </a:lnTo>
                  <a:cubicBezTo>
                    <a:pt x="1787037" y="880311"/>
                    <a:pt x="1784462" y="886526"/>
                    <a:pt x="1779880" y="891109"/>
                  </a:cubicBezTo>
                  <a:cubicBezTo>
                    <a:pt x="1775297" y="895692"/>
                    <a:pt x="1769082" y="898266"/>
                    <a:pt x="1762601" y="898266"/>
                  </a:cubicBezTo>
                  <a:lnTo>
                    <a:pt x="24436" y="898266"/>
                  </a:lnTo>
                  <a:cubicBezTo>
                    <a:pt x="10940" y="898266"/>
                    <a:pt x="0" y="887326"/>
                    <a:pt x="0" y="873830"/>
                  </a:cubicBezTo>
                  <a:lnTo>
                    <a:pt x="0" y="24436"/>
                  </a:lnTo>
                  <a:cubicBezTo>
                    <a:pt x="0" y="17955"/>
                    <a:pt x="2574" y="11740"/>
                    <a:pt x="7157" y="7157"/>
                  </a:cubicBezTo>
                  <a:cubicBezTo>
                    <a:pt x="11740" y="2574"/>
                    <a:pt x="17955" y="0"/>
                    <a:pt x="24436" y="0"/>
                  </a:cubicBezTo>
                  <a:close/>
                </a:path>
              </a:pathLst>
            </a:custGeom>
            <a:solidFill>
              <a:srgbClr val="FFFFFF"/>
            </a:solidFill>
          </p:spPr>
        </p:sp>
        <p:sp>
          <p:nvSpPr>
            <p:cNvPr name="TextBox 14" id="14"/>
            <p:cNvSpPr txBox="true"/>
            <p:nvPr/>
          </p:nvSpPr>
          <p:spPr>
            <a:xfrm>
              <a:off x="0" y="-19050"/>
              <a:ext cx="1787037" cy="917316"/>
            </a:xfrm>
            <a:prstGeom prst="rect">
              <a:avLst/>
            </a:prstGeom>
          </p:spPr>
          <p:txBody>
            <a:bodyPr anchor="ctr" rtlCol="false" tIns="48876" lIns="48876" bIns="48876" rIns="48876"/>
            <a:lstStyle/>
            <a:p>
              <a:pPr algn="ctr">
                <a:lnSpc>
                  <a:spcPts val="1333"/>
                </a:lnSpc>
              </a:pPr>
            </a:p>
          </p:txBody>
        </p:sp>
      </p:grpSp>
      <p:sp>
        <p:nvSpPr>
          <p:cNvPr name="Freeform 15" id="15"/>
          <p:cNvSpPr/>
          <p:nvPr/>
        </p:nvSpPr>
        <p:spPr>
          <a:xfrm flipH="false" flipV="false" rot="0">
            <a:off x="16221919" y="255954"/>
            <a:ext cx="2265262" cy="2187008"/>
          </a:xfrm>
          <a:custGeom>
            <a:avLst/>
            <a:gdLst/>
            <a:ahLst/>
            <a:cxnLst/>
            <a:rect r="r" b="b" t="t" l="l"/>
            <a:pathLst>
              <a:path h="2187008" w="2265262">
                <a:moveTo>
                  <a:pt x="0" y="0"/>
                </a:moveTo>
                <a:lnTo>
                  <a:pt x="2265262" y="0"/>
                </a:lnTo>
                <a:lnTo>
                  <a:pt x="2265262" y="2187008"/>
                </a:lnTo>
                <a:lnTo>
                  <a:pt x="0" y="218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433192">
            <a:off x="112279" y="8032771"/>
            <a:ext cx="2366305" cy="1936067"/>
          </a:xfrm>
          <a:custGeom>
            <a:avLst/>
            <a:gdLst/>
            <a:ahLst/>
            <a:cxnLst/>
            <a:rect r="r" b="b" t="t" l="l"/>
            <a:pathLst>
              <a:path h="1936067" w="2366305">
                <a:moveTo>
                  <a:pt x="0" y="0"/>
                </a:moveTo>
                <a:lnTo>
                  <a:pt x="2366304" y="0"/>
                </a:lnTo>
                <a:lnTo>
                  <a:pt x="2366304" y="1936068"/>
                </a:lnTo>
                <a:lnTo>
                  <a:pt x="0" y="1936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4164838" y="2619498"/>
            <a:ext cx="2946160" cy="613410"/>
          </a:xfrm>
          <a:prstGeom prst="rect">
            <a:avLst/>
          </a:prstGeom>
        </p:spPr>
        <p:txBody>
          <a:bodyPr anchor="t" rtlCol="false" tIns="0" lIns="0" bIns="0" rIns="0">
            <a:spAutoFit/>
          </a:bodyPr>
          <a:lstStyle/>
          <a:p>
            <a:pPr algn="ctr">
              <a:lnSpc>
                <a:spcPts val="5040"/>
              </a:lnSpc>
            </a:pPr>
            <a:r>
              <a:rPr lang="en-US" sz="3600" b="true">
                <a:solidFill>
                  <a:srgbClr val="FFFFFF"/>
                </a:solidFill>
                <a:latin typeface="Barlow Bold"/>
                <a:ea typeface="Barlow Bold"/>
                <a:cs typeface="Barlow Bold"/>
                <a:sym typeface="Barlow Bold"/>
              </a:rPr>
              <a:t>(H₀)</a:t>
            </a:r>
          </a:p>
        </p:txBody>
      </p:sp>
      <p:sp>
        <p:nvSpPr>
          <p:cNvPr name="TextBox 18" id="18"/>
          <p:cNvSpPr txBox="true"/>
          <p:nvPr/>
        </p:nvSpPr>
        <p:spPr>
          <a:xfrm rot="0">
            <a:off x="11177001" y="2619498"/>
            <a:ext cx="2946160" cy="613410"/>
          </a:xfrm>
          <a:prstGeom prst="rect">
            <a:avLst/>
          </a:prstGeom>
        </p:spPr>
        <p:txBody>
          <a:bodyPr anchor="t" rtlCol="false" tIns="0" lIns="0" bIns="0" rIns="0">
            <a:spAutoFit/>
          </a:bodyPr>
          <a:lstStyle/>
          <a:p>
            <a:pPr algn="ctr">
              <a:lnSpc>
                <a:spcPts val="5040"/>
              </a:lnSpc>
            </a:pPr>
            <a:r>
              <a:rPr lang="en-US" sz="3600" b="true">
                <a:solidFill>
                  <a:srgbClr val="FFFFFF"/>
                </a:solidFill>
                <a:latin typeface="Barlow Bold"/>
                <a:ea typeface="Barlow Bold"/>
                <a:cs typeface="Barlow Bold"/>
                <a:sym typeface="Barlow Bold"/>
              </a:rPr>
              <a:t>(H₁)</a:t>
            </a:r>
          </a:p>
        </p:txBody>
      </p:sp>
      <p:sp>
        <p:nvSpPr>
          <p:cNvPr name="TextBox 19" id="19"/>
          <p:cNvSpPr txBox="true"/>
          <p:nvPr/>
        </p:nvSpPr>
        <p:spPr>
          <a:xfrm rot="0">
            <a:off x="2858093" y="4104770"/>
            <a:ext cx="5559651" cy="2803525"/>
          </a:xfrm>
          <a:prstGeom prst="rect">
            <a:avLst/>
          </a:prstGeom>
        </p:spPr>
        <p:txBody>
          <a:bodyPr anchor="t" rtlCol="false" tIns="0" lIns="0" bIns="0" rIns="0">
            <a:spAutoFit/>
          </a:bodyPr>
          <a:lstStyle/>
          <a:p>
            <a:pPr algn="ctr">
              <a:lnSpc>
                <a:spcPts val="5599"/>
              </a:lnSpc>
            </a:pPr>
            <a:r>
              <a:rPr lang="en-US" b="true" sz="3999" i="true">
                <a:solidFill>
                  <a:srgbClr val="5B5C48"/>
                </a:solidFill>
                <a:latin typeface="Barlow Bold Italics"/>
                <a:ea typeface="Barlow Bold Italics"/>
                <a:cs typeface="Barlow Bold Italics"/>
                <a:sym typeface="Barlow Bold Italics"/>
              </a:rPr>
              <a:t>Hypothèse nulle (H₀) :</a:t>
            </a:r>
          </a:p>
          <a:p>
            <a:pPr algn="ctr">
              <a:lnSpc>
                <a:spcPts val="5599"/>
              </a:lnSpc>
            </a:pPr>
            <a:r>
              <a:rPr lang="en-US" sz="3999">
                <a:solidFill>
                  <a:srgbClr val="5B5C48"/>
                </a:solidFill>
                <a:latin typeface="Barlow"/>
                <a:ea typeface="Barlow"/>
                <a:cs typeface="Barlow"/>
                <a:sym typeface="Barlow"/>
              </a:rPr>
              <a:t> toutes les moyennes sont égales</a:t>
            </a:r>
          </a:p>
          <a:p>
            <a:pPr algn="ctr">
              <a:lnSpc>
                <a:spcPts val="5599"/>
              </a:lnSpc>
            </a:pPr>
          </a:p>
        </p:txBody>
      </p:sp>
      <p:sp>
        <p:nvSpPr>
          <p:cNvPr name="TextBox 20" id="20"/>
          <p:cNvSpPr txBox="true"/>
          <p:nvPr/>
        </p:nvSpPr>
        <p:spPr>
          <a:xfrm rot="0">
            <a:off x="9597859" y="4184145"/>
            <a:ext cx="6104444" cy="2644775"/>
          </a:xfrm>
          <a:prstGeom prst="rect">
            <a:avLst/>
          </a:prstGeom>
        </p:spPr>
        <p:txBody>
          <a:bodyPr anchor="t" rtlCol="false" tIns="0" lIns="0" bIns="0" rIns="0">
            <a:spAutoFit/>
          </a:bodyPr>
          <a:lstStyle/>
          <a:p>
            <a:pPr algn="ctr">
              <a:lnSpc>
                <a:spcPts val="5599"/>
              </a:lnSpc>
            </a:pPr>
            <a:r>
              <a:rPr lang="en-US" b="true" sz="3999" i="true">
                <a:solidFill>
                  <a:srgbClr val="5B5C48"/>
                </a:solidFill>
                <a:latin typeface="Barlow Bold Italics"/>
                <a:ea typeface="Barlow Bold Italics"/>
                <a:cs typeface="Barlow Bold Italics"/>
                <a:sym typeface="Barlow Bold Italics"/>
              </a:rPr>
              <a:t>Hypothèse alternative (H₁) : </a:t>
            </a:r>
          </a:p>
          <a:p>
            <a:pPr algn="ctr">
              <a:lnSpc>
                <a:spcPts val="5599"/>
              </a:lnSpc>
            </a:pPr>
            <a:r>
              <a:rPr lang="en-US" sz="3999">
                <a:solidFill>
                  <a:srgbClr val="5B5C48"/>
                </a:solidFill>
                <a:latin typeface="Barlow"/>
                <a:ea typeface="Barlow"/>
                <a:cs typeface="Barlow"/>
                <a:sym typeface="Barlow"/>
              </a:rPr>
              <a:t>au moins une moyenne est différente</a:t>
            </a:r>
          </a:p>
          <a:p>
            <a:pPr algn="ctr">
              <a:lnSpc>
                <a:spcPts val="4200"/>
              </a:lnSpc>
            </a:pPr>
          </a:p>
        </p:txBody>
      </p:sp>
      <p:grpSp>
        <p:nvGrpSpPr>
          <p:cNvPr name="Group 21" id="21"/>
          <p:cNvGrpSpPr/>
          <p:nvPr/>
        </p:nvGrpSpPr>
        <p:grpSpPr>
          <a:xfrm rot="0">
            <a:off x="5659105" y="7718509"/>
            <a:ext cx="7274590" cy="2585040"/>
            <a:chOff x="0" y="0"/>
            <a:chExt cx="2051580" cy="729033"/>
          </a:xfrm>
        </p:grpSpPr>
        <p:sp>
          <p:nvSpPr>
            <p:cNvPr name="Freeform 22" id="22"/>
            <p:cNvSpPr/>
            <p:nvPr/>
          </p:nvSpPr>
          <p:spPr>
            <a:xfrm flipH="false" flipV="false" rot="0">
              <a:off x="0" y="0"/>
              <a:ext cx="2051580" cy="729033"/>
            </a:xfrm>
            <a:custGeom>
              <a:avLst/>
              <a:gdLst/>
              <a:ahLst/>
              <a:cxnLst/>
              <a:rect r="r" b="b" t="t" l="l"/>
              <a:pathLst>
                <a:path h="729033" w="2051580">
                  <a:moveTo>
                    <a:pt x="21285" y="0"/>
                  </a:moveTo>
                  <a:lnTo>
                    <a:pt x="2030295" y="0"/>
                  </a:lnTo>
                  <a:cubicBezTo>
                    <a:pt x="2042050" y="0"/>
                    <a:pt x="2051580" y="9530"/>
                    <a:pt x="2051580" y="21285"/>
                  </a:cubicBezTo>
                  <a:lnTo>
                    <a:pt x="2051580" y="707748"/>
                  </a:lnTo>
                  <a:cubicBezTo>
                    <a:pt x="2051580" y="713393"/>
                    <a:pt x="2049337" y="718807"/>
                    <a:pt x="2045346" y="722799"/>
                  </a:cubicBezTo>
                  <a:cubicBezTo>
                    <a:pt x="2041354" y="726790"/>
                    <a:pt x="2035940" y="729033"/>
                    <a:pt x="2030295" y="729033"/>
                  </a:cubicBezTo>
                  <a:lnTo>
                    <a:pt x="21285" y="729033"/>
                  </a:lnTo>
                  <a:cubicBezTo>
                    <a:pt x="9530" y="729033"/>
                    <a:pt x="0" y="719503"/>
                    <a:pt x="0" y="707748"/>
                  </a:cubicBezTo>
                  <a:lnTo>
                    <a:pt x="0" y="21285"/>
                  </a:lnTo>
                  <a:cubicBezTo>
                    <a:pt x="0" y="9530"/>
                    <a:pt x="9530" y="0"/>
                    <a:pt x="21285" y="0"/>
                  </a:cubicBezTo>
                  <a:close/>
                </a:path>
              </a:pathLst>
            </a:custGeom>
            <a:solidFill>
              <a:srgbClr val="FFFFFF"/>
            </a:solidFill>
          </p:spPr>
        </p:sp>
        <p:sp>
          <p:nvSpPr>
            <p:cNvPr name="TextBox 23" id="23"/>
            <p:cNvSpPr txBox="true"/>
            <p:nvPr/>
          </p:nvSpPr>
          <p:spPr>
            <a:xfrm>
              <a:off x="0" y="-19050"/>
              <a:ext cx="2051580" cy="748083"/>
            </a:xfrm>
            <a:prstGeom prst="rect">
              <a:avLst/>
            </a:prstGeom>
          </p:spPr>
          <p:txBody>
            <a:bodyPr anchor="ctr" rtlCol="false" tIns="48876" lIns="48876" bIns="48876" rIns="48876"/>
            <a:lstStyle/>
            <a:p>
              <a:pPr algn="ctr">
                <a:lnSpc>
                  <a:spcPts val="1333"/>
                </a:lnSpc>
              </a:pPr>
            </a:p>
          </p:txBody>
        </p:sp>
      </p:grpSp>
      <p:sp>
        <p:nvSpPr>
          <p:cNvPr name="TextBox 24" id="24"/>
          <p:cNvSpPr txBox="true"/>
          <p:nvPr/>
        </p:nvSpPr>
        <p:spPr>
          <a:xfrm rot="0">
            <a:off x="5376000" y="7985209"/>
            <a:ext cx="7536000" cy="2527935"/>
          </a:xfrm>
          <a:prstGeom prst="rect">
            <a:avLst/>
          </a:prstGeom>
        </p:spPr>
        <p:txBody>
          <a:bodyPr anchor="t" rtlCol="false" tIns="0" lIns="0" bIns="0" rIns="0">
            <a:spAutoFit/>
          </a:bodyPr>
          <a:lstStyle/>
          <a:p>
            <a:pPr algn="ctr" marL="777240" indent="-388620" lvl="1">
              <a:lnSpc>
                <a:spcPts val="5040"/>
              </a:lnSpc>
              <a:buFont typeface="Arial"/>
              <a:buChar char="•"/>
            </a:pPr>
            <a:r>
              <a:rPr lang="en-US" b="true" sz="3600">
                <a:solidFill>
                  <a:srgbClr val="000000"/>
                </a:solidFill>
                <a:latin typeface="Barlow Bold"/>
                <a:ea typeface="Barlow Bold"/>
                <a:cs typeface="Barlow Bold"/>
                <a:sym typeface="Barlow Bold"/>
              </a:rPr>
              <a:t>Indépendance des observations</a:t>
            </a:r>
          </a:p>
          <a:p>
            <a:pPr algn="ctr" marL="777240" indent="-388620" lvl="1">
              <a:lnSpc>
                <a:spcPts val="5040"/>
              </a:lnSpc>
              <a:buFont typeface="Arial"/>
              <a:buChar char="•"/>
            </a:pPr>
            <a:r>
              <a:rPr lang="en-US" b="true" sz="3600">
                <a:solidFill>
                  <a:srgbClr val="000000"/>
                </a:solidFill>
                <a:latin typeface="Barlow Bold"/>
                <a:ea typeface="Barlow Bold"/>
                <a:cs typeface="Barlow Bold"/>
                <a:sym typeface="Barlow Bold"/>
              </a:rPr>
              <a:t>Distribution normale</a:t>
            </a:r>
          </a:p>
          <a:p>
            <a:pPr algn="ctr" marL="777240" indent="-388620" lvl="1">
              <a:lnSpc>
                <a:spcPts val="5040"/>
              </a:lnSpc>
              <a:buFont typeface="Arial"/>
              <a:buChar char="•"/>
            </a:pPr>
            <a:r>
              <a:rPr lang="en-US" b="true" sz="3600">
                <a:solidFill>
                  <a:srgbClr val="000000"/>
                </a:solidFill>
                <a:latin typeface="Barlow Bold"/>
                <a:ea typeface="Barlow Bold"/>
                <a:cs typeface="Barlow Bold"/>
                <a:sym typeface="Barlow Bold"/>
              </a:rPr>
              <a:t>Homogénéité des variances</a:t>
            </a:r>
          </a:p>
          <a:p>
            <a:pPr algn="ctr">
              <a:lnSpc>
                <a:spcPts val="5040"/>
              </a:lnSpc>
              <a:spcBef>
                <a:spcPct val="0"/>
              </a:spcBef>
            </a:pPr>
          </a:p>
        </p:txBody>
      </p:sp>
      <p:sp>
        <p:nvSpPr>
          <p:cNvPr name="TextBox 25" id="25"/>
          <p:cNvSpPr txBox="true"/>
          <p:nvPr/>
        </p:nvSpPr>
        <p:spPr>
          <a:xfrm rot="-2386760">
            <a:off x="4110461" y="7290995"/>
            <a:ext cx="2941042" cy="1160768"/>
          </a:xfrm>
          <a:prstGeom prst="rect">
            <a:avLst/>
          </a:prstGeom>
        </p:spPr>
        <p:txBody>
          <a:bodyPr anchor="t" rtlCol="false" tIns="0" lIns="0" bIns="0" rIns="0">
            <a:spAutoFit/>
          </a:bodyPr>
          <a:lstStyle/>
          <a:p>
            <a:pPr algn="ctr">
              <a:lnSpc>
                <a:spcPts val="9520"/>
              </a:lnSpc>
            </a:pPr>
            <a:r>
              <a:rPr lang="en-US" sz="6800">
                <a:solidFill>
                  <a:srgbClr val="FF3131"/>
                </a:solidFill>
                <a:latin typeface="Medula One"/>
                <a:ea typeface="Medula One"/>
                <a:cs typeface="Medula One"/>
                <a:sym typeface="Medula One"/>
              </a:rPr>
              <a:t>condition</a:t>
            </a:r>
            <a:r>
              <a:rPr lang="en-US" sz="6800">
                <a:solidFill>
                  <a:srgbClr val="000000"/>
                </a:solidFill>
                <a:latin typeface="Medula One"/>
                <a:ea typeface="Medula One"/>
                <a:cs typeface="Medula One"/>
                <a:sym typeface="Medula One"/>
              </a:rPr>
              <a:t> </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1028700" y="610367"/>
            <a:ext cx="16230600" cy="1948150"/>
            <a:chOff x="0" y="0"/>
            <a:chExt cx="4577354" cy="549417"/>
          </a:xfrm>
        </p:grpSpPr>
        <p:sp>
          <p:nvSpPr>
            <p:cNvPr name="Freeform 3" id="3"/>
            <p:cNvSpPr/>
            <p:nvPr/>
          </p:nvSpPr>
          <p:spPr>
            <a:xfrm flipH="false" flipV="false" rot="0">
              <a:off x="0" y="0"/>
              <a:ext cx="4577354" cy="549417"/>
            </a:xfrm>
            <a:custGeom>
              <a:avLst/>
              <a:gdLst/>
              <a:ahLst/>
              <a:cxnLst/>
              <a:rect r="r" b="b" t="t" l="l"/>
              <a:pathLst>
                <a:path h="549417" w="4577354">
                  <a:moveTo>
                    <a:pt x="14310" y="0"/>
                  </a:moveTo>
                  <a:lnTo>
                    <a:pt x="4563044" y="0"/>
                  </a:lnTo>
                  <a:cubicBezTo>
                    <a:pt x="4566839" y="0"/>
                    <a:pt x="4570479" y="1508"/>
                    <a:pt x="4573162" y="4191"/>
                  </a:cubicBezTo>
                  <a:cubicBezTo>
                    <a:pt x="4575846" y="6875"/>
                    <a:pt x="4577354" y="10515"/>
                    <a:pt x="4577354" y="14310"/>
                  </a:cubicBezTo>
                  <a:lnTo>
                    <a:pt x="4577354" y="535108"/>
                  </a:lnTo>
                  <a:cubicBezTo>
                    <a:pt x="4577354" y="538903"/>
                    <a:pt x="4575846" y="542543"/>
                    <a:pt x="4573162" y="545226"/>
                  </a:cubicBezTo>
                  <a:cubicBezTo>
                    <a:pt x="4570479" y="547910"/>
                    <a:pt x="4566839" y="549417"/>
                    <a:pt x="4563044" y="549417"/>
                  </a:cubicBezTo>
                  <a:lnTo>
                    <a:pt x="14310" y="549417"/>
                  </a:lnTo>
                  <a:cubicBezTo>
                    <a:pt x="10515" y="549417"/>
                    <a:pt x="6875" y="547910"/>
                    <a:pt x="4191" y="545226"/>
                  </a:cubicBezTo>
                  <a:cubicBezTo>
                    <a:pt x="1508" y="542543"/>
                    <a:pt x="0" y="538903"/>
                    <a:pt x="0" y="535108"/>
                  </a:cubicBezTo>
                  <a:lnTo>
                    <a:pt x="0" y="14310"/>
                  </a:lnTo>
                  <a:cubicBezTo>
                    <a:pt x="0" y="10515"/>
                    <a:pt x="1508" y="6875"/>
                    <a:pt x="4191" y="4191"/>
                  </a:cubicBezTo>
                  <a:cubicBezTo>
                    <a:pt x="6875" y="1508"/>
                    <a:pt x="10515" y="0"/>
                    <a:pt x="14310" y="0"/>
                  </a:cubicBezTo>
                  <a:close/>
                </a:path>
              </a:pathLst>
            </a:custGeom>
            <a:solidFill>
              <a:srgbClr val="5B5C48"/>
            </a:solidFill>
          </p:spPr>
        </p:sp>
        <p:sp>
          <p:nvSpPr>
            <p:cNvPr name="TextBox 4" id="4"/>
            <p:cNvSpPr txBox="true"/>
            <p:nvPr/>
          </p:nvSpPr>
          <p:spPr>
            <a:xfrm>
              <a:off x="0" y="-19050"/>
              <a:ext cx="4577354" cy="568467"/>
            </a:xfrm>
            <a:prstGeom prst="rect">
              <a:avLst/>
            </a:prstGeom>
          </p:spPr>
          <p:txBody>
            <a:bodyPr anchor="ctr" rtlCol="false" tIns="48876" lIns="48876" bIns="48876" rIns="48876"/>
            <a:lstStyle/>
            <a:p>
              <a:pPr algn="ctr">
                <a:lnSpc>
                  <a:spcPts val="1333"/>
                </a:lnSpc>
              </a:pPr>
            </a:p>
          </p:txBody>
        </p:sp>
      </p:grpSp>
      <p:sp>
        <p:nvSpPr>
          <p:cNvPr name="TextBox 5" id="5"/>
          <p:cNvSpPr txBox="true"/>
          <p:nvPr/>
        </p:nvSpPr>
        <p:spPr>
          <a:xfrm rot="0">
            <a:off x="1028700" y="515101"/>
            <a:ext cx="16230600" cy="1672590"/>
          </a:xfrm>
          <a:prstGeom prst="rect">
            <a:avLst/>
          </a:prstGeom>
        </p:spPr>
        <p:txBody>
          <a:bodyPr anchor="t" rtlCol="false" tIns="0" lIns="0" bIns="0" rIns="0">
            <a:spAutoFit/>
          </a:bodyPr>
          <a:lstStyle/>
          <a:p>
            <a:pPr algn="ctr">
              <a:lnSpc>
                <a:spcPts val="11760"/>
              </a:lnSpc>
            </a:pPr>
            <a:r>
              <a:rPr lang="en-US" sz="8400">
                <a:solidFill>
                  <a:srgbClr val="FFFFFF"/>
                </a:solidFill>
                <a:latin typeface="Rustic Printed"/>
                <a:ea typeface="Rustic Printed"/>
                <a:cs typeface="Rustic Printed"/>
                <a:sym typeface="Rustic Printed"/>
              </a:rPr>
              <a:t>Fonctionnement de l’ANOVA</a:t>
            </a:r>
          </a:p>
        </p:txBody>
      </p:sp>
      <p:grpSp>
        <p:nvGrpSpPr>
          <p:cNvPr name="Group 6" id="6"/>
          <p:cNvGrpSpPr/>
          <p:nvPr/>
        </p:nvGrpSpPr>
        <p:grpSpPr>
          <a:xfrm rot="0">
            <a:off x="1977794" y="4910512"/>
            <a:ext cx="6968803" cy="1042793"/>
            <a:chOff x="0" y="0"/>
            <a:chExt cx="1965342" cy="294088"/>
          </a:xfrm>
        </p:grpSpPr>
        <p:sp>
          <p:nvSpPr>
            <p:cNvPr name="Freeform 7" id="7"/>
            <p:cNvSpPr/>
            <p:nvPr/>
          </p:nvSpPr>
          <p:spPr>
            <a:xfrm flipH="false" flipV="false" rot="0">
              <a:off x="0" y="0"/>
              <a:ext cx="1965342" cy="294088"/>
            </a:xfrm>
            <a:custGeom>
              <a:avLst/>
              <a:gdLst/>
              <a:ahLst/>
              <a:cxnLst/>
              <a:rect r="r" b="b" t="t" l="l"/>
              <a:pathLst>
                <a:path h="294088" w="1965342">
                  <a:moveTo>
                    <a:pt x="21108" y="0"/>
                  </a:moveTo>
                  <a:lnTo>
                    <a:pt x="1944234" y="0"/>
                  </a:lnTo>
                  <a:cubicBezTo>
                    <a:pt x="1955891" y="0"/>
                    <a:pt x="1965342" y="9450"/>
                    <a:pt x="1965342" y="21108"/>
                  </a:cubicBezTo>
                  <a:lnTo>
                    <a:pt x="1965342" y="272981"/>
                  </a:lnTo>
                  <a:cubicBezTo>
                    <a:pt x="1965342" y="284638"/>
                    <a:pt x="1955891" y="294088"/>
                    <a:pt x="1944234" y="294088"/>
                  </a:cubicBezTo>
                  <a:lnTo>
                    <a:pt x="21108" y="294088"/>
                  </a:lnTo>
                  <a:cubicBezTo>
                    <a:pt x="9450" y="294088"/>
                    <a:pt x="0" y="284638"/>
                    <a:pt x="0" y="272981"/>
                  </a:cubicBezTo>
                  <a:lnTo>
                    <a:pt x="0" y="21108"/>
                  </a:lnTo>
                  <a:cubicBezTo>
                    <a:pt x="0" y="9450"/>
                    <a:pt x="9450" y="0"/>
                    <a:pt x="21108" y="0"/>
                  </a:cubicBezTo>
                  <a:close/>
                </a:path>
              </a:pathLst>
            </a:custGeom>
            <a:solidFill>
              <a:srgbClr val="FFFFFF"/>
            </a:solidFill>
          </p:spPr>
        </p:sp>
        <p:sp>
          <p:nvSpPr>
            <p:cNvPr name="TextBox 8" id="8"/>
            <p:cNvSpPr txBox="true"/>
            <p:nvPr/>
          </p:nvSpPr>
          <p:spPr>
            <a:xfrm>
              <a:off x="0" y="-19050"/>
              <a:ext cx="1965342" cy="313138"/>
            </a:xfrm>
            <a:prstGeom prst="rect">
              <a:avLst/>
            </a:prstGeom>
          </p:spPr>
          <p:txBody>
            <a:bodyPr anchor="ctr" rtlCol="false" tIns="48876" lIns="48876" bIns="48876" rIns="48876"/>
            <a:lstStyle/>
            <a:p>
              <a:pPr algn="ctr">
                <a:lnSpc>
                  <a:spcPts val="1333"/>
                </a:lnSpc>
              </a:pPr>
            </a:p>
          </p:txBody>
        </p:sp>
      </p:grpSp>
      <p:grpSp>
        <p:nvGrpSpPr>
          <p:cNvPr name="Group 9" id="9"/>
          <p:cNvGrpSpPr/>
          <p:nvPr/>
        </p:nvGrpSpPr>
        <p:grpSpPr>
          <a:xfrm rot="0">
            <a:off x="1977794" y="6343830"/>
            <a:ext cx="6968803" cy="1042793"/>
            <a:chOff x="0" y="0"/>
            <a:chExt cx="1965342" cy="294088"/>
          </a:xfrm>
        </p:grpSpPr>
        <p:sp>
          <p:nvSpPr>
            <p:cNvPr name="Freeform 10" id="10"/>
            <p:cNvSpPr/>
            <p:nvPr/>
          </p:nvSpPr>
          <p:spPr>
            <a:xfrm flipH="false" flipV="false" rot="0">
              <a:off x="0" y="0"/>
              <a:ext cx="1965342" cy="294088"/>
            </a:xfrm>
            <a:custGeom>
              <a:avLst/>
              <a:gdLst/>
              <a:ahLst/>
              <a:cxnLst/>
              <a:rect r="r" b="b" t="t" l="l"/>
              <a:pathLst>
                <a:path h="294088" w="1965342">
                  <a:moveTo>
                    <a:pt x="21108" y="0"/>
                  </a:moveTo>
                  <a:lnTo>
                    <a:pt x="1944234" y="0"/>
                  </a:lnTo>
                  <a:cubicBezTo>
                    <a:pt x="1955891" y="0"/>
                    <a:pt x="1965342" y="9450"/>
                    <a:pt x="1965342" y="21108"/>
                  </a:cubicBezTo>
                  <a:lnTo>
                    <a:pt x="1965342" y="272981"/>
                  </a:lnTo>
                  <a:cubicBezTo>
                    <a:pt x="1965342" y="284638"/>
                    <a:pt x="1955891" y="294088"/>
                    <a:pt x="1944234" y="294088"/>
                  </a:cubicBezTo>
                  <a:lnTo>
                    <a:pt x="21108" y="294088"/>
                  </a:lnTo>
                  <a:cubicBezTo>
                    <a:pt x="9450" y="294088"/>
                    <a:pt x="0" y="284638"/>
                    <a:pt x="0" y="272981"/>
                  </a:cubicBezTo>
                  <a:lnTo>
                    <a:pt x="0" y="21108"/>
                  </a:lnTo>
                  <a:cubicBezTo>
                    <a:pt x="0" y="9450"/>
                    <a:pt x="9450" y="0"/>
                    <a:pt x="21108" y="0"/>
                  </a:cubicBezTo>
                  <a:close/>
                </a:path>
              </a:pathLst>
            </a:custGeom>
            <a:solidFill>
              <a:srgbClr val="FFFFFF"/>
            </a:solidFill>
          </p:spPr>
        </p:sp>
        <p:sp>
          <p:nvSpPr>
            <p:cNvPr name="TextBox 11" id="11"/>
            <p:cNvSpPr txBox="true"/>
            <p:nvPr/>
          </p:nvSpPr>
          <p:spPr>
            <a:xfrm>
              <a:off x="0" y="-19050"/>
              <a:ext cx="1965342" cy="313138"/>
            </a:xfrm>
            <a:prstGeom prst="rect">
              <a:avLst/>
            </a:prstGeom>
          </p:spPr>
          <p:txBody>
            <a:bodyPr anchor="ctr" rtlCol="false" tIns="48876" lIns="48876" bIns="48876" rIns="48876"/>
            <a:lstStyle/>
            <a:p>
              <a:pPr algn="ctr">
                <a:lnSpc>
                  <a:spcPts val="1333"/>
                </a:lnSpc>
              </a:pPr>
            </a:p>
          </p:txBody>
        </p:sp>
      </p:grpSp>
      <p:grpSp>
        <p:nvGrpSpPr>
          <p:cNvPr name="Group 12" id="12"/>
          <p:cNvGrpSpPr/>
          <p:nvPr/>
        </p:nvGrpSpPr>
        <p:grpSpPr>
          <a:xfrm rot="0">
            <a:off x="9629701" y="4910512"/>
            <a:ext cx="6586702" cy="1042793"/>
            <a:chOff x="0" y="0"/>
            <a:chExt cx="1857582" cy="294088"/>
          </a:xfrm>
        </p:grpSpPr>
        <p:sp>
          <p:nvSpPr>
            <p:cNvPr name="Freeform 13" id="13"/>
            <p:cNvSpPr/>
            <p:nvPr/>
          </p:nvSpPr>
          <p:spPr>
            <a:xfrm flipH="false" flipV="false" rot="0">
              <a:off x="0" y="0"/>
              <a:ext cx="1857582" cy="294088"/>
            </a:xfrm>
            <a:custGeom>
              <a:avLst/>
              <a:gdLst/>
              <a:ahLst/>
              <a:cxnLst/>
              <a:rect r="r" b="b" t="t" l="l"/>
              <a:pathLst>
                <a:path h="294088" w="1857582">
                  <a:moveTo>
                    <a:pt x="22332" y="0"/>
                  </a:moveTo>
                  <a:lnTo>
                    <a:pt x="1835249" y="0"/>
                  </a:lnTo>
                  <a:cubicBezTo>
                    <a:pt x="1847583" y="0"/>
                    <a:pt x="1857582" y="9999"/>
                    <a:pt x="1857582" y="22332"/>
                  </a:cubicBezTo>
                  <a:lnTo>
                    <a:pt x="1857582" y="271756"/>
                  </a:lnTo>
                  <a:cubicBezTo>
                    <a:pt x="1857582" y="277679"/>
                    <a:pt x="1855229" y="283359"/>
                    <a:pt x="1851041" y="287547"/>
                  </a:cubicBezTo>
                  <a:cubicBezTo>
                    <a:pt x="1846852" y="291735"/>
                    <a:pt x="1841172" y="294088"/>
                    <a:pt x="1835249" y="294088"/>
                  </a:cubicBezTo>
                  <a:lnTo>
                    <a:pt x="22332" y="294088"/>
                  </a:lnTo>
                  <a:cubicBezTo>
                    <a:pt x="9999" y="294088"/>
                    <a:pt x="0" y="284090"/>
                    <a:pt x="0" y="271756"/>
                  </a:cubicBezTo>
                  <a:lnTo>
                    <a:pt x="0" y="22332"/>
                  </a:lnTo>
                  <a:cubicBezTo>
                    <a:pt x="0" y="9999"/>
                    <a:pt x="9999" y="0"/>
                    <a:pt x="22332" y="0"/>
                  </a:cubicBezTo>
                  <a:close/>
                </a:path>
              </a:pathLst>
            </a:custGeom>
            <a:solidFill>
              <a:srgbClr val="FFFFFF"/>
            </a:solidFill>
          </p:spPr>
        </p:sp>
        <p:sp>
          <p:nvSpPr>
            <p:cNvPr name="TextBox 14" id="14"/>
            <p:cNvSpPr txBox="true"/>
            <p:nvPr/>
          </p:nvSpPr>
          <p:spPr>
            <a:xfrm>
              <a:off x="0" y="-19050"/>
              <a:ext cx="1857582" cy="313138"/>
            </a:xfrm>
            <a:prstGeom prst="rect">
              <a:avLst/>
            </a:prstGeom>
          </p:spPr>
          <p:txBody>
            <a:bodyPr anchor="ctr" rtlCol="false" tIns="48876" lIns="48876" bIns="48876" rIns="48876"/>
            <a:lstStyle/>
            <a:p>
              <a:pPr algn="ctr">
                <a:lnSpc>
                  <a:spcPts val="1333"/>
                </a:lnSpc>
              </a:pPr>
            </a:p>
          </p:txBody>
        </p:sp>
      </p:grpSp>
      <p:grpSp>
        <p:nvGrpSpPr>
          <p:cNvPr name="Group 15" id="15"/>
          <p:cNvGrpSpPr/>
          <p:nvPr/>
        </p:nvGrpSpPr>
        <p:grpSpPr>
          <a:xfrm rot="0">
            <a:off x="9629701" y="6343830"/>
            <a:ext cx="6586702" cy="1042793"/>
            <a:chOff x="0" y="0"/>
            <a:chExt cx="1857582" cy="294088"/>
          </a:xfrm>
        </p:grpSpPr>
        <p:sp>
          <p:nvSpPr>
            <p:cNvPr name="Freeform 16" id="16"/>
            <p:cNvSpPr/>
            <p:nvPr/>
          </p:nvSpPr>
          <p:spPr>
            <a:xfrm flipH="false" flipV="false" rot="0">
              <a:off x="0" y="0"/>
              <a:ext cx="1857582" cy="294088"/>
            </a:xfrm>
            <a:custGeom>
              <a:avLst/>
              <a:gdLst/>
              <a:ahLst/>
              <a:cxnLst/>
              <a:rect r="r" b="b" t="t" l="l"/>
              <a:pathLst>
                <a:path h="294088" w="1857582">
                  <a:moveTo>
                    <a:pt x="22332" y="0"/>
                  </a:moveTo>
                  <a:lnTo>
                    <a:pt x="1835249" y="0"/>
                  </a:lnTo>
                  <a:cubicBezTo>
                    <a:pt x="1847583" y="0"/>
                    <a:pt x="1857582" y="9999"/>
                    <a:pt x="1857582" y="22332"/>
                  </a:cubicBezTo>
                  <a:lnTo>
                    <a:pt x="1857582" y="271756"/>
                  </a:lnTo>
                  <a:cubicBezTo>
                    <a:pt x="1857582" y="277679"/>
                    <a:pt x="1855229" y="283359"/>
                    <a:pt x="1851041" y="287547"/>
                  </a:cubicBezTo>
                  <a:cubicBezTo>
                    <a:pt x="1846852" y="291735"/>
                    <a:pt x="1841172" y="294088"/>
                    <a:pt x="1835249" y="294088"/>
                  </a:cubicBezTo>
                  <a:lnTo>
                    <a:pt x="22332" y="294088"/>
                  </a:lnTo>
                  <a:cubicBezTo>
                    <a:pt x="9999" y="294088"/>
                    <a:pt x="0" y="284090"/>
                    <a:pt x="0" y="271756"/>
                  </a:cubicBezTo>
                  <a:lnTo>
                    <a:pt x="0" y="22332"/>
                  </a:lnTo>
                  <a:cubicBezTo>
                    <a:pt x="0" y="9999"/>
                    <a:pt x="9999" y="0"/>
                    <a:pt x="22332" y="0"/>
                  </a:cubicBezTo>
                  <a:close/>
                </a:path>
              </a:pathLst>
            </a:custGeom>
            <a:solidFill>
              <a:srgbClr val="FFFFFF"/>
            </a:solidFill>
          </p:spPr>
        </p:sp>
        <p:sp>
          <p:nvSpPr>
            <p:cNvPr name="TextBox 17" id="17"/>
            <p:cNvSpPr txBox="true"/>
            <p:nvPr/>
          </p:nvSpPr>
          <p:spPr>
            <a:xfrm>
              <a:off x="0" y="-19050"/>
              <a:ext cx="1857582" cy="313138"/>
            </a:xfrm>
            <a:prstGeom prst="rect">
              <a:avLst/>
            </a:prstGeom>
          </p:spPr>
          <p:txBody>
            <a:bodyPr anchor="ctr" rtlCol="false" tIns="48876" lIns="48876" bIns="48876" rIns="48876"/>
            <a:lstStyle/>
            <a:p>
              <a:pPr algn="ctr">
                <a:lnSpc>
                  <a:spcPts val="1333"/>
                </a:lnSpc>
              </a:pPr>
            </a:p>
          </p:txBody>
        </p:sp>
      </p:grpSp>
      <p:grpSp>
        <p:nvGrpSpPr>
          <p:cNvPr name="Group 18" id="18"/>
          <p:cNvGrpSpPr/>
          <p:nvPr/>
        </p:nvGrpSpPr>
        <p:grpSpPr>
          <a:xfrm rot="0">
            <a:off x="4727098" y="7777148"/>
            <a:ext cx="8195954" cy="1761949"/>
            <a:chOff x="0" y="0"/>
            <a:chExt cx="2311423" cy="496905"/>
          </a:xfrm>
        </p:grpSpPr>
        <p:sp>
          <p:nvSpPr>
            <p:cNvPr name="Freeform 19" id="19"/>
            <p:cNvSpPr/>
            <p:nvPr/>
          </p:nvSpPr>
          <p:spPr>
            <a:xfrm flipH="false" flipV="false" rot="0">
              <a:off x="0" y="0"/>
              <a:ext cx="2311423" cy="496905"/>
            </a:xfrm>
            <a:custGeom>
              <a:avLst/>
              <a:gdLst/>
              <a:ahLst/>
              <a:cxnLst/>
              <a:rect r="r" b="b" t="t" l="l"/>
              <a:pathLst>
                <a:path h="496905" w="2311423">
                  <a:moveTo>
                    <a:pt x="17947" y="0"/>
                  </a:moveTo>
                  <a:lnTo>
                    <a:pt x="2293475" y="0"/>
                  </a:lnTo>
                  <a:cubicBezTo>
                    <a:pt x="2303387" y="0"/>
                    <a:pt x="2311423" y="8035"/>
                    <a:pt x="2311423" y="17947"/>
                  </a:cubicBezTo>
                  <a:lnTo>
                    <a:pt x="2311423" y="478957"/>
                  </a:lnTo>
                  <a:cubicBezTo>
                    <a:pt x="2311423" y="488869"/>
                    <a:pt x="2303387" y="496905"/>
                    <a:pt x="2293475" y="496905"/>
                  </a:cubicBezTo>
                  <a:lnTo>
                    <a:pt x="17947" y="496905"/>
                  </a:lnTo>
                  <a:cubicBezTo>
                    <a:pt x="8035" y="496905"/>
                    <a:pt x="0" y="488869"/>
                    <a:pt x="0" y="478957"/>
                  </a:cubicBezTo>
                  <a:lnTo>
                    <a:pt x="0" y="17947"/>
                  </a:lnTo>
                  <a:cubicBezTo>
                    <a:pt x="0" y="8035"/>
                    <a:pt x="8035" y="0"/>
                    <a:pt x="17947" y="0"/>
                  </a:cubicBezTo>
                  <a:close/>
                </a:path>
              </a:pathLst>
            </a:custGeom>
            <a:solidFill>
              <a:srgbClr val="FFFFFF"/>
            </a:solidFill>
          </p:spPr>
        </p:sp>
        <p:sp>
          <p:nvSpPr>
            <p:cNvPr name="TextBox 20" id="20"/>
            <p:cNvSpPr txBox="true"/>
            <p:nvPr/>
          </p:nvSpPr>
          <p:spPr>
            <a:xfrm>
              <a:off x="0" y="-19050"/>
              <a:ext cx="2311423" cy="515955"/>
            </a:xfrm>
            <a:prstGeom prst="rect">
              <a:avLst/>
            </a:prstGeom>
          </p:spPr>
          <p:txBody>
            <a:bodyPr anchor="ctr" rtlCol="false" tIns="48876" lIns="48876" bIns="48876" rIns="48876"/>
            <a:lstStyle/>
            <a:p>
              <a:pPr algn="ctr">
                <a:lnSpc>
                  <a:spcPts val="1333"/>
                </a:lnSpc>
              </a:pPr>
            </a:p>
          </p:txBody>
        </p:sp>
      </p:grpSp>
      <p:sp>
        <p:nvSpPr>
          <p:cNvPr name="Freeform 21" id="21"/>
          <p:cNvSpPr/>
          <p:nvPr/>
        </p:nvSpPr>
        <p:spPr>
          <a:xfrm flipH="false" flipV="false" rot="0">
            <a:off x="15966262" y="818465"/>
            <a:ext cx="2414254" cy="1531954"/>
          </a:xfrm>
          <a:custGeom>
            <a:avLst/>
            <a:gdLst/>
            <a:ahLst/>
            <a:cxnLst/>
            <a:rect r="r" b="b" t="t" l="l"/>
            <a:pathLst>
              <a:path h="1531954" w="2414254">
                <a:moveTo>
                  <a:pt x="0" y="0"/>
                </a:moveTo>
                <a:lnTo>
                  <a:pt x="2414254" y="0"/>
                </a:lnTo>
                <a:lnTo>
                  <a:pt x="2414254" y="1531954"/>
                </a:lnTo>
                <a:lnTo>
                  <a:pt x="0" y="15319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true" flipV="false" rot="0">
            <a:off x="0" y="4697866"/>
            <a:ext cx="1685811" cy="1645964"/>
          </a:xfrm>
          <a:custGeom>
            <a:avLst/>
            <a:gdLst/>
            <a:ahLst/>
            <a:cxnLst/>
            <a:rect r="r" b="b" t="t" l="l"/>
            <a:pathLst>
              <a:path h="1645964" w="1685811">
                <a:moveTo>
                  <a:pt x="1685811" y="0"/>
                </a:moveTo>
                <a:lnTo>
                  <a:pt x="0" y="0"/>
                </a:lnTo>
                <a:lnTo>
                  <a:pt x="0" y="1645964"/>
                </a:lnTo>
                <a:lnTo>
                  <a:pt x="1685811" y="1645964"/>
                </a:lnTo>
                <a:lnTo>
                  <a:pt x="168581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23037" y="5067300"/>
            <a:ext cx="6822262" cy="573405"/>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Barlow Bold"/>
                <a:ea typeface="Barlow Bold"/>
                <a:cs typeface="Barlow Bold"/>
                <a:sym typeface="Barlow Bold"/>
              </a:rPr>
              <a:t>1.</a:t>
            </a:r>
            <a:r>
              <a:rPr lang="en-US" b="true" sz="3300">
                <a:solidFill>
                  <a:srgbClr val="000000"/>
                </a:solidFill>
                <a:latin typeface="Barlow Bold"/>
                <a:ea typeface="Barlow Bold"/>
                <a:cs typeface="Barlow Bold"/>
                <a:sym typeface="Barlow Bold"/>
              </a:rPr>
              <a:t>Calcul des moyennes des groupes</a:t>
            </a:r>
          </a:p>
        </p:txBody>
      </p:sp>
      <p:sp>
        <p:nvSpPr>
          <p:cNvPr name="TextBox 24" id="24"/>
          <p:cNvSpPr txBox="true"/>
          <p:nvPr/>
        </p:nvSpPr>
        <p:spPr>
          <a:xfrm rot="0">
            <a:off x="9788309" y="4772779"/>
            <a:ext cx="7385080" cy="1251585"/>
          </a:xfrm>
          <a:prstGeom prst="rect">
            <a:avLst/>
          </a:prstGeom>
        </p:spPr>
        <p:txBody>
          <a:bodyPr anchor="t" rtlCol="false" tIns="0" lIns="0" bIns="0" rIns="0">
            <a:spAutoFit/>
          </a:bodyPr>
          <a:lstStyle/>
          <a:p>
            <a:pPr algn="l">
              <a:lnSpc>
                <a:spcPts val="5040"/>
              </a:lnSpc>
              <a:spcBef>
                <a:spcPct val="0"/>
              </a:spcBef>
            </a:pPr>
            <a:r>
              <a:rPr lang="en-US" b="true" sz="3600">
                <a:solidFill>
                  <a:srgbClr val="000000"/>
                </a:solidFill>
                <a:latin typeface="Barlow Bold"/>
                <a:ea typeface="Barlow Bold"/>
                <a:cs typeface="Barlow Bold"/>
                <a:sym typeface="Barlow Bold"/>
              </a:rPr>
              <a:t>2.</a:t>
            </a:r>
            <a:r>
              <a:rPr lang="en-US" b="true" sz="3600">
                <a:solidFill>
                  <a:srgbClr val="000000"/>
                </a:solidFill>
                <a:latin typeface="Barlow Bold"/>
                <a:ea typeface="Barlow Bold"/>
                <a:cs typeface="Barlow Bold"/>
                <a:sym typeface="Barlow Bold"/>
              </a:rPr>
              <a:t>Calcul des variances </a:t>
            </a:r>
            <a:r>
              <a:rPr lang="en-US" b="true" sz="3600">
                <a:solidFill>
                  <a:srgbClr val="000000"/>
                </a:solidFill>
                <a:latin typeface="Barlow Bold"/>
                <a:ea typeface="Barlow Bold"/>
                <a:cs typeface="Barlow Bold"/>
                <a:sym typeface="Barlow Bold"/>
              </a:rPr>
              <a:t>(inter et intra-groupes)</a:t>
            </a:r>
          </a:p>
        </p:txBody>
      </p:sp>
      <p:sp>
        <p:nvSpPr>
          <p:cNvPr name="TextBox 25" id="25"/>
          <p:cNvSpPr txBox="true"/>
          <p:nvPr/>
        </p:nvSpPr>
        <p:spPr>
          <a:xfrm rot="0">
            <a:off x="10257987" y="6560713"/>
            <a:ext cx="5330130"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Barlow Bold"/>
                <a:ea typeface="Barlow Bold"/>
                <a:cs typeface="Barlow Bold"/>
                <a:sym typeface="Barlow Bold"/>
              </a:rPr>
              <a:t>4.</a:t>
            </a:r>
            <a:r>
              <a:rPr lang="en-US" b="true" sz="3600">
                <a:solidFill>
                  <a:srgbClr val="000000"/>
                </a:solidFill>
                <a:latin typeface="Barlow Bold"/>
                <a:ea typeface="Barlow Bold"/>
                <a:cs typeface="Barlow Bold"/>
                <a:sym typeface="Barlow Bold"/>
              </a:rPr>
              <a:t>Calcul de la statistique F</a:t>
            </a:r>
          </a:p>
        </p:txBody>
      </p:sp>
      <p:sp>
        <p:nvSpPr>
          <p:cNvPr name="TextBox 26" id="26"/>
          <p:cNvSpPr txBox="true"/>
          <p:nvPr/>
        </p:nvSpPr>
        <p:spPr>
          <a:xfrm rot="0">
            <a:off x="2100615" y="6410756"/>
            <a:ext cx="6723162" cy="109982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Barlow Bold"/>
                <a:ea typeface="Barlow Bold"/>
                <a:cs typeface="Barlow Bold"/>
                <a:sym typeface="Barlow Bold"/>
              </a:rPr>
              <a:t>3.</a:t>
            </a:r>
            <a:r>
              <a:rPr lang="en-US" b="true" sz="3200">
                <a:solidFill>
                  <a:srgbClr val="000000"/>
                </a:solidFill>
                <a:latin typeface="Barlow Bold"/>
                <a:ea typeface="Barlow Bold"/>
                <a:cs typeface="Barlow Bold"/>
                <a:sym typeface="Barlow Bold"/>
              </a:rPr>
              <a:t>Comparaison avec la valeur critique</a:t>
            </a:r>
          </a:p>
          <a:p>
            <a:pPr algn="ctr">
              <a:lnSpc>
                <a:spcPts val="4480"/>
              </a:lnSpc>
              <a:spcBef>
                <a:spcPct val="0"/>
              </a:spcBef>
            </a:pPr>
            <a:r>
              <a:rPr lang="en-US" b="true" sz="3200">
                <a:solidFill>
                  <a:srgbClr val="000000"/>
                </a:solidFill>
                <a:latin typeface="Barlow Bold"/>
                <a:ea typeface="Barlow Bold"/>
                <a:cs typeface="Barlow Bold"/>
                <a:sym typeface="Barlow Bold"/>
              </a:rPr>
              <a:t> ou la p-value</a:t>
            </a:r>
          </a:p>
        </p:txBody>
      </p:sp>
      <p:sp>
        <p:nvSpPr>
          <p:cNvPr name="TextBox 27" id="27"/>
          <p:cNvSpPr txBox="true"/>
          <p:nvPr/>
        </p:nvSpPr>
        <p:spPr>
          <a:xfrm rot="0">
            <a:off x="6233721" y="8006715"/>
            <a:ext cx="5180112"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Barlow Bold"/>
                <a:ea typeface="Barlow Bold"/>
                <a:cs typeface="Barlow Bold"/>
                <a:sym typeface="Barlow Bold"/>
              </a:rPr>
              <a:t>Règle de décision :</a:t>
            </a:r>
          </a:p>
          <a:p>
            <a:pPr algn="ctr">
              <a:lnSpc>
                <a:spcPts val="5040"/>
              </a:lnSpc>
              <a:spcBef>
                <a:spcPct val="0"/>
              </a:spcBef>
            </a:pPr>
            <a:r>
              <a:rPr lang="en-US" b="true" sz="3600">
                <a:solidFill>
                  <a:srgbClr val="000000"/>
                </a:solidFill>
                <a:latin typeface="Barlow Bold"/>
                <a:ea typeface="Barlow Bold"/>
                <a:cs typeface="Barlow Bold"/>
                <a:sym typeface="Barlow Bold"/>
              </a:rPr>
              <a:t>Si p &lt; 0,05 → on rejette H₀</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1032735" y="3121688"/>
            <a:ext cx="16230600" cy="1235857"/>
            <a:chOff x="0" y="0"/>
            <a:chExt cx="6045067" cy="460293"/>
          </a:xfrm>
        </p:grpSpPr>
        <p:sp>
          <p:nvSpPr>
            <p:cNvPr name="Freeform 3" id="3"/>
            <p:cNvSpPr/>
            <p:nvPr/>
          </p:nvSpPr>
          <p:spPr>
            <a:xfrm flipH="false" flipV="false" rot="0">
              <a:off x="0" y="0"/>
              <a:ext cx="6045067" cy="460293"/>
            </a:xfrm>
            <a:custGeom>
              <a:avLst/>
              <a:gdLst/>
              <a:ahLst/>
              <a:cxnLst/>
              <a:rect r="r" b="b" t="t" l="l"/>
              <a:pathLst>
                <a:path h="460293" w="6045067">
                  <a:moveTo>
                    <a:pt x="9540" y="0"/>
                  </a:moveTo>
                  <a:lnTo>
                    <a:pt x="6035527" y="0"/>
                  </a:lnTo>
                  <a:cubicBezTo>
                    <a:pt x="6040796" y="0"/>
                    <a:pt x="6045067" y="4271"/>
                    <a:pt x="6045067" y="9540"/>
                  </a:cubicBezTo>
                  <a:lnTo>
                    <a:pt x="6045067" y="450754"/>
                  </a:lnTo>
                  <a:cubicBezTo>
                    <a:pt x="6045067" y="456022"/>
                    <a:pt x="6040796" y="460293"/>
                    <a:pt x="6035527" y="460293"/>
                  </a:cubicBezTo>
                  <a:lnTo>
                    <a:pt x="9540" y="460293"/>
                  </a:lnTo>
                  <a:cubicBezTo>
                    <a:pt x="4271" y="460293"/>
                    <a:pt x="0" y="456022"/>
                    <a:pt x="0" y="450754"/>
                  </a:cubicBezTo>
                  <a:lnTo>
                    <a:pt x="0" y="9540"/>
                  </a:lnTo>
                  <a:cubicBezTo>
                    <a:pt x="0" y="4271"/>
                    <a:pt x="4271" y="0"/>
                    <a:pt x="9540" y="0"/>
                  </a:cubicBezTo>
                  <a:close/>
                </a:path>
              </a:pathLst>
            </a:custGeom>
            <a:solidFill>
              <a:srgbClr val="FFFFFF"/>
            </a:solidFill>
          </p:spPr>
        </p:sp>
        <p:sp>
          <p:nvSpPr>
            <p:cNvPr name="TextBox 4" id="4"/>
            <p:cNvSpPr txBox="true"/>
            <p:nvPr/>
          </p:nvSpPr>
          <p:spPr>
            <a:xfrm>
              <a:off x="0" y="19050"/>
              <a:ext cx="6045067" cy="441243"/>
            </a:xfrm>
            <a:prstGeom prst="rect">
              <a:avLst/>
            </a:prstGeom>
          </p:spPr>
          <p:txBody>
            <a:bodyPr anchor="ctr" rtlCol="false" tIns="34562" lIns="34562" bIns="34562" rIns="34562"/>
            <a:lstStyle/>
            <a:p>
              <a:pPr algn="ctr">
                <a:lnSpc>
                  <a:spcPts val="1945"/>
                </a:lnSpc>
              </a:pPr>
            </a:p>
          </p:txBody>
        </p:sp>
      </p:grpSp>
      <p:grpSp>
        <p:nvGrpSpPr>
          <p:cNvPr name="Group 5" id="5"/>
          <p:cNvGrpSpPr/>
          <p:nvPr/>
        </p:nvGrpSpPr>
        <p:grpSpPr>
          <a:xfrm rot="0">
            <a:off x="1028700" y="360751"/>
            <a:ext cx="16230600" cy="1491680"/>
            <a:chOff x="0" y="0"/>
            <a:chExt cx="6045067" cy="555574"/>
          </a:xfrm>
        </p:grpSpPr>
        <p:sp>
          <p:nvSpPr>
            <p:cNvPr name="Freeform 6" id="6"/>
            <p:cNvSpPr/>
            <p:nvPr/>
          </p:nvSpPr>
          <p:spPr>
            <a:xfrm flipH="false" flipV="false" rot="0">
              <a:off x="0" y="0"/>
              <a:ext cx="6045067" cy="555574"/>
            </a:xfrm>
            <a:custGeom>
              <a:avLst/>
              <a:gdLst/>
              <a:ahLst/>
              <a:cxnLst/>
              <a:rect r="r" b="b" t="t" l="l"/>
              <a:pathLst>
                <a:path h="555574" w="6045067">
                  <a:moveTo>
                    <a:pt x="9540" y="0"/>
                  </a:moveTo>
                  <a:lnTo>
                    <a:pt x="6035527" y="0"/>
                  </a:lnTo>
                  <a:cubicBezTo>
                    <a:pt x="6040796" y="0"/>
                    <a:pt x="6045067" y="4271"/>
                    <a:pt x="6045067" y="9540"/>
                  </a:cubicBezTo>
                  <a:lnTo>
                    <a:pt x="6045067" y="546034"/>
                  </a:lnTo>
                  <a:cubicBezTo>
                    <a:pt x="6045067" y="548564"/>
                    <a:pt x="6044062" y="550991"/>
                    <a:pt x="6042273" y="552780"/>
                  </a:cubicBezTo>
                  <a:cubicBezTo>
                    <a:pt x="6040484" y="554569"/>
                    <a:pt x="6038057" y="555574"/>
                    <a:pt x="6035527" y="555574"/>
                  </a:cubicBezTo>
                  <a:lnTo>
                    <a:pt x="9540" y="555574"/>
                  </a:lnTo>
                  <a:cubicBezTo>
                    <a:pt x="4271" y="555574"/>
                    <a:pt x="0" y="551303"/>
                    <a:pt x="0" y="546034"/>
                  </a:cubicBezTo>
                  <a:lnTo>
                    <a:pt x="0" y="9540"/>
                  </a:lnTo>
                  <a:cubicBezTo>
                    <a:pt x="0" y="4271"/>
                    <a:pt x="4271" y="0"/>
                    <a:pt x="9540" y="0"/>
                  </a:cubicBezTo>
                  <a:close/>
                </a:path>
              </a:pathLst>
            </a:custGeom>
            <a:solidFill>
              <a:srgbClr val="575845"/>
            </a:solidFill>
          </p:spPr>
        </p:sp>
        <p:sp>
          <p:nvSpPr>
            <p:cNvPr name="TextBox 7" id="7"/>
            <p:cNvSpPr txBox="true"/>
            <p:nvPr/>
          </p:nvSpPr>
          <p:spPr>
            <a:xfrm>
              <a:off x="0" y="19050"/>
              <a:ext cx="6045067" cy="536524"/>
            </a:xfrm>
            <a:prstGeom prst="rect">
              <a:avLst/>
            </a:prstGeom>
          </p:spPr>
          <p:txBody>
            <a:bodyPr anchor="ctr" rtlCol="false" tIns="34562" lIns="34562" bIns="34562" rIns="34562"/>
            <a:lstStyle/>
            <a:p>
              <a:pPr algn="ctr">
                <a:lnSpc>
                  <a:spcPts val="1945"/>
                </a:lnSpc>
              </a:pPr>
            </a:p>
          </p:txBody>
        </p:sp>
      </p:grpSp>
      <p:grpSp>
        <p:nvGrpSpPr>
          <p:cNvPr name="Group 8" id="8"/>
          <p:cNvGrpSpPr/>
          <p:nvPr/>
        </p:nvGrpSpPr>
        <p:grpSpPr>
          <a:xfrm rot="0">
            <a:off x="1028700" y="4598209"/>
            <a:ext cx="16230600" cy="1233804"/>
            <a:chOff x="0" y="0"/>
            <a:chExt cx="6045067" cy="459529"/>
          </a:xfrm>
        </p:grpSpPr>
        <p:sp>
          <p:nvSpPr>
            <p:cNvPr name="Freeform 9" id="9"/>
            <p:cNvSpPr/>
            <p:nvPr/>
          </p:nvSpPr>
          <p:spPr>
            <a:xfrm flipH="false" flipV="false" rot="0">
              <a:off x="0" y="0"/>
              <a:ext cx="6045067" cy="459529"/>
            </a:xfrm>
            <a:custGeom>
              <a:avLst/>
              <a:gdLst/>
              <a:ahLst/>
              <a:cxnLst/>
              <a:rect r="r" b="b" t="t" l="l"/>
              <a:pathLst>
                <a:path h="459529" w="6045067">
                  <a:moveTo>
                    <a:pt x="9540" y="0"/>
                  </a:moveTo>
                  <a:lnTo>
                    <a:pt x="6035527" y="0"/>
                  </a:lnTo>
                  <a:cubicBezTo>
                    <a:pt x="6040796" y="0"/>
                    <a:pt x="6045067" y="4271"/>
                    <a:pt x="6045067" y="9540"/>
                  </a:cubicBezTo>
                  <a:lnTo>
                    <a:pt x="6045067" y="449989"/>
                  </a:lnTo>
                  <a:cubicBezTo>
                    <a:pt x="6045067" y="455258"/>
                    <a:pt x="6040796" y="459529"/>
                    <a:pt x="6035527" y="459529"/>
                  </a:cubicBezTo>
                  <a:lnTo>
                    <a:pt x="9540" y="459529"/>
                  </a:lnTo>
                  <a:cubicBezTo>
                    <a:pt x="7010" y="459529"/>
                    <a:pt x="4583" y="458524"/>
                    <a:pt x="2794" y="456735"/>
                  </a:cubicBezTo>
                  <a:cubicBezTo>
                    <a:pt x="1005" y="454945"/>
                    <a:pt x="0" y="452519"/>
                    <a:pt x="0" y="449989"/>
                  </a:cubicBezTo>
                  <a:lnTo>
                    <a:pt x="0" y="9540"/>
                  </a:lnTo>
                  <a:cubicBezTo>
                    <a:pt x="0" y="4271"/>
                    <a:pt x="4271" y="0"/>
                    <a:pt x="9540" y="0"/>
                  </a:cubicBezTo>
                  <a:close/>
                </a:path>
              </a:pathLst>
            </a:custGeom>
            <a:solidFill>
              <a:srgbClr val="FFFFFF"/>
            </a:solidFill>
          </p:spPr>
        </p:sp>
        <p:sp>
          <p:nvSpPr>
            <p:cNvPr name="TextBox 10" id="10"/>
            <p:cNvSpPr txBox="true"/>
            <p:nvPr/>
          </p:nvSpPr>
          <p:spPr>
            <a:xfrm>
              <a:off x="0" y="19050"/>
              <a:ext cx="6045067" cy="440479"/>
            </a:xfrm>
            <a:prstGeom prst="rect">
              <a:avLst/>
            </a:prstGeom>
          </p:spPr>
          <p:txBody>
            <a:bodyPr anchor="ctr" rtlCol="false" tIns="34562" lIns="34562" bIns="34562" rIns="34562"/>
            <a:lstStyle/>
            <a:p>
              <a:pPr algn="ctr">
                <a:lnSpc>
                  <a:spcPts val="1945"/>
                </a:lnSpc>
              </a:pPr>
            </a:p>
          </p:txBody>
        </p:sp>
      </p:grpSp>
      <p:grpSp>
        <p:nvGrpSpPr>
          <p:cNvPr name="Group 11" id="11"/>
          <p:cNvGrpSpPr/>
          <p:nvPr/>
        </p:nvGrpSpPr>
        <p:grpSpPr>
          <a:xfrm rot="0">
            <a:off x="1028700" y="6813297"/>
            <a:ext cx="16230600" cy="1233804"/>
            <a:chOff x="0" y="0"/>
            <a:chExt cx="6045067" cy="459529"/>
          </a:xfrm>
        </p:grpSpPr>
        <p:sp>
          <p:nvSpPr>
            <p:cNvPr name="Freeform 12" id="12"/>
            <p:cNvSpPr/>
            <p:nvPr/>
          </p:nvSpPr>
          <p:spPr>
            <a:xfrm flipH="false" flipV="false" rot="0">
              <a:off x="0" y="0"/>
              <a:ext cx="6045067" cy="459529"/>
            </a:xfrm>
            <a:custGeom>
              <a:avLst/>
              <a:gdLst/>
              <a:ahLst/>
              <a:cxnLst/>
              <a:rect r="r" b="b" t="t" l="l"/>
              <a:pathLst>
                <a:path h="459529" w="6045067">
                  <a:moveTo>
                    <a:pt x="9540" y="0"/>
                  </a:moveTo>
                  <a:lnTo>
                    <a:pt x="6035527" y="0"/>
                  </a:lnTo>
                  <a:cubicBezTo>
                    <a:pt x="6040796" y="0"/>
                    <a:pt x="6045067" y="4271"/>
                    <a:pt x="6045067" y="9540"/>
                  </a:cubicBezTo>
                  <a:lnTo>
                    <a:pt x="6045067" y="449989"/>
                  </a:lnTo>
                  <a:cubicBezTo>
                    <a:pt x="6045067" y="455258"/>
                    <a:pt x="6040796" y="459529"/>
                    <a:pt x="6035527" y="459529"/>
                  </a:cubicBezTo>
                  <a:lnTo>
                    <a:pt x="9540" y="459529"/>
                  </a:lnTo>
                  <a:cubicBezTo>
                    <a:pt x="7010" y="459529"/>
                    <a:pt x="4583" y="458524"/>
                    <a:pt x="2794" y="456735"/>
                  </a:cubicBezTo>
                  <a:cubicBezTo>
                    <a:pt x="1005" y="454945"/>
                    <a:pt x="0" y="452519"/>
                    <a:pt x="0" y="449989"/>
                  </a:cubicBezTo>
                  <a:lnTo>
                    <a:pt x="0" y="9540"/>
                  </a:lnTo>
                  <a:cubicBezTo>
                    <a:pt x="0" y="4271"/>
                    <a:pt x="4271" y="0"/>
                    <a:pt x="9540" y="0"/>
                  </a:cubicBezTo>
                  <a:close/>
                </a:path>
              </a:pathLst>
            </a:custGeom>
            <a:solidFill>
              <a:srgbClr val="FFFFFF"/>
            </a:solidFill>
          </p:spPr>
        </p:sp>
        <p:sp>
          <p:nvSpPr>
            <p:cNvPr name="TextBox 13" id="13"/>
            <p:cNvSpPr txBox="true"/>
            <p:nvPr/>
          </p:nvSpPr>
          <p:spPr>
            <a:xfrm>
              <a:off x="0" y="19050"/>
              <a:ext cx="6045067" cy="440479"/>
            </a:xfrm>
            <a:prstGeom prst="rect">
              <a:avLst/>
            </a:prstGeom>
          </p:spPr>
          <p:txBody>
            <a:bodyPr anchor="ctr" rtlCol="false" tIns="34562" lIns="34562" bIns="34562" rIns="34562"/>
            <a:lstStyle/>
            <a:p>
              <a:pPr algn="ctr">
                <a:lnSpc>
                  <a:spcPts val="1945"/>
                </a:lnSpc>
              </a:pPr>
            </a:p>
          </p:txBody>
        </p:sp>
      </p:grpSp>
      <p:grpSp>
        <p:nvGrpSpPr>
          <p:cNvPr name="Group 14" id="14"/>
          <p:cNvGrpSpPr/>
          <p:nvPr/>
        </p:nvGrpSpPr>
        <p:grpSpPr>
          <a:xfrm rot="0">
            <a:off x="1028700" y="8325758"/>
            <a:ext cx="16230600" cy="1233804"/>
            <a:chOff x="0" y="0"/>
            <a:chExt cx="6045067" cy="459529"/>
          </a:xfrm>
        </p:grpSpPr>
        <p:sp>
          <p:nvSpPr>
            <p:cNvPr name="Freeform 15" id="15"/>
            <p:cNvSpPr/>
            <p:nvPr/>
          </p:nvSpPr>
          <p:spPr>
            <a:xfrm flipH="false" flipV="false" rot="0">
              <a:off x="0" y="0"/>
              <a:ext cx="6045067" cy="459529"/>
            </a:xfrm>
            <a:custGeom>
              <a:avLst/>
              <a:gdLst/>
              <a:ahLst/>
              <a:cxnLst/>
              <a:rect r="r" b="b" t="t" l="l"/>
              <a:pathLst>
                <a:path h="459529" w="6045067">
                  <a:moveTo>
                    <a:pt x="9540" y="0"/>
                  </a:moveTo>
                  <a:lnTo>
                    <a:pt x="6035527" y="0"/>
                  </a:lnTo>
                  <a:cubicBezTo>
                    <a:pt x="6040796" y="0"/>
                    <a:pt x="6045067" y="4271"/>
                    <a:pt x="6045067" y="9540"/>
                  </a:cubicBezTo>
                  <a:lnTo>
                    <a:pt x="6045067" y="449989"/>
                  </a:lnTo>
                  <a:cubicBezTo>
                    <a:pt x="6045067" y="455258"/>
                    <a:pt x="6040796" y="459529"/>
                    <a:pt x="6035527" y="459529"/>
                  </a:cubicBezTo>
                  <a:lnTo>
                    <a:pt x="9540" y="459529"/>
                  </a:lnTo>
                  <a:cubicBezTo>
                    <a:pt x="7010" y="459529"/>
                    <a:pt x="4583" y="458524"/>
                    <a:pt x="2794" y="456735"/>
                  </a:cubicBezTo>
                  <a:cubicBezTo>
                    <a:pt x="1005" y="454945"/>
                    <a:pt x="0" y="452519"/>
                    <a:pt x="0" y="449989"/>
                  </a:cubicBezTo>
                  <a:lnTo>
                    <a:pt x="0" y="9540"/>
                  </a:lnTo>
                  <a:cubicBezTo>
                    <a:pt x="0" y="4271"/>
                    <a:pt x="4271" y="0"/>
                    <a:pt x="9540" y="0"/>
                  </a:cubicBezTo>
                  <a:close/>
                </a:path>
              </a:pathLst>
            </a:custGeom>
            <a:solidFill>
              <a:srgbClr val="FFFFFF"/>
            </a:solidFill>
          </p:spPr>
        </p:sp>
        <p:sp>
          <p:nvSpPr>
            <p:cNvPr name="TextBox 16" id="16"/>
            <p:cNvSpPr txBox="true"/>
            <p:nvPr/>
          </p:nvSpPr>
          <p:spPr>
            <a:xfrm>
              <a:off x="0" y="19050"/>
              <a:ext cx="6045067" cy="440479"/>
            </a:xfrm>
            <a:prstGeom prst="rect">
              <a:avLst/>
            </a:prstGeom>
          </p:spPr>
          <p:txBody>
            <a:bodyPr anchor="ctr" rtlCol="false" tIns="34562" lIns="34562" bIns="34562" rIns="34562"/>
            <a:lstStyle/>
            <a:p>
              <a:pPr algn="ctr">
                <a:lnSpc>
                  <a:spcPts val="1945"/>
                </a:lnSpc>
              </a:pPr>
            </a:p>
          </p:txBody>
        </p:sp>
      </p:grpSp>
      <p:sp>
        <p:nvSpPr>
          <p:cNvPr name="Freeform 17" id="17"/>
          <p:cNvSpPr/>
          <p:nvPr/>
        </p:nvSpPr>
        <p:spPr>
          <a:xfrm flipH="false" flipV="false" rot="0">
            <a:off x="16134622" y="107672"/>
            <a:ext cx="1437163" cy="1825496"/>
          </a:xfrm>
          <a:custGeom>
            <a:avLst/>
            <a:gdLst/>
            <a:ahLst/>
            <a:cxnLst/>
            <a:rect r="r" b="b" t="t" l="l"/>
            <a:pathLst>
              <a:path h="1825496" w="1437163">
                <a:moveTo>
                  <a:pt x="0" y="0"/>
                </a:moveTo>
                <a:lnTo>
                  <a:pt x="1437163" y="0"/>
                </a:lnTo>
                <a:lnTo>
                  <a:pt x="1437163" y="1825496"/>
                </a:lnTo>
                <a:lnTo>
                  <a:pt x="0" y="18254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032735" y="3121688"/>
            <a:ext cx="910308" cy="1235857"/>
          </a:xfrm>
          <a:custGeom>
            <a:avLst/>
            <a:gdLst/>
            <a:ahLst/>
            <a:cxnLst/>
            <a:rect r="r" b="b" t="t" l="l"/>
            <a:pathLst>
              <a:path h="1235857" w="910308">
                <a:moveTo>
                  <a:pt x="0" y="0"/>
                </a:moveTo>
                <a:lnTo>
                  <a:pt x="910309" y="0"/>
                </a:lnTo>
                <a:lnTo>
                  <a:pt x="910309" y="1235857"/>
                </a:lnTo>
                <a:lnTo>
                  <a:pt x="0" y="1235857"/>
                </a:lnTo>
                <a:lnTo>
                  <a:pt x="0" y="0"/>
                </a:lnTo>
                <a:close/>
              </a:path>
            </a:pathLst>
          </a:custGeom>
          <a:blipFill>
            <a:blip r:embed="rId4">
              <a:extLst>
                <a:ext uri="{96DAC541-7B7A-43D3-8B79-37D633B846F1}">
                  <asvg:svgBlip xmlns:asvg="http://schemas.microsoft.com/office/drawing/2016/SVG/main" r:embed="rId5"/>
                </a:ext>
              </a:extLst>
            </a:blip>
            <a:stretch>
              <a:fillRect l="0" t="0" r="-35762" b="0"/>
            </a:stretch>
          </a:blipFill>
        </p:spPr>
      </p:sp>
      <p:sp>
        <p:nvSpPr>
          <p:cNvPr name="TextBox 19" id="19"/>
          <p:cNvSpPr txBox="true"/>
          <p:nvPr/>
        </p:nvSpPr>
        <p:spPr>
          <a:xfrm rot="0">
            <a:off x="3918397" y="161216"/>
            <a:ext cx="10451207" cy="2703195"/>
          </a:xfrm>
          <a:prstGeom prst="rect">
            <a:avLst/>
          </a:prstGeom>
        </p:spPr>
        <p:txBody>
          <a:bodyPr anchor="t" rtlCol="false" tIns="0" lIns="0" bIns="0" rIns="0">
            <a:spAutoFit/>
          </a:bodyPr>
          <a:lstStyle/>
          <a:p>
            <a:pPr algn="ctr">
              <a:lnSpc>
                <a:spcPts val="10080"/>
              </a:lnSpc>
            </a:pPr>
            <a:r>
              <a:rPr lang="en-US" sz="7200">
                <a:solidFill>
                  <a:srgbClr val="FFFFFF"/>
                </a:solidFill>
                <a:latin typeface="Rustic Printed"/>
                <a:ea typeface="Rustic Printed"/>
                <a:cs typeface="Rustic Printed"/>
                <a:sym typeface="Rustic Printed"/>
              </a:rPr>
              <a:t>Avantages et limites :</a:t>
            </a:r>
          </a:p>
          <a:p>
            <a:pPr algn="ctr">
              <a:lnSpc>
                <a:spcPts val="10080"/>
              </a:lnSpc>
            </a:pPr>
          </a:p>
        </p:txBody>
      </p:sp>
      <p:sp>
        <p:nvSpPr>
          <p:cNvPr name="TextBox 20" id="20"/>
          <p:cNvSpPr txBox="true"/>
          <p:nvPr/>
        </p:nvSpPr>
        <p:spPr>
          <a:xfrm rot="0">
            <a:off x="1159198" y="2958884"/>
            <a:ext cx="613707" cy="1266190"/>
          </a:xfrm>
          <a:prstGeom prst="rect">
            <a:avLst/>
          </a:prstGeom>
        </p:spPr>
        <p:txBody>
          <a:bodyPr anchor="t" rtlCol="false" tIns="0" lIns="0" bIns="0" rIns="0">
            <a:spAutoFit/>
          </a:bodyPr>
          <a:lstStyle/>
          <a:p>
            <a:pPr algn="ctr">
              <a:lnSpc>
                <a:spcPts val="8959"/>
              </a:lnSpc>
            </a:pPr>
            <a:r>
              <a:rPr lang="en-US" sz="6399">
                <a:solidFill>
                  <a:srgbClr val="FFFFFF"/>
                </a:solidFill>
                <a:latin typeface="Rustic Printed"/>
                <a:ea typeface="Rustic Printed"/>
                <a:cs typeface="Rustic Printed"/>
                <a:sym typeface="Rustic Printed"/>
              </a:rPr>
              <a:t>1</a:t>
            </a:r>
          </a:p>
        </p:txBody>
      </p:sp>
      <p:sp>
        <p:nvSpPr>
          <p:cNvPr name="Freeform 21" id="21"/>
          <p:cNvSpPr/>
          <p:nvPr/>
        </p:nvSpPr>
        <p:spPr>
          <a:xfrm flipH="false" flipV="false" rot="0">
            <a:off x="1032735" y="4598209"/>
            <a:ext cx="910308" cy="1235857"/>
          </a:xfrm>
          <a:custGeom>
            <a:avLst/>
            <a:gdLst/>
            <a:ahLst/>
            <a:cxnLst/>
            <a:rect r="r" b="b" t="t" l="l"/>
            <a:pathLst>
              <a:path h="1235857" w="910308">
                <a:moveTo>
                  <a:pt x="0" y="0"/>
                </a:moveTo>
                <a:lnTo>
                  <a:pt x="910309" y="0"/>
                </a:lnTo>
                <a:lnTo>
                  <a:pt x="910309" y="1235857"/>
                </a:lnTo>
                <a:lnTo>
                  <a:pt x="0" y="1235857"/>
                </a:lnTo>
                <a:lnTo>
                  <a:pt x="0" y="0"/>
                </a:lnTo>
                <a:close/>
              </a:path>
            </a:pathLst>
          </a:custGeom>
          <a:blipFill>
            <a:blip r:embed="rId6">
              <a:extLst>
                <a:ext uri="{96DAC541-7B7A-43D3-8B79-37D633B846F1}">
                  <asvg:svgBlip xmlns:asvg="http://schemas.microsoft.com/office/drawing/2016/SVG/main" r:embed="rId7"/>
                </a:ext>
              </a:extLst>
            </a:blip>
            <a:stretch>
              <a:fillRect l="0" t="0" r="-35762" b="0"/>
            </a:stretch>
          </a:blipFill>
        </p:spPr>
      </p:sp>
      <p:sp>
        <p:nvSpPr>
          <p:cNvPr name="TextBox 22" id="22"/>
          <p:cNvSpPr txBox="true"/>
          <p:nvPr/>
        </p:nvSpPr>
        <p:spPr>
          <a:xfrm rot="0">
            <a:off x="1159198" y="4481172"/>
            <a:ext cx="613707" cy="1093971"/>
          </a:xfrm>
          <a:prstGeom prst="rect">
            <a:avLst/>
          </a:prstGeom>
        </p:spPr>
        <p:txBody>
          <a:bodyPr anchor="t" rtlCol="false" tIns="0" lIns="0" bIns="0" rIns="0">
            <a:spAutoFit/>
          </a:bodyPr>
          <a:lstStyle/>
          <a:p>
            <a:pPr algn="ctr">
              <a:lnSpc>
                <a:spcPts val="7623"/>
              </a:lnSpc>
            </a:pPr>
            <a:r>
              <a:rPr lang="en-US" sz="5445">
                <a:solidFill>
                  <a:srgbClr val="FFFFFF"/>
                </a:solidFill>
                <a:latin typeface="Rustic Printed"/>
                <a:ea typeface="Rustic Printed"/>
                <a:cs typeface="Rustic Printed"/>
                <a:sym typeface="Rustic Printed"/>
              </a:rPr>
              <a:t>2</a:t>
            </a:r>
          </a:p>
        </p:txBody>
      </p:sp>
      <p:sp>
        <p:nvSpPr>
          <p:cNvPr name="Freeform 23" id="23"/>
          <p:cNvSpPr/>
          <p:nvPr/>
        </p:nvSpPr>
        <p:spPr>
          <a:xfrm flipH="false" flipV="false" rot="0">
            <a:off x="1032735" y="6813297"/>
            <a:ext cx="910308" cy="1235857"/>
          </a:xfrm>
          <a:custGeom>
            <a:avLst/>
            <a:gdLst/>
            <a:ahLst/>
            <a:cxnLst/>
            <a:rect r="r" b="b" t="t" l="l"/>
            <a:pathLst>
              <a:path h="1235857" w="910308">
                <a:moveTo>
                  <a:pt x="0" y="0"/>
                </a:moveTo>
                <a:lnTo>
                  <a:pt x="910309" y="0"/>
                </a:lnTo>
                <a:lnTo>
                  <a:pt x="910309" y="1235857"/>
                </a:lnTo>
                <a:lnTo>
                  <a:pt x="0" y="1235857"/>
                </a:lnTo>
                <a:lnTo>
                  <a:pt x="0" y="0"/>
                </a:lnTo>
                <a:close/>
              </a:path>
            </a:pathLst>
          </a:custGeom>
          <a:blipFill>
            <a:blip r:embed="rId6">
              <a:extLst>
                <a:ext uri="{96DAC541-7B7A-43D3-8B79-37D633B846F1}">
                  <asvg:svgBlip xmlns:asvg="http://schemas.microsoft.com/office/drawing/2016/SVG/main" r:embed="rId7"/>
                </a:ext>
              </a:extLst>
            </a:blip>
            <a:stretch>
              <a:fillRect l="0" t="0" r="-35762" b="0"/>
            </a:stretch>
          </a:blipFill>
        </p:spPr>
      </p:sp>
      <p:sp>
        <p:nvSpPr>
          <p:cNvPr name="TextBox 24" id="24"/>
          <p:cNvSpPr txBox="true"/>
          <p:nvPr/>
        </p:nvSpPr>
        <p:spPr>
          <a:xfrm rot="0">
            <a:off x="1159198" y="6753970"/>
            <a:ext cx="613707" cy="1093971"/>
          </a:xfrm>
          <a:prstGeom prst="rect">
            <a:avLst/>
          </a:prstGeom>
        </p:spPr>
        <p:txBody>
          <a:bodyPr anchor="t" rtlCol="false" tIns="0" lIns="0" bIns="0" rIns="0">
            <a:spAutoFit/>
          </a:bodyPr>
          <a:lstStyle/>
          <a:p>
            <a:pPr algn="ctr">
              <a:lnSpc>
                <a:spcPts val="7623"/>
              </a:lnSpc>
            </a:pPr>
            <a:r>
              <a:rPr lang="en-US" sz="5445">
                <a:solidFill>
                  <a:srgbClr val="FFFFFF"/>
                </a:solidFill>
                <a:latin typeface="Rustic Printed"/>
                <a:ea typeface="Rustic Printed"/>
                <a:cs typeface="Rustic Printed"/>
                <a:sym typeface="Rustic Printed"/>
              </a:rPr>
              <a:t>3</a:t>
            </a:r>
          </a:p>
        </p:txBody>
      </p:sp>
      <p:sp>
        <p:nvSpPr>
          <p:cNvPr name="Freeform 25" id="25"/>
          <p:cNvSpPr/>
          <p:nvPr/>
        </p:nvSpPr>
        <p:spPr>
          <a:xfrm flipH="false" flipV="false" rot="0">
            <a:off x="1032735" y="8323705"/>
            <a:ext cx="910308" cy="1235857"/>
          </a:xfrm>
          <a:custGeom>
            <a:avLst/>
            <a:gdLst/>
            <a:ahLst/>
            <a:cxnLst/>
            <a:rect r="r" b="b" t="t" l="l"/>
            <a:pathLst>
              <a:path h="1235857" w="910308">
                <a:moveTo>
                  <a:pt x="0" y="0"/>
                </a:moveTo>
                <a:lnTo>
                  <a:pt x="910309" y="0"/>
                </a:lnTo>
                <a:lnTo>
                  <a:pt x="910309" y="1235857"/>
                </a:lnTo>
                <a:lnTo>
                  <a:pt x="0" y="1235857"/>
                </a:lnTo>
                <a:lnTo>
                  <a:pt x="0" y="0"/>
                </a:lnTo>
                <a:close/>
              </a:path>
            </a:pathLst>
          </a:custGeom>
          <a:blipFill>
            <a:blip r:embed="rId4">
              <a:extLst>
                <a:ext uri="{96DAC541-7B7A-43D3-8B79-37D633B846F1}">
                  <asvg:svgBlip xmlns:asvg="http://schemas.microsoft.com/office/drawing/2016/SVG/main" r:embed="rId5"/>
                </a:ext>
              </a:extLst>
            </a:blip>
            <a:stretch>
              <a:fillRect l="0" t="0" r="-35762" b="0"/>
            </a:stretch>
          </a:blipFill>
        </p:spPr>
      </p:sp>
      <p:sp>
        <p:nvSpPr>
          <p:cNvPr name="TextBox 26" id="26"/>
          <p:cNvSpPr txBox="true"/>
          <p:nvPr/>
        </p:nvSpPr>
        <p:spPr>
          <a:xfrm rot="0">
            <a:off x="1170079" y="8264378"/>
            <a:ext cx="613707" cy="1093971"/>
          </a:xfrm>
          <a:prstGeom prst="rect">
            <a:avLst/>
          </a:prstGeom>
        </p:spPr>
        <p:txBody>
          <a:bodyPr anchor="t" rtlCol="false" tIns="0" lIns="0" bIns="0" rIns="0">
            <a:spAutoFit/>
          </a:bodyPr>
          <a:lstStyle/>
          <a:p>
            <a:pPr algn="ctr">
              <a:lnSpc>
                <a:spcPts val="7623"/>
              </a:lnSpc>
            </a:pPr>
            <a:r>
              <a:rPr lang="en-US" sz="5445">
                <a:solidFill>
                  <a:srgbClr val="FFFFFF"/>
                </a:solidFill>
                <a:latin typeface="Rustic Printed"/>
                <a:ea typeface="Rustic Printed"/>
                <a:cs typeface="Rustic Printed"/>
                <a:sym typeface="Rustic Printed"/>
              </a:rPr>
              <a:t>4</a:t>
            </a:r>
          </a:p>
        </p:txBody>
      </p:sp>
      <p:sp>
        <p:nvSpPr>
          <p:cNvPr name="TextBox 27" id="27"/>
          <p:cNvSpPr txBox="true"/>
          <p:nvPr/>
        </p:nvSpPr>
        <p:spPr>
          <a:xfrm rot="0">
            <a:off x="2363152" y="3452568"/>
            <a:ext cx="14474554" cy="1047624"/>
          </a:xfrm>
          <a:prstGeom prst="rect">
            <a:avLst/>
          </a:prstGeom>
        </p:spPr>
        <p:txBody>
          <a:bodyPr anchor="t" rtlCol="false" tIns="0" lIns="0" bIns="0" rIns="0">
            <a:spAutoFit/>
          </a:bodyPr>
          <a:lstStyle/>
          <a:p>
            <a:pPr algn="l">
              <a:lnSpc>
                <a:spcPts val="4206"/>
              </a:lnSpc>
            </a:pPr>
            <a:r>
              <a:rPr lang="en-US" sz="3004">
                <a:solidFill>
                  <a:srgbClr val="575845"/>
                </a:solidFill>
                <a:latin typeface="Barlow"/>
                <a:ea typeface="Barlow"/>
                <a:cs typeface="Barlow"/>
                <a:sym typeface="Barlow"/>
              </a:rPr>
              <a:t>Permet de comparer plusieurs groupes</a:t>
            </a:r>
          </a:p>
          <a:p>
            <a:pPr algn="l">
              <a:lnSpc>
                <a:spcPts val="4206"/>
              </a:lnSpc>
            </a:pPr>
          </a:p>
        </p:txBody>
      </p:sp>
      <p:sp>
        <p:nvSpPr>
          <p:cNvPr name="TextBox 28" id="28"/>
          <p:cNvSpPr txBox="true"/>
          <p:nvPr/>
        </p:nvSpPr>
        <p:spPr>
          <a:xfrm rot="0">
            <a:off x="2341136" y="4948032"/>
            <a:ext cx="14496570" cy="533400"/>
          </a:xfrm>
          <a:prstGeom prst="rect">
            <a:avLst/>
          </a:prstGeom>
        </p:spPr>
        <p:txBody>
          <a:bodyPr anchor="t" rtlCol="false" tIns="0" lIns="0" bIns="0" rIns="0">
            <a:spAutoFit/>
          </a:bodyPr>
          <a:lstStyle/>
          <a:p>
            <a:pPr algn="l">
              <a:lnSpc>
                <a:spcPts val="4200"/>
              </a:lnSpc>
            </a:pPr>
            <a:r>
              <a:rPr lang="en-US" sz="3000">
                <a:solidFill>
                  <a:srgbClr val="575845"/>
                </a:solidFill>
                <a:latin typeface="Barlow"/>
                <a:ea typeface="Barlow"/>
                <a:cs typeface="Barlow"/>
                <a:sym typeface="Barlow"/>
              </a:rPr>
              <a:t>Réduit les erreurs statistiques</a:t>
            </a:r>
          </a:p>
        </p:txBody>
      </p:sp>
      <p:sp>
        <p:nvSpPr>
          <p:cNvPr name="TextBox 29" id="29"/>
          <p:cNvSpPr txBox="true"/>
          <p:nvPr/>
        </p:nvSpPr>
        <p:spPr>
          <a:xfrm rot="0">
            <a:off x="2363152" y="7120627"/>
            <a:ext cx="14233078" cy="514224"/>
          </a:xfrm>
          <a:prstGeom prst="rect">
            <a:avLst/>
          </a:prstGeom>
        </p:spPr>
        <p:txBody>
          <a:bodyPr anchor="t" rtlCol="false" tIns="0" lIns="0" bIns="0" rIns="0">
            <a:spAutoFit/>
          </a:bodyPr>
          <a:lstStyle/>
          <a:p>
            <a:pPr algn="l">
              <a:lnSpc>
                <a:spcPts val="4206"/>
              </a:lnSpc>
            </a:pPr>
            <a:r>
              <a:rPr lang="en-US" sz="3004">
                <a:solidFill>
                  <a:srgbClr val="575845"/>
                </a:solidFill>
                <a:latin typeface="Barlow"/>
                <a:ea typeface="Barlow"/>
                <a:cs typeface="Barlow"/>
                <a:sym typeface="Barlow"/>
              </a:rPr>
              <a:t>Dépend de certaines conditions</a:t>
            </a:r>
          </a:p>
        </p:txBody>
      </p:sp>
      <p:sp>
        <p:nvSpPr>
          <p:cNvPr name="TextBox 30" id="30"/>
          <p:cNvSpPr txBox="true"/>
          <p:nvPr/>
        </p:nvSpPr>
        <p:spPr>
          <a:xfrm rot="0">
            <a:off x="2363152" y="8637651"/>
            <a:ext cx="11984436" cy="514224"/>
          </a:xfrm>
          <a:prstGeom prst="rect">
            <a:avLst/>
          </a:prstGeom>
        </p:spPr>
        <p:txBody>
          <a:bodyPr anchor="t" rtlCol="false" tIns="0" lIns="0" bIns="0" rIns="0">
            <a:spAutoFit/>
          </a:bodyPr>
          <a:lstStyle/>
          <a:p>
            <a:pPr algn="l">
              <a:lnSpc>
                <a:spcPts val="4206"/>
              </a:lnSpc>
            </a:pPr>
            <a:r>
              <a:rPr lang="en-US" sz="3004">
                <a:solidFill>
                  <a:srgbClr val="575845"/>
                </a:solidFill>
                <a:latin typeface="Barlow"/>
                <a:ea typeface="Barlow"/>
                <a:cs typeface="Barlow"/>
                <a:sym typeface="Barlow"/>
              </a:rPr>
              <a:t>Ne précise pas quelles moyennes diffèrent</a:t>
            </a:r>
          </a:p>
        </p:txBody>
      </p:sp>
      <p:sp>
        <p:nvSpPr>
          <p:cNvPr name="TextBox 31" id="31"/>
          <p:cNvSpPr txBox="true"/>
          <p:nvPr/>
        </p:nvSpPr>
        <p:spPr>
          <a:xfrm rot="0">
            <a:off x="1028700" y="1960907"/>
            <a:ext cx="4003723" cy="913131"/>
          </a:xfrm>
          <a:prstGeom prst="rect">
            <a:avLst/>
          </a:prstGeom>
        </p:spPr>
        <p:txBody>
          <a:bodyPr anchor="t" rtlCol="false" tIns="0" lIns="0" bIns="0" rIns="0">
            <a:spAutoFit/>
          </a:bodyPr>
          <a:lstStyle/>
          <a:p>
            <a:pPr algn="ctr">
              <a:lnSpc>
                <a:spcPts val="7419"/>
              </a:lnSpc>
              <a:spcBef>
                <a:spcPct val="0"/>
              </a:spcBef>
            </a:pPr>
            <a:r>
              <a:rPr lang="en-US" b="true" sz="5299" i="true">
                <a:solidFill>
                  <a:srgbClr val="575845"/>
                </a:solidFill>
                <a:latin typeface="Barlow Bold Italics"/>
                <a:ea typeface="Barlow Bold Italics"/>
                <a:cs typeface="Barlow Bold Italics"/>
                <a:sym typeface="Barlow Bold Italics"/>
              </a:rPr>
              <a:t>Avantages:</a:t>
            </a:r>
          </a:p>
        </p:txBody>
      </p:sp>
      <p:sp>
        <p:nvSpPr>
          <p:cNvPr name="TextBox 32" id="32"/>
          <p:cNvSpPr txBox="true"/>
          <p:nvPr/>
        </p:nvSpPr>
        <p:spPr>
          <a:xfrm rot="0">
            <a:off x="822689" y="5809967"/>
            <a:ext cx="3822880" cy="913130"/>
          </a:xfrm>
          <a:prstGeom prst="rect">
            <a:avLst/>
          </a:prstGeom>
        </p:spPr>
        <p:txBody>
          <a:bodyPr anchor="t" rtlCol="false" tIns="0" lIns="0" bIns="0" rIns="0">
            <a:spAutoFit/>
          </a:bodyPr>
          <a:lstStyle/>
          <a:p>
            <a:pPr algn="ctr">
              <a:lnSpc>
                <a:spcPts val="7420"/>
              </a:lnSpc>
              <a:spcBef>
                <a:spcPct val="0"/>
              </a:spcBef>
            </a:pPr>
            <a:r>
              <a:rPr lang="en-US" b="true" sz="5300" i="true">
                <a:solidFill>
                  <a:srgbClr val="575845"/>
                </a:solidFill>
                <a:latin typeface="Barlow Bold Italics"/>
                <a:ea typeface="Barlow Bold Italics"/>
                <a:cs typeface="Barlow Bold Italics"/>
                <a:sym typeface="Barlow Bold Italics"/>
              </a:rPr>
              <a:t>L</a:t>
            </a:r>
            <a:r>
              <a:rPr lang="en-US" b="true" sz="5300" i="true">
                <a:solidFill>
                  <a:srgbClr val="575845"/>
                </a:solidFill>
                <a:latin typeface="Barlow Bold Italics"/>
                <a:ea typeface="Barlow Bold Italics"/>
                <a:cs typeface="Barlow Bold Italics"/>
                <a:sym typeface="Barlow Bold Italics"/>
              </a:rPr>
              <a:t>imites:</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sp>
        <p:nvSpPr>
          <p:cNvPr name="TextBox 2" id="2"/>
          <p:cNvSpPr txBox="true"/>
          <p:nvPr/>
        </p:nvSpPr>
        <p:spPr>
          <a:xfrm rot="0">
            <a:off x="1028700" y="150824"/>
            <a:ext cx="16230600" cy="1757683"/>
          </a:xfrm>
          <a:prstGeom prst="rect">
            <a:avLst/>
          </a:prstGeom>
        </p:spPr>
        <p:txBody>
          <a:bodyPr anchor="t" rtlCol="false" tIns="0" lIns="0" bIns="0" rIns="0">
            <a:spAutoFit/>
          </a:bodyPr>
          <a:lstStyle/>
          <a:p>
            <a:pPr algn="ctr">
              <a:lnSpc>
                <a:spcPts val="12319"/>
              </a:lnSpc>
            </a:pPr>
            <a:r>
              <a:rPr lang="en-US" sz="8799">
                <a:solidFill>
                  <a:srgbClr val="5B5C48"/>
                </a:solidFill>
                <a:latin typeface="Rustic Printed"/>
                <a:ea typeface="Rustic Printed"/>
                <a:cs typeface="Rustic Printed"/>
                <a:sym typeface="Rustic Printed"/>
              </a:rPr>
              <a:t>Conclusion:</a:t>
            </a:r>
          </a:p>
        </p:txBody>
      </p:sp>
      <p:grpSp>
        <p:nvGrpSpPr>
          <p:cNvPr name="Group 3" id="3"/>
          <p:cNvGrpSpPr/>
          <p:nvPr/>
        </p:nvGrpSpPr>
        <p:grpSpPr>
          <a:xfrm rot="0">
            <a:off x="2291644" y="4210251"/>
            <a:ext cx="6336561" cy="3681501"/>
            <a:chOff x="0" y="0"/>
            <a:chExt cx="1787037" cy="1038257"/>
          </a:xfrm>
        </p:grpSpPr>
        <p:sp>
          <p:nvSpPr>
            <p:cNvPr name="Freeform 4" id="4"/>
            <p:cNvSpPr/>
            <p:nvPr/>
          </p:nvSpPr>
          <p:spPr>
            <a:xfrm flipH="false" flipV="false" rot="0">
              <a:off x="0" y="0"/>
              <a:ext cx="1787037" cy="1038257"/>
            </a:xfrm>
            <a:custGeom>
              <a:avLst/>
              <a:gdLst/>
              <a:ahLst/>
              <a:cxnLst/>
              <a:rect r="r" b="b" t="t" l="l"/>
              <a:pathLst>
                <a:path h="1038257" w="1787037">
                  <a:moveTo>
                    <a:pt x="24436" y="0"/>
                  </a:moveTo>
                  <a:lnTo>
                    <a:pt x="1762601" y="0"/>
                  </a:lnTo>
                  <a:cubicBezTo>
                    <a:pt x="1776096" y="0"/>
                    <a:pt x="1787037" y="10940"/>
                    <a:pt x="1787037" y="24436"/>
                  </a:cubicBezTo>
                  <a:lnTo>
                    <a:pt x="1787037" y="1013821"/>
                  </a:lnTo>
                  <a:cubicBezTo>
                    <a:pt x="1787037" y="1020302"/>
                    <a:pt x="1784462" y="1026517"/>
                    <a:pt x="1779880" y="1031100"/>
                  </a:cubicBezTo>
                  <a:cubicBezTo>
                    <a:pt x="1775297" y="1035682"/>
                    <a:pt x="1769082" y="1038257"/>
                    <a:pt x="1762601" y="1038257"/>
                  </a:cubicBezTo>
                  <a:lnTo>
                    <a:pt x="24436" y="1038257"/>
                  </a:lnTo>
                  <a:cubicBezTo>
                    <a:pt x="17955" y="1038257"/>
                    <a:pt x="11740" y="1035682"/>
                    <a:pt x="7157" y="1031100"/>
                  </a:cubicBezTo>
                  <a:cubicBezTo>
                    <a:pt x="2574" y="1026517"/>
                    <a:pt x="0" y="1020302"/>
                    <a:pt x="0" y="1013821"/>
                  </a:cubicBezTo>
                  <a:lnTo>
                    <a:pt x="0" y="24436"/>
                  </a:lnTo>
                  <a:cubicBezTo>
                    <a:pt x="0" y="17955"/>
                    <a:pt x="2574" y="11740"/>
                    <a:pt x="7157" y="7157"/>
                  </a:cubicBezTo>
                  <a:cubicBezTo>
                    <a:pt x="11740" y="2574"/>
                    <a:pt x="17955" y="0"/>
                    <a:pt x="24436" y="0"/>
                  </a:cubicBezTo>
                  <a:close/>
                </a:path>
              </a:pathLst>
            </a:custGeom>
            <a:solidFill>
              <a:srgbClr val="FFFFFF"/>
            </a:solidFill>
          </p:spPr>
        </p:sp>
        <p:sp>
          <p:nvSpPr>
            <p:cNvPr name="TextBox 5" id="5"/>
            <p:cNvSpPr txBox="true"/>
            <p:nvPr/>
          </p:nvSpPr>
          <p:spPr>
            <a:xfrm>
              <a:off x="0" y="-19050"/>
              <a:ext cx="1787037" cy="1057307"/>
            </a:xfrm>
            <a:prstGeom prst="rect">
              <a:avLst/>
            </a:prstGeom>
          </p:spPr>
          <p:txBody>
            <a:bodyPr anchor="ctr" rtlCol="false" tIns="48876" lIns="48876" bIns="48876" rIns="48876"/>
            <a:lstStyle/>
            <a:p>
              <a:pPr algn="ctr">
                <a:lnSpc>
                  <a:spcPts val="1333"/>
                </a:lnSpc>
              </a:pPr>
            </a:p>
          </p:txBody>
        </p:sp>
      </p:grpSp>
      <p:grpSp>
        <p:nvGrpSpPr>
          <p:cNvPr name="Group 6" id="6"/>
          <p:cNvGrpSpPr/>
          <p:nvPr/>
        </p:nvGrpSpPr>
        <p:grpSpPr>
          <a:xfrm rot="0">
            <a:off x="9144000" y="2506163"/>
            <a:ext cx="8645804" cy="7096747"/>
            <a:chOff x="0" y="0"/>
            <a:chExt cx="2438290" cy="2001425"/>
          </a:xfrm>
        </p:grpSpPr>
        <p:sp>
          <p:nvSpPr>
            <p:cNvPr name="Freeform 7" id="7"/>
            <p:cNvSpPr/>
            <p:nvPr/>
          </p:nvSpPr>
          <p:spPr>
            <a:xfrm flipH="false" flipV="false" rot="0">
              <a:off x="0" y="0"/>
              <a:ext cx="2438290" cy="2001425"/>
            </a:xfrm>
            <a:custGeom>
              <a:avLst/>
              <a:gdLst/>
              <a:ahLst/>
              <a:cxnLst/>
              <a:rect r="r" b="b" t="t" l="l"/>
              <a:pathLst>
                <a:path h="2001425" w="2438290">
                  <a:moveTo>
                    <a:pt x="17909" y="0"/>
                  </a:moveTo>
                  <a:lnTo>
                    <a:pt x="2420381" y="0"/>
                  </a:lnTo>
                  <a:cubicBezTo>
                    <a:pt x="2425130" y="0"/>
                    <a:pt x="2429685" y="1887"/>
                    <a:pt x="2433044" y="5245"/>
                  </a:cubicBezTo>
                  <a:cubicBezTo>
                    <a:pt x="2436403" y="8604"/>
                    <a:pt x="2438290" y="13159"/>
                    <a:pt x="2438290" y="17909"/>
                  </a:cubicBezTo>
                  <a:lnTo>
                    <a:pt x="2438290" y="1983516"/>
                  </a:lnTo>
                  <a:cubicBezTo>
                    <a:pt x="2438290" y="1988265"/>
                    <a:pt x="2436403" y="1992820"/>
                    <a:pt x="2433044" y="1996179"/>
                  </a:cubicBezTo>
                  <a:cubicBezTo>
                    <a:pt x="2429685" y="1999538"/>
                    <a:pt x="2425130" y="2001425"/>
                    <a:pt x="2420381" y="2001425"/>
                  </a:cubicBezTo>
                  <a:lnTo>
                    <a:pt x="17909" y="2001425"/>
                  </a:lnTo>
                  <a:cubicBezTo>
                    <a:pt x="13159" y="2001425"/>
                    <a:pt x="8604" y="1999538"/>
                    <a:pt x="5245" y="1996179"/>
                  </a:cubicBezTo>
                  <a:cubicBezTo>
                    <a:pt x="1887" y="1992820"/>
                    <a:pt x="0" y="1988265"/>
                    <a:pt x="0" y="1983516"/>
                  </a:cubicBezTo>
                  <a:lnTo>
                    <a:pt x="0" y="17909"/>
                  </a:lnTo>
                  <a:cubicBezTo>
                    <a:pt x="0" y="13159"/>
                    <a:pt x="1887" y="8604"/>
                    <a:pt x="5245" y="5245"/>
                  </a:cubicBezTo>
                  <a:cubicBezTo>
                    <a:pt x="8604" y="1887"/>
                    <a:pt x="13159" y="0"/>
                    <a:pt x="17909" y="0"/>
                  </a:cubicBezTo>
                  <a:close/>
                </a:path>
              </a:pathLst>
            </a:custGeom>
            <a:solidFill>
              <a:srgbClr val="FFFFFF"/>
            </a:solidFill>
          </p:spPr>
        </p:sp>
        <p:sp>
          <p:nvSpPr>
            <p:cNvPr name="TextBox 8" id="8"/>
            <p:cNvSpPr txBox="true"/>
            <p:nvPr/>
          </p:nvSpPr>
          <p:spPr>
            <a:xfrm>
              <a:off x="0" y="-19050"/>
              <a:ext cx="2438290" cy="2020475"/>
            </a:xfrm>
            <a:prstGeom prst="rect">
              <a:avLst/>
            </a:prstGeom>
          </p:spPr>
          <p:txBody>
            <a:bodyPr anchor="ctr" rtlCol="false" tIns="48876" lIns="48876" bIns="48876" rIns="48876"/>
            <a:lstStyle/>
            <a:p>
              <a:pPr algn="ctr">
                <a:lnSpc>
                  <a:spcPts val="1333"/>
                </a:lnSpc>
              </a:pPr>
            </a:p>
          </p:txBody>
        </p:sp>
      </p:grpSp>
      <p:sp>
        <p:nvSpPr>
          <p:cNvPr name="TextBox 9" id="9"/>
          <p:cNvSpPr txBox="true"/>
          <p:nvPr/>
        </p:nvSpPr>
        <p:spPr>
          <a:xfrm rot="0">
            <a:off x="2858093" y="3933320"/>
            <a:ext cx="5559651" cy="1066800"/>
          </a:xfrm>
          <a:prstGeom prst="rect">
            <a:avLst/>
          </a:prstGeom>
        </p:spPr>
        <p:txBody>
          <a:bodyPr anchor="t" rtlCol="false" tIns="0" lIns="0" bIns="0" rIns="0">
            <a:spAutoFit/>
          </a:bodyPr>
          <a:lstStyle/>
          <a:p>
            <a:pPr algn="ctr">
              <a:lnSpc>
                <a:spcPts val="4200"/>
              </a:lnSpc>
            </a:pPr>
            <a:r>
              <a:rPr lang="en-US" sz="3000">
                <a:solidFill>
                  <a:srgbClr val="5B5C48"/>
                </a:solidFill>
                <a:latin typeface="Barlow"/>
                <a:ea typeface="Barlow"/>
                <a:cs typeface="Barlow"/>
                <a:sym typeface="Barlow"/>
              </a:rPr>
              <a:t>. </a:t>
            </a:r>
          </a:p>
          <a:p>
            <a:pPr algn="ctr">
              <a:lnSpc>
                <a:spcPts val="4200"/>
              </a:lnSpc>
            </a:pPr>
          </a:p>
        </p:txBody>
      </p:sp>
      <p:sp>
        <p:nvSpPr>
          <p:cNvPr name="Freeform 10" id="10"/>
          <p:cNvSpPr/>
          <p:nvPr/>
        </p:nvSpPr>
        <p:spPr>
          <a:xfrm flipH="false" flipV="false" rot="0">
            <a:off x="16221919" y="255954"/>
            <a:ext cx="2265262" cy="2187008"/>
          </a:xfrm>
          <a:custGeom>
            <a:avLst/>
            <a:gdLst/>
            <a:ahLst/>
            <a:cxnLst/>
            <a:rect r="r" b="b" t="t" l="l"/>
            <a:pathLst>
              <a:path h="2187008" w="2265262">
                <a:moveTo>
                  <a:pt x="0" y="0"/>
                </a:moveTo>
                <a:lnTo>
                  <a:pt x="2265262" y="0"/>
                </a:lnTo>
                <a:lnTo>
                  <a:pt x="2265262" y="2187008"/>
                </a:lnTo>
                <a:lnTo>
                  <a:pt x="0" y="218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433192">
            <a:off x="112279" y="8032771"/>
            <a:ext cx="2366305" cy="1936067"/>
          </a:xfrm>
          <a:custGeom>
            <a:avLst/>
            <a:gdLst/>
            <a:ahLst/>
            <a:cxnLst/>
            <a:rect r="r" b="b" t="t" l="l"/>
            <a:pathLst>
              <a:path h="1936067" w="2366305">
                <a:moveTo>
                  <a:pt x="0" y="0"/>
                </a:moveTo>
                <a:lnTo>
                  <a:pt x="2366304" y="0"/>
                </a:lnTo>
                <a:lnTo>
                  <a:pt x="2366304" y="1936068"/>
                </a:lnTo>
                <a:lnTo>
                  <a:pt x="0" y="1936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80402" y="4438144"/>
            <a:ext cx="6037342" cy="3166110"/>
          </a:xfrm>
          <a:prstGeom prst="rect">
            <a:avLst/>
          </a:prstGeom>
        </p:spPr>
        <p:txBody>
          <a:bodyPr anchor="t" rtlCol="false" tIns="0" lIns="0" bIns="0" rIns="0">
            <a:spAutoFit/>
          </a:bodyPr>
          <a:lstStyle/>
          <a:p>
            <a:pPr algn="ctr">
              <a:lnSpc>
                <a:spcPts val="5040"/>
              </a:lnSpc>
              <a:spcBef>
                <a:spcPct val="0"/>
              </a:spcBef>
            </a:pPr>
            <a:r>
              <a:rPr lang="en-US" b="true" sz="3600">
                <a:solidFill>
                  <a:srgbClr val="5B5C48"/>
                </a:solidFill>
                <a:latin typeface="Barlow Bold"/>
                <a:ea typeface="Barlow Bold"/>
                <a:cs typeface="Barlow Bold"/>
                <a:sym typeface="Barlow Bold"/>
              </a:rPr>
              <a:t>En résumé, l'ANOVA est l'outil statistique de référence pour comparer simultanément les moyennes de plus de deux groupes.</a:t>
            </a:r>
          </a:p>
        </p:txBody>
      </p:sp>
      <p:sp>
        <p:nvSpPr>
          <p:cNvPr name="TextBox 13" id="13"/>
          <p:cNvSpPr txBox="true"/>
          <p:nvPr/>
        </p:nvSpPr>
        <p:spPr>
          <a:xfrm rot="0">
            <a:off x="9282317" y="2523619"/>
            <a:ext cx="8507488" cy="6995160"/>
          </a:xfrm>
          <a:prstGeom prst="rect">
            <a:avLst/>
          </a:prstGeom>
        </p:spPr>
        <p:txBody>
          <a:bodyPr anchor="t" rtlCol="false" tIns="0" lIns="0" bIns="0" rIns="0">
            <a:spAutoFit/>
          </a:bodyPr>
          <a:lstStyle/>
          <a:p>
            <a:pPr algn="ctr">
              <a:lnSpc>
                <a:spcPts val="5040"/>
              </a:lnSpc>
              <a:spcBef>
                <a:spcPct val="0"/>
              </a:spcBef>
            </a:pPr>
            <a:r>
              <a:rPr lang="en-US" b="true" sz="3600">
                <a:solidFill>
                  <a:srgbClr val="5B5C48"/>
                </a:solidFill>
                <a:latin typeface="Barlow Bold"/>
                <a:ea typeface="Barlow Bold"/>
                <a:cs typeface="Barlow Bold"/>
                <a:sym typeface="Barlow Bold"/>
              </a:rPr>
              <a:t>Elle permet de déterminer si au moins une des catégories se distingue des autres de manière significative, tout en limitant le risque d'erreur lié à la multiplication des tests. Toutefois, son efficacité repose sur le respect de critères stricts (normalité et homogénéité des variances) et nécessite souvent des tests post-hoc (comme le test de Tukey) pour identifier précisément où se situent les différences.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EF"/>
        </a:solidFill>
      </p:bgPr>
    </p:bg>
    <p:spTree>
      <p:nvGrpSpPr>
        <p:cNvPr id="1" name=""/>
        <p:cNvGrpSpPr/>
        <p:nvPr/>
      </p:nvGrpSpPr>
      <p:grpSpPr>
        <a:xfrm>
          <a:off x="0" y="0"/>
          <a:ext cx="0" cy="0"/>
          <a:chOff x="0" y="0"/>
          <a:chExt cx="0" cy="0"/>
        </a:xfrm>
      </p:grpSpPr>
      <p:grpSp>
        <p:nvGrpSpPr>
          <p:cNvPr name="Group 2" id="2"/>
          <p:cNvGrpSpPr/>
          <p:nvPr/>
        </p:nvGrpSpPr>
        <p:grpSpPr>
          <a:xfrm rot="0">
            <a:off x="3022314" y="4717876"/>
            <a:ext cx="14115693" cy="3072630"/>
            <a:chOff x="0" y="0"/>
            <a:chExt cx="3980907" cy="866543"/>
          </a:xfrm>
        </p:grpSpPr>
        <p:sp>
          <p:nvSpPr>
            <p:cNvPr name="Freeform 3" id="3"/>
            <p:cNvSpPr/>
            <p:nvPr/>
          </p:nvSpPr>
          <p:spPr>
            <a:xfrm flipH="false" flipV="false" rot="0">
              <a:off x="0" y="0"/>
              <a:ext cx="3980907" cy="866543"/>
            </a:xfrm>
            <a:custGeom>
              <a:avLst/>
              <a:gdLst/>
              <a:ahLst/>
              <a:cxnLst/>
              <a:rect r="r" b="b" t="t" l="l"/>
              <a:pathLst>
                <a:path h="866543" w="3980907">
                  <a:moveTo>
                    <a:pt x="16454" y="0"/>
                  </a:moveTo>
                  <a:lnTo>
                    <a:pt x="3964453" y="0"/>
                  </a:lnTo>
                  <a:cubicBezTo>
                    <a:pt x="3973541" y="0"/>
                    <a:pt x="3980907" y="7367"/>
                    <a:pt x="3980907" y="16454"/>
                  </a:cubicBezTo>
                  <a:lnTo>
                    <a:pt x="3980907" y="850089"/>
                  </a:lnTo>
                  <a:cubicBezTo>
                    <a:pt x="3980907" y="859176"/>
                    <a:pt x="3973541" y="866543"/>
                    <a:pt x="3964453" y="866543"/>
                  </a:cubicBezTo>
                  <a:lnTo>
                    <a:pt x="16454" y="866543"/>
                  </a:lnTo>
                  <a:cubicBezTo>
                    <a:pt x="7367" y="866543"/>
                    <a:pt x="0" y="859176"/>
                    <a:pt x="0" y="850089"/>
                  </a:cubicBezTo>
                  <a:lnTo>
                    <a:pt x="0" y="16454"/>
                  </a:lnTo>
                  <a:cubicBezTo>
                    <a:pt x="0" y="7367"/>
                    <a:pt x="7367" y="0"/>
                    <a:pt x="16454" y="0"/>
                  </a:cubicBezTo>
                  <a:close/>
                </a:path>
              </a:pathLst>
            </a:custGeom>
            <a:solidFill>
              <a:srgbClr val="727357"/>
            </a:solidFill>
          </p:spPr>
        </p:sp>
        <p:sp>
          <p:nvSpPr>
            <p:cNvPr name="TextBox 4" id="4"/>
            <p:cNvSpPr txBox="true"/>
            <p:nvPr/>
          </p:nvSpPr>
          <p:spPr>
            <a:xfrm>
              <a:off x="0" y="-19050"/>
              <a:ext cx="3980907" cy="885593"/>
            </a:xfrm>
            <a:prstGeom prst="rect">
              <a:avLst/>
            </a:prstGeom>
          </p:spPr>
          <p:txBody>
            <a:bodyPr anchor="ctr" rtlCol="false" tIns="48876" lIns="48876" bIns="48876" rIns="48876"/>
            <a:lstStyle/>
            <a:p>
              <a:pPr algn="ctr">
                <a:lnSpc>
                  <a:spcPts val="1333"/>
                </a:lnSpc>
              </a:pPr>
            </a:p>
          </p:txBody>
        </p:sp>
      </p:grpSp>
      <p:sp>
        <p:nvSpPr>
          <p:cNvPr name="Freeform 5" id="5"/>
          <p:cNvSpPr/>
          <p:nvPr/>
        </p:nvSpPr>
        <p:spPr>
          <a:xfrm flipH="false" flipV="false" rot="-423143">
            <a:off x="-415393" y="6833316"/>
            <a:ext cx="2888185" cy="3288824"/>
          </a:xfrm>
          <a:custGeom>
            <a:avLst/>
            <a:gdLst/>
            <a:ahLst/>
            <a:cxnLst/>
            <a:rect r="r" b="b" t="t" l="l"/>
            <a:pathLst>
              <a:path h="3288824" w="2888185">
                <a:moveTo>
                  <a:pt x="0" y="0"/>
                </a:moveTo>
                <a:lnTo>
                  <a:pt x="2888186" y="0"/>
                </a:lnTo>
                <a:lnTo>
                  <a:pt x="2888186" y="3288824"/>
                </a:lnTo>
                <a:lnTo>
                  <a:pt x="0" y="3288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185305">
            <a:off x="15951517" y="-330522"/>
            <a:ext cx="2615566" cy="3517264"/>
          </a:xfrm>
          <a:custGeom>
            <a:avLst/>
            <a:gdLst/>
            <a:ahLst/>
            <a:cxnLst/>
            <a:rect r="r" b="b" t="t" l="l"/>
            <a:pathLst>
              <a:path h="3517264" w="2615566">
                <a:moveTo>
                  <a:pt x="0" y="0"/>
                </a:moveTo>
                <a:lnTo>
                  <a:pt x="2615566" y="0"/>
                </a:lnTo>
                <a:lnTo>
                  <a:pt x="2615566" y="3517264"/>
                </a:lnTo>
                <a:lnTo>
                  <a:pt x="0" y="35172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514570" y="7790505"/>
            <a:ext cx="3374554" cy="1987919"/>
          </a:xfrm>
          <a:custGeom>
            <a:avLst/>
            <a:gdLst/>
            <a:ahLst/>
            <a:cxnLst/>
            <a:rect r="r" b="b" t="t" l="l"/>
            <a:pathLst>
              <a:path h="1987919" w="3374554">
                <a:moveTo>
                  <a:pt x="0" y="0"/>
                </a:moveTo>
                <a:lnTo>
                  <a:pt x="3374553" y="0"/>
                </a:lnTo>
                <a:lnTo>
                  <a:pt x="3374553" y="1987919"/>
                </a:lnTo>
                <a:lnTo>
                  <a:pt x="0" y="1987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296741"/>
            <a:ext cx="5080735" cy="5440241"/>
          </a:xfrm>
          <a:custGeom>
            <a:avLst/>
            <a:gdLst/>
            <a:ahLst/>
            <a:cxnLst/>
            <a:rect r="r" b="b" t="t" l="l"/>
            <a:pathLst>
              <a:path h="5440241" w="5080735">
                <a:moveTo>
                  <a:pt x="0" y="0"/>
                </a:moveTo>
                <a:lnTo>
                  <a:pt x="5080735" y="0"/>
                </a:lnTo>
                <a:lnTo>
                  <a:pt x="5080735" y="5440241"/>
                </a:lnTo>
                <a:lnTo>
                  <a:pt x="0" y="54402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680824" y="5295332"/>
            <a:ext cx="12798674" cy="1717691"/>
          </a:xfrm>
          <a:prstGeom prst="rect">
            <a:avLst/>
          </a:prstGeom>
        </p:spPr>
        <p:txBody>
          <a:bodyPr anchor="t" rtlCol="false" tIns="0" lIns="0" bIns="0" rIns="0">
            <a:spAutoFit/>
          </a:bodyPr>
          <a:lstStyle/>
          <a:p>
            <a:pPr algn="ctr">
              <a:lnSpc>
                <a:spcPts val="13999"/>
              </a:lnSpc>
            </a:pPr>
            <a:r>
              <a:rPr lang="en-US" sz="9999">
                <a:solidFill>
                  <a:srgbClr val="FFFFFF"/>
                </a:solidFill>
                <a:latin typeface="Kingred Youth"/>
                <a:ea typeface="Kingred Youth"/>
                <a:cs typeface="Kingred Youth"/>
                <a:sym typeface="Kingred Youth"/>
              </a:rPr>
              <a:t>Merci pour votre attention </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DAHGQYaNDQc</dc:identifier>
  <dcterms:modified xsi:type="dcterms:W3CDTF">2011-08-01T06:04:30Z</dcterms:modified>
  <cp:revision>1</cp:revision>
  <dc:title>ANOVA</dc:title>
</cp:coreProperties>
</file>